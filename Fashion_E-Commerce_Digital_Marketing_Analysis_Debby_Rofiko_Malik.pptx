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Poppins Bold" charset="1" panose="00000800000000000000"/>
      <p:regular r:id="rId36"/>
    </p:embeddedFont>
    <p:embeddedFont>
      <p:font typeface="Poppins" charset="1" panose="00000500000000000000"/>
      <p:regular r:id="rId37"/>
    </p:embeddedFont>
    <p:embeddedFont>
      <p:font typeface="Poppins Semi-Bold" charset="1" panose="00000700000000000000"/>
      <p:regular r:id="rId38"/>
    </p:embeddedFont>
    <p:embeddedFont>
      <p:font typeface="Roboto" charset="1" panose="02000000000000000000"/>
      <p:regular r:id="rId39"/>
    </p:embeddedFont>
    <p:embeddedFont>
      <p:font typeface="Poppins Italics" charset="1" panose="0000050000000000000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https://linkedin.com/in/debby-rofiko-malik/" TargetMode="External" Type="http://schemas.openxmlformats.org/officeDocument/2006/relationships/hyperlink"/><Relationship Id="rId11" Target="../media/image17.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8.png" Type="http://schemas.openxmlformats.org/officeDocument/2006/relationships/image"/><Relationship Id="rId5" Target="https://drive.google.com/file/d/1ggwXAp2y2jhWvPtNBtF-LGDKeHnY5s6s/view" TargetMode="External" Type="http://schemas.openxmlformats.org/officeDocument/2006/relationships/hyperlink"/><Relationship Id="rId6" Target="https://drive.google.com/file/d/1edB2NwiJIWsaSwN3cAZyM3xvO9xnJqpi/view?usp=drive_link" TargetMode="External" Type="http://schemas.openxmlformats.org/officeDocument/2006/relationships/hyperlink"/><Relationship Id="rId7" Target="https://drive.google.com/file/d/1edB2NwiJIWsaSwN3cAZyM3xvO9xnJqpi/view?usp=drive_link" TargetMode="External" Type="http://schemas.openxmlformats.org/officeDocument/2006/relationships/hyperlink"/><Relationship Id="rId8" Target="https://drive.google.com/file/d/1HoTBANCkyVP5A_v7AUvTvD8DrIyFUH2a/view?usp=drive_link" TargetMode="External" Type="http://schemas.openxmlformats.org/officeDocument/2006/relationships/hyperlink"/><Relationship Id="rId9" Target="../media/image1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2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https://colab.research.google.com/drive/1V7wxt2dL9NRRSyMoBp5LYtHpmf9Fyrxq?usp=sharing"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25.png" Type="http://schemas.openxmlformats.org/officeDocument/2006/relationships/image"/><Relationship Id="rId5" Target="https://colab.research.google.com/drive/1V7wxt2dL9NRRSyMoBp5LYtHpmf9Fyrxq?usp=sharing" TargetMode="External" Type="http://schemas.openxmlformats.org/officeDocument/2006/relationships/hyperlink"/></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 Id="rId3" Target="../media/image34.png" Type="http://schemas.openxmlformats.org/officeDocument/2006/relationships/image"/><Relationship Id="rId4" Target="../media/image35.svg" Type="http://schemas.openxmlformats.org/officeDocument/2006/relationships/image"/><Relationship Id="rId5" Target="https://github.com/debbyrofikomalik/Marketing-Analytics-Dashboard" TargetMode="External" Type="http://schemas.openxmlformats.org/officeDocument/2006/relationships/hyperlink"/><Relationship Id="rId6" Target="../media/image36.png" Type="http://schemas.openxmlformats.org/officeDocument/2006/relationships/image"/><Relationship Id="rId7" Target="../media/image37.svg" Type="http://schemas.openxmlformats.org/officeDocument/2006/relationships/image"/><Relationship Id="rId8" Target="https://drive.google.com/file/d/1EAwsEisEQ7WXH1MrddXMjM7foUjinunH/view?usp=sharing"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0" r="0" b="0"/>
            <a:stretch>
              <a:fillRect/>
            </a:stretch>
          </p:blipFill>
          <p:spPr>
            <a:xfrm flipH="false" flipV="false">
              <a:off x="0" y="0"/>
              <a:ext cx="24384000" cy="13716000"/>
            </a:xfrm>
            <a:prstGeom prst="rect">
              <a:avLst/>
            </a:prstGeom>
          </p:spPr>
        </p:pic>
      </p:grpSp>
      <p:grpSp>
        <p:nvGrpSpPr>
          <p:cNvPr name="Group 4" id="4"/>
          <p:cNvGrpSpPr/>
          <p:nvPr/>
        </p:nvGrpSpPr>
        <p:grpSpPr>
          <a:xfrm rot="0">
            <a:off x="0" y="0"/>
            <a:ext cx="18288000" cy="10287000"/>
            <a:chOff x="0" y="0"/>
            <a:chExt cx="4816593" cy="2709333"/>
          </a:xfrm>
        </p:grpSpPr>
        <p:sp>
          <p:nvSpPr>
            <p:cNvPr name="Freeform 5" id="5"/>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73E88">
                <a:alpha val="40000"/>
              </a:srgbClr>
            </a:solidFill>
          </p:spPr>
        </p:sp>
        <p:sp>
          <p:nvSpPr>
            <p:cNvPr name="TextBox 6" id="6"/>
            <p:cNvSpPr txBox="true"/>
            <p:nvPr/>
          </p:nvSpPr>
          <p:spPr>
            <a:xfrm>
              <a:off x="0" y="-57150"/>
              <a:ext cx="4816593" cy="2766483"/>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028700" y="4810096"/>
            <a:ext cx="16230600" cy="4448204"/>
            <a:chOff x="0" y="0"/>
            <a:chExt cx="4274726" cy="1171543"/>
          </a:xfrm>
        </p:grpSpPr>
        <p:sp>
          <p:nvSpPr>
            <p:cNvPr name="Freeform 8" id="8"/>
            <p:cNvSpPr/>
            <p:nvPr/>
          </p:nvSpPr>
          <p:spPr>
            <a:xfrm flipH="false" flipV="false" rot="0">
              <a:off x="0" y="0"/>
              <a:ext cx="4274726" cy="1171543"/>
            </a:xfrm>
            <a:custGeom>
              <a:avLst/>
              <a:gdLst/>
              <a:ahLst/>
              <a:cxnLst/>
              <a:rect r="r" b="b" t="t" l="l"/>
              <a:pathLst>
                <a:path h="1171543" w="4274726">
                  <a:moveTo>
                    <a:pt x="24327" y="0"/>
                  </a:moveTo>
                  <a:lnTo>
                    <a:pt x="4250399" y="0"/>
                  </a:lnTo>
                  <a:cubicBezTo>
                    <a:pt x="4263834" y="0"/>
                    <a:pt x="4274726" y="10891"/>
                    <a:pt x="4274726" y="24327"/>
                  </a:cubicBezTo>
                  <a:lnTo>
                    <a:pt x="4274726" y="1147217"/>
                  </a:lnTo>
                  <a:cubicBezTo>
                    <a:pt x="4274726" y="1153669"/>
                    <a:pt x="4272163" y="1159856"/>
                    <a:pt x="4267601" y="1164418"/>
                  </a:cubicBezTo>
                  <a:cubicBezTo>
                    <a:pt x="4263039" y="1168980"/>
                    <a:pt x="4256851" y="1171543"/>
                    <a:pt x="4250399" y="1171543"/>
                  </a:cubicBezTo>
                  <a:lnTo>
                    <a:pt x="24327" y="1171543"/>
                  </a:lnTo>
                  <a:cubicBezTo>
                    <a:pt x="10891" y="1171543"/>
                    <a:pt x="0" y="1160652"/>
                    <a:pt x="0" y="1147217"/>
                  </a:cubicBezTo>
                  <a:lnTo>
                    <a:pt x="0" y="24327"/>
                  </a:lnTo>
                  <a:cubicBezTo>
                    <a:pt x="0" y="10891"/>
                    <a:pt x="10891" y="0"/>
                    <a:pt x="24327" y="0"/>
                  </a:cubicBezTo>
                  <a:close/>
                </a:path>
              </a:pathLst>
            </a:custGeom>
            <a:solidFill>
              <a:srgbClr val="F5F7F7"/>
            </a:solidFill>
          </p:spPr>
        </p:sp>
        <p:sp>
          <p:nvSpPr>
            <p:cNvPr name="TextBox 9" id="9"/>
            <p:cNvSpPr txBox="true"/>
            <p:nvPr/>
          </p:nvSpPr>
          <p:spPr>
            <a:xfrm>
              <a:off x="0" y="38100"/>
              <a:ext cx="4274726" cy="1133443"/>
            </a:xfrm>
            <a:prstGeom prst="rect">
              <a:avLst/>
            </a:prstGeom>
          </p:spPr>
          <p:txBody>
            <a:bodyPr anchor="ctr" rtlCol="false" tIns="50800" lIns="50800" bIns="50800" rIns="50800"/>
            <a:lstStyle/>
            <a:p>
              <a:pPr algn="ctr">
                <a:lnSpc>
                  <a:spcPts val="2400"/>
                </a:lnSpc>
              </a:pPr>
            </a:p>
          </p:txBody>
        </p:sp>
      </p:grpSp>
      <p:sp>
        <p:nvSpPr>
          <p:cNvPr name="Freeform 10" id="10"/>
          <p:cNvSpPr/>
          <p:nvPr/>
        </p:nvSpPr>
        <p:spPr>
          <a:xfrm flipH="false" flipV="false" rot="0">
            <a:off x="15760856" y="1246024"/>
            <a:ext cx="1498444" cy="374611"/>
          </a:xfrm>
          <a:custGeom>
            <a:avLst/>
            <a:gdLst/>
            <a:ahLst/>
            <a:cxnLst/>
            <a:rect r="r" b="b" t="t" l="l"/>
            <a:pathLst>
              <a:path h="374611" w="1498444">
                <a:moveTo>
                  <a:pt x="0" y="0"/>
                </a:moveTo>
                <a:lnTo>
                  <a:pt x="1498444" y="0"/>
                </a:lnTo>
                <a:lnTo>
                  <a:pt x="1498444" y="374611"/>
                </a:lnTo>
                <a:lnTo>
                  <a:pt x="0" y="3746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4390403" y="4894005"/>
            <a:ext cx="1281916" cy="1281916"/>
          </a:xfrm>
          <a:custGeom>
            <a:avLst/>
            <a:gdLst/>
            <a:ahLst/>
            <a:cxnLst/>
            <a:rect r="r" b="b" t="t" l="l"/>
            <a:pathLst>
              <a:path h="1281916" w="1281916">
                <a:moveTo>
                  <a:pt x="0" y="0"/>
                </a:moveTo>
                <a:lnTo>
                  <a:pt x="1281916" y="0"/>
                </a:lnTo>
                <a:lnTo>
                  <a:pt x="1281916" y="1281916"/>
                </a:lnTo>
                <a:lnTo>
                  <a:pt x="0" y="12819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13819781" y="4323383"/>
            <a:ext cx="2423160" cy="2423160"/>
            <a:chOff x="0" y="0"/>
            <a:chExt cx="638199" cy="638199"/>
          </a:xfrm>
        </p:grpSpPr>
        <p:sp>
          <p:nvSpPr>
            <p:cNvPr name="Freeform 13" id="13"/>
            <p:cNvSpPr/>
            <p:nvPr/>
          </p:nvSpPr>
          <p:spPr>
            <a:xfrm flipH="false" flipV="false" rot="0">
              <a:off x="0" y="0"/>
              <a:ext cx="638198" cy="638198"/>
            </a:xfrm>
            <a:custGeom>
              <a:avLst/>
              <a:gdLst/>
              <a:ahLst/>
              <a:cxnLst/>
              <a:rect r="r" b="b" t="t" l="l"/>
              <a:pathLst>
                <a:path h="638198" w="638198">
                  <a:moveTo>
                    <a:pt x="95849" y="0"/>
                  </a:moveTo>
                  <a:lnTo>
                    <a:pt x="542349" y="0"/>
                  </a:lnTo>
                  <a:cubicBezTo>
                    <a:pt x="567770" y="0"/>
                    <a:pt x="592150" y="10098"/>
                    <a:pt x="610125" y="28074"/>
                  </a:cubicBezTo>
                  <a:cubicBezTo>
                    <a:pt x="628100" y="46049"/>
                    <a:pt x="638198" y="70428"/>
                    <a:pt x="638198" y="95849"/>
                  </a:cubicBezTo>
                  <a:lnTo>
                    <a:pt x="638198" y="542349"/>
                  </a:lnTo>
                  <a:cubicBezTo>
                    <a:pt x="638198" y="567770"/>
                    <a:pt x="628100" y="592150"/>
                    <a:pt x="610125" y="610125"/>
                  </a:cubicBezTo>
                  <a:cubicBezTo>
                    <a:pt x="592150" y="628100"/>
                    <a:pt x="567770" y="638198"/>
                    <a:pt x="542349" y="638198"/>
                  </a:cubicBezTo>
                  <a:lnTo>
                    <a:pt x="95849" y="638198"/>
                  </a:lnTo>
                  <a:cubicBezTo>
                    <a:pt x="42913" y="638198"/>
                    <a:pt x="0" y="595285"/>
                    <a:pt x="0" y="542349"/>
                  </a:cubicBezTo>
                  <a:lnTo>
                    <a:pt x="0" y="95849"/>
                  </a:lnTo>
                  <a:cubicBezTo>
                    <a:pt x="0" y="70428"/>
                    <a:pt x="10098" y="46049"/>
                    <a:pt x="28074" y="28074"/>
                  </a:cubicBezTo>
                  <a:cubicBezTo>
                    <a:pt x="46049" y="10098"/>
                    <a:pt x="70428" y="0"/>
                    <a:pt x="95849" y="0"/>
                  </a:cubicBezTo>
                  <a:close/>
                </a:path>
              </a:pathLst>
            </a:custGeom>
            <a:solidFill>
              <a:srgbClr val="073E88"/>
            </a:solidFill>
          </p:spPr>
        </p:sp>
        <p:sp>
          <p:nvSpPr>
            <p:cNvPr name="TextBox 14" id="14"/>
            <p:cNvSpPr txBox="true"/>
            <p:nvPr/>
          </p:nvSpPr>
          <p:spPr>
            <a:xfrm>
              <a:off x="0" y="-57150"/>
              <a:ext cx="638199" cy="695349"/>
            </a:xfrm>
            <a:prstGeom prst="rect">
              <a:avLst/>
            </a:prstGeom>
          </p:spPr>
          <p:txBody>
            <a:bodyPr anchor="ctr" rtlCol="false" tIns="50800" lIns="50800" bIns="50800" rIns="50800"/>
            <a:lstStyle/>
            <a:p>
              <a:pPr algn="ctr">
                <a:lnSpc>
                  <a:spcPts val="2958"/>
                </a:lnSpc>
              </a:pPr>
            </a:p>
          </p:txBody>
        </p:sp>
      </p:grpSp>
      <p:grpSp>
        <p:nvGrpSpPr>
          <p:cNvPr name="Group 15" id="15"/>
          <p:cNvGrpSpPr/>
          <p:nvPr/>
        </p:nvGrpSpPr>
        <p:grpSpPr>
          <a:xfrm rot="0">
            <a:off x="14363718" y="4867320"/>
            <a:ext cx="1335285" cy="133528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7F7"/>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958"/>
                </a:lnSpc>
              </a:pPr>
            </a:p>
          </p:txBody>
        </p:sp>
      </p:grpSp>
      <p:sp>
        <p:nvSpPr>
          <p:cNvPr name="Freeform 18" id="18"/>
          <p:cNvSpPr/>
          <p:nvPr/>
        </p:nvSpPr>
        <p:spPr>
          <a:xfrm flipH="false" flipV="false" rot="0">
            <a:off x="14669055" y="5068293"/>
            <a:ext cx="724612" cy="933341"/>
          </a:xfrm>
          <a:custGeom>
            <a:avLst/>
            <a:gdLst/>
            <a:ahLst/>
            <a:cxnLst/>
            <a:rect r="r" b="b" t="t" l="l"/>
            <a:pathLst>
              <a:path h="933341" w="724612">
                <a:moveTo>
                  <a:pt x="0" y="0"/>
                </a:moveTo>
                <a:lnTo>
                  <a:pt x="724612" y="0"/>
                </a:lnTo>
                <a:lnTo>
                  <a:pt x="724612" y="933340"/>
                </a:lnTo>
                <a:lnTo>
                  <a:pt x="0" y="93334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9" id="19"/>
          <p:cNvSpPr txBox="true"/>
          <p:nvPr/>
        </p:nvSpPr>
        <p:spPr>
          <a:xfrm rot="0">
            <a:off x="2085837" y="6011681"/>
            <a:ext cx="6400615" cy="1874743"/>
          </a:xfrm>
          <a:prstGeom prst="rect">
            <a:avLst/>
          </a:prstGeom>
        </p:spPr>
        <p:txBody>
          <a:bodyPr anchor="t" rtlCol="false" tIns="0" lIns="0" bIns="0" rIns="0">
            <a:spAutoFit/>
          </a:bodyPr>
          <a:lstStyle/>
          <a:p>
            <a:pPr algn="l">
              <a:lnSpc>
                <a:spcPts val="4799"/>
              </a:lnSpc>
            </a:pPr>
            <a:r>
              <a:rPr lang="en-US" sz="4799" b="true">
                <a:solidFill>
                  <a:srgbClr val="073E88"/>
                </a:solidFill>
                <a:latin typeface="Poppins Bold"/>
                <a:ea typeface="Poppins Bold"/>
                <a:cs typeface="Poppins Bold"/>
                <a:sym typeface="Poppins Bold"/>
              </a:rPr>
              <a:t>Case Study: Fashion</a:t>
            </a:r>
            <a:r>
              <a:rPr lang="en-US" sz="4799" b="true">
                <a:solidFill>
                  <a:srgbClr val="073E88"/>
                </a:solidFill>
                <a:latin typeface="Poppins Bold"/>
                <a:ea typeface="Poppins Bold"/>
                <a:cs typeface="Poppins Bold"/>
                <a:sym typeface="Poppins Bold"/>
              </a:rPr>
              <a:t> E-Commerce Digital </a:t>
            </a:r>
          </a:p>
          <a:p>
            <a:pPr algn="l">
              <a:lnSpc>
                <a:spcPts val="4799"/>
              </a:lnSpc>
            </a:pPr>
            <a:r>
              <a:rPr lang="en-US" sz="4799" b="true">
                <a:solidFill>
                  <a:srgbClr val="073E88"/>
                </a:solidFill>
                <a:latin typeface="Poppins Bold"/>
                <a:ea typeface="Poppins Bold"/>
                <a:cs typeface="Poppins Bold"/>
                <a:sym typeface="Poppins Bold"/>
              </a:rPr>
              <a:t>Marketing Analysis</a:t>
            </a:r>
          </a:p>
        </p:txBody>
      </p:sp>
      <p:sp>
        <p:nvSpPr>
          <p:cNvPr name="TextBox 20" id="20"/>
          <p:cNvSpPr txBox="true"/>
          <p:nvPr/>
        </p:nvSpPr>
        <p:spPr>
          <a:xfrm rot="0">
            <a:off x="2085837" y="8157732"/>
            <a:ext cx="5126048" cy="301065"/>
          </a:xfrm>
          <a:prstGeom prst="rect">
            <a:avLst/>
          </a:prstGeom>
        </p:spPr>
        <p:txBody>
          <a:bodyPr anchor="t" rtlCol="false" tIns="0" lIns="0" bIns="0" rIns="0">
            <a:spAutoFit/>
          </a:bodyPr>
          <a:lstStyle/>
          <a:p>
            <a:pPr algn="l">
              <a:lnSpc>
                <a:spcPts val="2100"/>
              </a:lnSpc>
            </a:pPr>
            <a:r>
              <a:rPr lang="en-US" sz="2100">
                <a:solidFill>
                  <a:srgbClr val="101419"/>
                </a:solidFill>
                <a:latin typeface="Poppins"/>
                <a:ea typeface="Poppins"/>
                <a:cs typeface="Poppins"/>
                <a:sym typeface="Poppins"/>
              </a:rPr>
              <a:t>Dsarea Data Analytics &amp; Visualization</a:t>
            </a:r>
          </a:p>
        </p:txBody>
      </p:sp>
      <p:sp>
        <p:nvSpPr>
          <p:cNvPr name="AutoShape 21" id="21"/>
          <p:cNvSpPr/>
          <p:nvPr/>
        </p:nvSpPr>
        <p:spPr>
          <a:xfrm>
            <a:off x="9213123" y="7417809"/>
            <a:ext cx="2871043" cy="0"/>
          </a:xfrm>
          <a:prstGeom prst="line">
            <a:avLst/>
          </a:prstGeom>
          <a:ln cap="flat" w="28575">
            <a:solidFill>
              <a:srgbClr val="073E88"/>
            </a:solidFill>
            <a:prstDash val="solid"/>
            <a:headEnd type="none" len="sm" w="sm"/>
            <a:tailEnd type="none" len="sm" w="sm"/>
          </a:ln>
        </p:spPr>
      </p:sp>
      <p:sp>
        <p:nvSpPr>
          <p:cNvPr name="TextBox 22" id="22"/>
          <p:cNvSpPr txBox="true"/>
          <p:nvPr/>
        </p:nvSpPr>
        <p:spPr>
          <a:xfrm rot="0">
            <a:off x="9213123" y="7781648"/>
            <a:ext cx="1878360" cy="374954"/>
          </a:xfrm>
          <a:prstGeom prst="rect">
            <a:avLst/>
          </a:prstGeom>
        </p:spPr>
        <p:txBody>
          <a:bodyPr anchor="t" rtlCol="false" tIns="0" lIns="0" bIns="0" rIns="0">
            <a:spAutoFit/>
          </a:bodyPr>
          <a:lstStyle/>
          <a:p>
            <a:pPr algn="l">
              <a:lnSpc>
                <a:spcPts val="2958"/>
              </a:lnSpc>
              <a:spcBef>
                <a:spcPct val="0"/>
              </a:spcBef>
            </a:pPr>
            <a:r>
              <a:rPr lang="en-US" sz="2113">
                <a:solidFill>
                  <a:srgbClr val="101419"/>
                </a:solidFill>
                <a:latin typeface="Poppins"/>
                <a:ea typeface="Poppins"/>
                <a:cs typeface="Poppins"/>
                <a:sym typeface="Poppins"/>
              </a:rPr>
              <a:t>Presented by: </a:t>
            </a:r>
          </a:p>
        </p:txBody>
      </p:sp>
      <p:sp>
        <p:nvSpPr>
          <p:cNvPr name="TextBox 23" id="23"/>
          <p:cNvSpPr txBox="true"/>
          <p:nvPr/>
        </p:nvSpPr>
        <p:spPr>
          <a:xfrm rot="0">
            <a:off x="12034230" y="7781648"/>
            <a:ext cx="784622" cy="374954"/>
          </a:xfrm>
          <a:prstGeom prst="rect">
            <a:avLst/>
          </a:prstGeom>
        </p:spPr>
        <p:txBody>
          <a:bodyPr anchor="t" rtlCol="false" tIns="0" lIns="0" bIns="0" rIns="0">
            <a:spAutoFit/>
          </a:bodyPr>
          <a:lstStyle/>
          <a:p>
            <a:pPr algn="l">
              <a:lnSpc>
                <a:spcPts val="2958"/>
              </a:lnSpc>
              <a:spcBef>
                <a:spcPct val="0"/>
              </a:spcBef>
            </a:pPr>
            <a:r>
              <a:rPr lang="en-US" sz="2113">
                <a:solidFill>
                  <a:srgbClr val="101419"/>
                </a:solidFill>
                <a:latin typeface="Poppins"/>
                <a:ea typeface="Poppins"/>
                <a:cs typeface="Poppins"/>
                <a:sym typeface="Poppins"/>
              </a:rPr>
              <a:t>Email:</a:t>
            </a:r>
          </a:p>
        </p:txBody>
      </p:sp>
      <p:sp>
        <p:nvSpPr>
          <p:cNvPr name="TextBox 24" id="24"/>
          <p:cNvSpPr txBox="true"/>
          <p:nvPr/>
        </p:nvSpPr>
        <p:spPr>
          <a:xfrm rot="0">
            <a:off x="9213123" y="8089209"/>
            <a:ext cx="2284884" cy="424852"/>
          </a:xfrm>
          <a:prstGeom prst="rect">
            <a:avLst/>
          </a:prstGeom>
        </p:spPr>
        <p:txBody>
          <a:bodyPr anchor="t" rtlCol="false" tIns="0" lIns="0" bIns="0" rIns="0">
            <a:spAutoFit/>
          </a:bodyPr>
          <a:lstStyle/>
          <a:p>
            <a:pPr algn="l">
              <a:lnSpc>
                <a:spcPts val="3360"/>
              </a:lnSpc>
              <a:spcBef>
                <a:spcPct val="0"/>
              </a:spcBef>
            </a:pPr>
            <a:r>
              <a:rPr lang="en-US" b="true" sz="2400">
                <a:solidFill>
                  <a:srgbClr val="073E88"/>
                </a:solidFill>
                <a:latin typeface="Poppins Bold"/>
                <a:ea typeface="Poppins Bold"/>
                <a:cs typeface="Poppins Bold"/>
                <a:sym typeface="Poppins Bold"/>
              </a:rPr>
              <a:t>Debby R. Malik</a:t>
            </a:r>
          </a:p>
        </p:txBody>
      </p:sp>
      <p:sp>
        <p:nvSpPr>
          <p:cNvPr name="TextBox 25" id="25"/>
          <p:cNvSpPr txBox="true"/>
          <p:nvPr/>
        </p:nvSpPr>
        <p:spPr>
          <a:xfrm rot="0">
            <a:off x="12034230" y="8089209"/>
            <a:ext cx="4220952" cy="424852"/>
          </a:xfrm>
          <a:prstGeom prst="rect">
            <a:avLst/>
          </a:prstGeom>
        </p:spPr>
        <p:txBody>
          <a:bodyPr anchor="t" rtlCol="false" tIns="0" lIns="0" bIns="0" rIns="0">
            <a:spAutoFit/>
          </a:bodyPr>
          <a:lstStyle/>
          <a:p>
            <a:pPr algn="l">
              <a:lnSpc>
                <a:spcPts val="3360"/>
              </a:lnSpc>
              <a:spcBef>
                <a:spcPct val="0"/>
              </a:spcBef>
            </a:pPr>
            <a:r>
              <a:rPr lang="en-US" b="true" sz="2400">
                <a:solidFill>
                  <a:srgbClr val="073E88"/>
                </a:solidFill>
                <a:latin typeface="Poppins Bold"/>
                <a:ea typeface="Poppins Bold"/>
                <a:cs typeface="Poppins Bold"/>
                <a:sym typeface="Poppins Bold"/>
              </a:rPr>
              <a:t>debbymalik21@gmail.com</a:t>
            </a:r>
          </a:p>
        </p:txBody>
      </p:sp>
      <p:sp>
        <p:nvSpPr>
          <p:cNvPr name="Freeform 26" id="26"/>
          <p:cNvSpPr/>
          <p:nvPr/>
        </p:nvSpPr>
        <p:spPr>
          <a:xfrm flipH="false" flipV="false" rot="0">
            <a:off x="1028700" y="941631"/>
            <a:ext cx="2243094" cy="983397"/>
          </a:xfrm>
          <a:custGeom>
            <a:avLst/>
            <a:gdLst/>
            <a:ahLst/>
            <a:cxnLst/>
            <a:rect r="r" b="b" t="t" l="l"/>
            <a:pathLst>
              <a:path h="983397" w="2243094">
                <a:moveTo>
                  <a:pt x="0" y="0"/>
                </a:moveTo>
                <a:lnTo>
                  <a:pt x="2243094" y="0"/>
                </a:lnTo>
                <a:lnTo>
                  <a:pt x="2243094" y="983398"/>
                </a:lnTo>
                <a:lnTo>
                  <a:pt x="0" y="983398"/>
                </a:lnTo>
                <a:lnTo>
                  <a:pt x="0" y="0"/>
                </a:lnTo>
                <a:close/>
              </a:path>
            </a:pathLst>
          </a:custGeom>
          <a:blipFill>
            <a:blip r:embed="rId9"/>
            <a:stretch>
              <a:fillRect l="-8789" t="-65414" r="0" b="-82729"/>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sp>
        <p:nvSpPr>
          <p:cNvPr name="Freeform 5" id="5"/>
          <p:cNvSpPr/>
          <p:nvPr/>
        </p:nvSpPr>
        <p:spPr>
          <a:xfrm flipH="false" flipV="false" rot="0">
            <a:off x="1159511" y="1162050"/>
            <a:ext cx="1106118" cy="276529"/>
          </a:xfrm>
          <a:custGeom>
            <a:avLst/>
            <a:gdLst/>
            <a:ahLst/>
            <a:cxnLst/>
            <a:rect r="r" b="b" t="t" l="l"/>
            <a:pathLst>
              <a:path h="276529" w="1106118">
                <a:moveTo>
                  <a:pt x="0" y="0"/>
                </a:moveTo>
                <a:lnTo>
                  <a:pt x="1106118" y="0"/>
                </a:lnTo>
                <a:lnTo>
                  <a:pt x="1106118" y="276529"/>
                </a:lnTo>
                <a:lnTo>
                  <a:pt x="0" y="27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639884" y="6762229"/>
            <a:ext cx="445772" cy="44577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8" id="8"/>
            <p:cNvSpPr txBox="true"/>
            <p:nvPr/>
          </p:nvSpPr>
          <p:spPr>
            <a:xfrm>
              <a:off x="76200" y="38100"/>
              <a:ext cx="660400" cy="698500"/>
            </a:xfrm>
            <a:prstGeom prst="rect">
              <a:avLst/>
            </a:prstGeom>
          </p:spPr>
          <p:txBody>
            <a:bodyPr anchor="ctr" rtlCol="false" tIns="20848" lIns="20848" bIns="20848" rIns="20848"/>
            <a:lstStyle/>
            <a:p>
              <a:pPr algn="ctr">
                <a:lnSpc>
                  <a:spcPts val="2659"/>
                </a:lnSpc>
              </a:pPr>
            </a:p>
          </p:txBody>
        </p:sp>
      </p:grpSp>
      <p:sp>
        <p:nvSpPr>
          <p:cNvPr name="Freeform 9" id="9"/>
          <p:cNvSpPr/>
          <p:nvPr/>
        </p:nvSpPr>
        <p:spPr>
          <a:xfrm flipH="false" flipV="false" rot="0">
            <a:off x="9757494" y="6840156"/>
            <a:ext cx="210553" cy="289918"/>
          </a:xfrm>
          <a:custGeom>
            <a:avLst/>
            <a:gdLst/>
            <a:ahLst/>
            <a:cxnLst/>
            <a:rect r="r" b="b" t="t" l="l"/>
            <a:pathLst>
              <a:path h="289918" w="210553">
                <a:moveTo>
                  <a:pt x="0" y="0"/>
                </a:moveTo>
                <a:lnTo>
                  <a:pt x="210552" y="0"/>
                </a:lnTo>
                <a:lnTo>
                  <a:pt x="210552" y="289918"/>
                </a:lnTo>
                <a:lnTo>
                  <a:pt x="0" y="2899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234117" y="6884519"/>
            <a:ext cx="1707010" cy="239292"/>
          </a:xfrm>
          <a:prstGeom prst="rect">
            <a:avLst/>
          </a:prstGeom>
        </p:spPr>
        <p:txBody>
          <a:bodyPr anchor="t" rtlCol="false" tIns="0" lIns="0" bIns="0" rIns="0">
            <a:spAutoFit/>
          </a:bodyPr>
          <a:lstStyle/>
          <a:p>
            <a:pPr algn="l">
              <a:lnSpc>
                <a:spcPts val="1673"/>
              </a:lnSpc>
            </a:pPr>
            <a:r>
              <a:rPr lang="en-US" b="true" sz="1859" spc="-113">
                <a:solidFill>
                  <a:srgbClr val="073E88"/>
                </a:solidFill>
                <a:latin typeface="Poppins Semi-Bold"/>
                <a:ea typeface="Poppins Semi-Bold"/>
                <a:cs typeface="Poppins Semi-Bold"/>
                <a:sym typeface="Poppins Semi-Bold"/>
              </a:rPr>
              <a:t>West Jakarta</a:t>
            </a:r>
          </a:p>
        </p:txBody>
      </p:sp>
      <p:grpSp>
        <p:nvGrpSpPr>
          <p:cNvPr name="Group 11" id="11"/>
          <p:cNvGrpSpPr/>
          <p:nvPr/>
        </p:nvGrpSpPr>
        <p:grpSpPr>
          <a:xfrm rot="0">
            <a:off x="11941127" y="6762229"/>
            <a:ext cx="445772" cy="44577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13" id="13"/>
            <p:cNvSpPr txBox="true"/>
            <p:nvPr/>
          </p:nvSpPr>
          <p:spPr>
            <a:xfrm>
              <a:off x="76200" y="38100"/>
              <a:ext cx="660400" cy="698500"/>
            </a:xfrm>
            <a:prstGeom prst="rect">
              <a:avLst/>
            </a:prstGeom>
          </p:spPr>
          <p:txBody>
            <a:bodyPr anchor="ctr" rtlCol="false" tIns="26507" lIns="26507" bIns="26507" rIns="26507"/>
            <a:lstStyle/>
            <a:p>
              <a:pPr algn="ctr">
                <a:lnSpc>
                  <a:spcPts val="2659"/>
                </a:lnSpc>
              </a:pPr>
            </a:p>
          </p:txBody>
        </p:sp>
      </p:grpSp>
      <p:sp>
        <p:nvSpPr>
          <p:cNvPr name="Freeform 14" id="14"/>
          <p:cNvSpPr/>
          <p:nvPr/>
        </p:nvSpPr>
        <p:spPr>
          <a:xfrm flipH="false" flipV="false" rot="0">
            <a:off x="12037246" y="6895456"/>
            <a:ext cx="253533" cy="179317"/>
          </a:xfrm>
          <a:custGeom>
            <a:avLst/>
            <a:gdLst/>
            <a:ahLst/>
            <a:cxnLst/>
            <a:rect r="r" b="b" t="t" l="l"/>
            <a:pathLst>
              <a:path h="179317" w="253533">
                <a:moveTo>
                  <a:pt x="0" y="0"/>
                </a:moveTo>
                <a:lnTo>
                  <a:pt x="253533" y="0"/>
                </a:lnTo>
                <a:lnTo>
                  <a:pt x="253533" y="179317"/>
                </a:lnTo>
                <a:lnTo>
                  <a:pt x="0" y="1793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12534467" y="6885123"/>
            <a:ext cx="2823237" cy="225557"/>
          </a:xfrm>
          <a:prstGeom prst="rect">
            <a:avLst/>
          </a:prstGeom>
        </p:spPr>
        <p:txBody>
          <a:bodyPr anchor="t" rtlCol="false" tIns="0" lIns="0" bIns="0" rIns="0">
            <a:spAutoFit/>
          </a:bodyPr>
          <a:lstStyle/>
          <a:p>
            <a:pPr algn="l">
              <a:lnSpc>
                <a:spcPts val="1580"/>
              </a:lnSpc>
            </a:pPr>
            <a:r>
              <a:rPr lang="en-US" b="true" sz="1755" spc="-107">
                <a:solidFill>
                  <a:srgbClr val="073E88"/>
                </a:solidFill>
                <a:latin typeface="Poppins Semi-Bold"/>
                <a:ea typeface="Poppins Semi-Bold"/>
                <a:cs typeface="Poppins Semi-Bold"/>
                <a:sym typeface="Poppins Semi-Bold"/>
              </a:rPr>
              <a:t>debbymalik21@gmail.com</a:t>
            </a:r>
          </a:p>
        </p:txBody>
      </p:sp>
      <p:grpSp>
        <p:nvGrpSpPr>
          <p:cNvPr name="Group 16" id="16"/>
          <p:cNvGrpSpPr/>
          <p:nvPr/>
        </p:nvGrpSpPr>
        <p:grpSpPr>
          <a:xfrm rot="0">
            <a:off x="9639884" y="7312776"/>
            <a:ext cx="2733439" cy="445772"/>
            <a:chOff x="0" y="0"/>
            <a:chExt cx="3644586" cy="594362"/>
          </a:xfrm>
        </p:grpSpPr>
        <p:grpSp>
          <p:nvGrpSpPr>
            <p:cNvPr name="Group 17" id="17"/>
            <p:cNvGrpSpPr/>
            <p:nvPr/>
          </p:nvGrpSpPr>
          <p:grpSpPr>
            <a:xfrm rot="0">
              <a:off x="0" y="0"/>
              <a:ext cx="594362" cy="59436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19" id="19"/>
              <p:cNvSpPr txBox="true"/>
              <p:nvPr/>
            </p:nvSpPr>
            <p:spPr>
              <a:xfrm>
                <a:off x="76200" y="38100"/>
                <a:ext cx="660400" cy="698500"/>
              </a:xfrm>
              <a:prstGeom prst="rect">
                <a:avLst/>
              </a:prstGeom>
            </p:spPr>
            <p:txBody>
              <a:bodyPr anchor="ctr" rtlCol="false" tIns="26507" lIns="26507" bIns="26507" rIns="26507"/>
              <a:lstStyle/>
              <a:p>
                <a:pPr algn="ctr">
                  <a:lnSpc>
                    <a:spcPts val="2659"/>
                  </a:lnSpc>
                </a:pPr>
              </a:p>
            </p:txBody>
          </p:sp>
        </p:grpSp>
        <p:sp>
          <p:nvSpPr>
            <p:cNvPr name="Freeform 20" id="20"/>
            <p:cNvSpPr/>
            <p:nvPr/>
          </p:nvSpPr>
          <p:spPr>
            <a:xfrm flipH="false" flipV="false" rot="0">
              <a:off x="144295" y="144963"/>
              <a:ext cx="379203" cy="323356"/>
            </a:xfrm>
            <a:custGeom>
              <a:avLst/>
              <a:gdLst/>
              <a:ahLst/>
              <a:cxnLst/>
              <a:rect r="r" b="b" t="t" l="l"/>
              <a:pathLst>
                <a:path h="323356" w="379203">
                  <a:moveTo>
                    <a:pt x="0" y="0"/>
                  </a:moveTo>
                  <a:lnTo>
                    <a:pt x="379203" y="0"/>
                  </a:lnTo>
                  <a:lnTo>
                    <a:pt x="379203" y="323356"/>
                  </a:lnTo>
                  <a:lnTo>
                    <a:pt x="0" y="3233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1" id="21"/>
            <p:cNvSpPr txBox="true"/>
            <p:nvPr/>
          </p:nvSpPr>
          <p:spPr>
            <a:xfrm rot="0">
              <a:off x="791120" y="183063"/>
              <a:ext cx="2853466" cy="317750"/>
            </a:xfrm>
            <a:prstGeom prst="rect">
              <a:avLst/>
            </a:prstGeom>
          </p:spPr>
          <p:txBody>
            <a:bodyPr anchor="t" rtlCol="false" tIns="0" lIns="0" bIns="0" rIns="0">
              <a:spAutoFit/>
            </a:bodyPr>
            <a:lstStyle/>
            <a:p>
              <a:pPr algn="l">
                <a:lnSpc>
                  <a:spcPts val="1580"/>
                </a:lnSpc>
              </a:pPr>
              <a:r>
                <a:rPr lang="en-US" b="true" sz="1755" spc="-107" u="sng">
                  <a:solidFill>
                    <a:srgbClr val="073E88"/>
                  </a:solidFill>
                  <a:latin typeface="Poppins Semi-Bold"/>
                  <a:ea typeface="Poppins Semi-Bold"/>
                  <a:cs typeface="Poppins Semi-Bold"/>
                  <a:sym typeface="Poppins Semi-Bold"/>
                  <a:hlinkClick r:id="rId10" tooltip="https://linkedin.com/in/debby-rofiko-malik/"/>
                </a:rPr>
                <a:t>Debby Rofiko Malik</a:t>
              </a:r>
            </a:p>
          </p:txBody>
        </p:sp>
      </p:grpSp>
      <p:sp>
        <p:nvSpPr>
          <p:cNvPr name="TextBox 22" id="22"/>
          <p:cNvSpPr txBox="true"/>
          <p:nvPr/>
        </p:nvSpPr>
        <p:spPr>
          <a:xfrm rot="0">
            <a:off x="9639884" y="2596515"/>
            <a:ext cx="6274797" cy="657901"/>
          </a:xfrm>
          <a:prstGeom prst="rect">
            <a:avLst/>
          </a:prstGeom>
        </p:spPr>
        <p:txBody>
          <a:bodyPr anchor="t" rtlCol="false" tIns="0" lIns="0" bIns="0" rIns="0">
            <a:spAutoFit/>
          </a:bodyPr>
          <a:lstStyle/>
          <a:p>
            <a:pPr algn="l">
              <a:lnSpc>
                <a:spcPts val="4629"/>
              </a:lnSpc>
            </a:pPr>
            <a:r>
              <a:rPr lang="en-US" sz="4629" b="true">
                <a:solidFill>
                  <a:srgbClr val="101419"/>
                </a:solidFill>
                <a:latin typeface="Poppins Bold"/>
                <a:ea typeface="Poppins Bold"/>
                <a:cs typeface="Poppins Bold"/>
                <a:sym typeface="Poppins Bold"/>
              </a:rPr>
              <a:t>DEBBY ROFIKO MALIK</a:t>
            </a:r>
          </a:p>
        </p:txBody>
      </p:sp>
      <p:sp>
        <p:nvSpPr>
          <p:cNvPr name="TextBox 23" id="23"/>
          <p:cNvSpPr txBox="true"/>
          <p:nvPr/>
        </p:nvSpPr>
        <p:spPr>
          <a:xfrm rot="0">
            <a:off x="9639884" y="4461103"/>
            <a:ext cx="5717819" cy="2143720"/>
          </a:xfrm>
          <a:prstGeom prst="rect">
            <a:avLst/>
          </a:prstGeom>
        </p:spPr>
        <p:txBody>
          <a:bodyPr anchor="t" rtlCol="false" tIns="0" lIns="0" bIns="0" rIns="0">
            <a:spAutoFit/>
          </a:bodyPr>
          <a:lstStyle/>
          <a:p>
            <a:pPr algn="just">
              <a:lnSpc>
                <a:spcPts val="2160"/>
              </a:lnSpc>
            </a:pPr>
            <a:r>
              <a:rPr lang="en-US" sz="1800">
                <a:solidFill>
                  <a:srgbClr val="101419"/>
                </a:solidFill>
                <a:latin typeface="Roboto"/>
                <a:ea typeface="Roboto"/>
                <a:cs typeface="Roboto"/>
                <a:sym typeface="Roboto"/>
              </a:rPr>
              <a:t>A highly</a:t>
            </a:r>
            <a:r>
              <a:rPr lang="en-US" sz="1800">
                <a:solidFill>
                  <a:srgbClr val="101419"/>
                </a:solidFill>
                <a:latin typeface="Roboto"/>
                <a:ea typeface="Roboto"/>
                <a:cs typeface="Roboto"/>
                <a:sym typeface="Roboto"/>
              </a:rPr>
              <a:t> adaptable Biomedical Engineering graduate from Universitas Indonesia with strong analytical skills and solid problem-solving abilities. Experienced in turning raw data into clear, actionable insights using Excel, SQL, and Looker Studio. A fast learner with a firm belief in the value of data for informed decision-making and sustainable growth, committed to continuous learning and delivering effective data-driven solutions.</a:t>
            </a:r>
          </a:p>
        </p:txBody>
      </p:sp>
      <p:sp>
        <p:nvSpPr>
          <p:cNvPr name="TextBox 24" id="24"/>
          <p:cNvSpPr txBox="true"/>
          <p:nvPr/>
        </p:nvSpPr>
        <p:spPr>
          <a:xfrm rot="0">
            <a:off x="9639884" y="3282991"/>
            <a:ext cx="6274797" cy="479685"/>
          </a:xfrm>
          <a:prstGeom prst="rect">
            <a:avLst/>
          </a:prstGeom>
        </p:spPr>
        <p:txBody>
          <a:bodyPr anchor="t" rtlCol="false" tIns="0" lIns="0" bIns="0" rIns="0">
            <a:spAutoFit/>
          </a:bodyPr>
          <a:lstStyle/>
          <a:p>
            <a:pPr algn="l">
              <a:lnSpc>
                <a:spcPts val="3375"/>
              </a:lnSpc>
            </a:pPr>
            <a:r>
              <a:rPr lang="en-US" sz="3375" b="true">
                <a:solidFill>
                  <a:srgbClr val="073E88"/>
                </a:solidFill>
                <a:latin typeface="Poppins Bold"/>
                <a:ea typeface="Poppins Bold"/>
                <a:cs typeface="Poppins Bold"/>
                <a:sym typeface="Poppins Bold"/>
              </a:rPr>
              <a:t>Data Enthusiast</a:t>
            </a:r>
          </a:p>
        </p:txBody>
      </p:sp>
      <p:grpSp>
        <p:nvGrpSpPr>
          <p:cNvPr name="Group 25" id="25"/>
          <p:cNvGrpSpPr/>
          <p:nvPr/>
        </p:nvGrpSpPr>
        <p:grpSpPr>
          <a:xfrm rot="0">
            <a:off x="2141804" y="2013585"/>
            <a:ext cx="6259830" cy="6259830"/>
            <a:chOff x="0" y="0"/>
            <a:chExt cx="8346440" cy="8346440"/>
          </a:xfrm>
        </p:grpSpPr>
        <p:grpSp>
          <p:nvGrpSpPr>
            <p:cNvPr name="Group 26" id="26"/>
            <p:cNvGrpSpPr/>
            <p:nvPr/>
          </p:nvGrpSpPr>
          <p:grpSpPr>
            <a:xfrm rot="0">
              <a:off x="0" y="0"/>
              <a:ext cx="8346440" cy="8346440"/>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a:ln w="12700">
                <a:solidFill>
                  <a:srgbClr val="000000"/>
                </a:solidFill>
              </a:ln>
            </p:spPr>
          </p:sp>
        </p:grpSp>
        <p:grpSp>
          <p:nvGrpSpPr>
            <p:cNvPr name="Group 28" id="28"/>
            <p:cNvGrpSpPr/>
            <p:nvPr/>
          </p:nvGrpSpPr>
          <p:grpSpPr>
            <a:xfrm rot="0">
              <a:off x="0" y="0"/>
              <a:ext cx="8346440" cy="8346440"/>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0" t="-1715" r="0" b="-31618"/>
                </a:stretch>
              </a:blipFill>
            </p:spPr>
          </p:sp>
        </p:gr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sp>
        <p:nvSpPr>
          <p:cNvPr name="AutoShape 5" id="5"/>
          <p:cNvSpPr/>
          <p:nvPr/>
        </p:nvSpPr>
        <p:spPr>
          <a:xfrm flipV="true">
            <a:off x="8653369" y="3500429"/>
            <a:ext cx="7840536" cy="0"/>
          </a:xfrm>
          <a:prstGeom prst="line">
            <a:avLst/>
          </a:prstGeom>
          <a:ln cap="flat" w="28575">
            <a:solidFill>
              <a:srgbClr val="073E88"/>
            </a:solidFill>
            <a:prstDash val="solid"/>
            <a:headEnd type="none" len="sm" w="sm"/>
            <a:tailEnd type="none" len="sm" w="sm"/>
          </a:ln>
        </p:spPr>
      </p:sp>
      <p:sp>
        <p:nvSpPr>
          <p:cNvPr name="Freeform 6" id="6"/>
          <p:cNvSpPr/>
          <p:nvPr/>
        </p:nvSpPr>
        <p:spPr>
          <a:xfrm flipH="false" flipV="false" rot="0">
            <a:off x="16022371" y="1162050"/>
            <a:ext cx="1106118" cy="276529"/>
          </a:xfrm>
          <a:custGeom>
            <a:avLst/>
            <a:gdLst/>
            <a:ahLst/>
            <a:cxnLst/>
            <a:rect r="r" b="b" t="t" l="l"/>
            <a:pathLst>
              <a:path h="276529" w="1106118">
                <a:moveTo>
                  <a:pt x="0" y="0"/>
                </a:moveTo>
                <a:lnTo>
                  <a:pt x="1106118" y="0"/>
                </a:lnTo>
                <a:lnTo>
                  <a:pt x="1106118" y="276529"/>
                </a:lnTo>
                <a:lnTo>
                  <a:pt x="0" y="27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742741" y="4532931"/>
            <a:ext cx="1120834" cy="1120834"/>
            <a:chOff x="0" y="0"/>
            <a:chExt cx="457316" cy="457316"/>
          </a:xfrm>
        </p:grpSpPr>
        <p:sp>
          <p:nvSpPr>
            <p:cNvPr name="Freeform 8" id="8"/>
            <p:cNvSpPr/>
            <p:nvPr/>
          </p:nvSpPr>
          <p:spPr>
            <a:xfrm flipH="false" flipV="false" rot="0">
              <a:off x="0" y="0"/>
              <a:ext cx="457316" cy="457316"/>
            </a:xfrm>
            <a:custGeom>
              <a:avLst/>
              <a:gdLst/>
              <a:ahLst/>
              <a:cxnLst/>
              <a:rect r="r" b="b" t="t" l="l"/>
              <a:pathLst>
                <a:path h="457316" w="457316">
                  <a:moveTo>
                    <a:pt x="207219" y="0"/>
                  </a:moveTo>
                  <a:lnTo>
                    <a:pt x="250098" y="0"/>
                  </a:lnTo>
                  <a:cubicBezTo>
                    <a:pt x="305056" y="0"/>
                    <a:pt x="357762" y="21832"/>
                    <a:pt x="396623" y="60693"/>
                  </a:cubicBezTo>
                  <a:cubicBezTo>
                    <a:pt x="435484" y="99554"/>
                    <a:pt x="457316" y="152261"/>
                    <a:pt x="457316" y="207219"/>
                  </a:cubicBezTo>
                  <a:lnTo>
                    <a:pt x="457316" y="250098"/>
                  </a:lnTo>
                  <a:cubicBezTo>
                    <a:pt x="457316" y="305056"/>
                    <a:pt x="435484" y="357762"/>
                    <a:pt x="396623" y="396623"/>
                  </a:cubicBezTo>
                  <a:cubicBezTo>
                    <a:pt x="357762" y="435484"/>
                    <a:pt x="305056" y="457316"/>
                    <a:pt x="250098" y="457316"/>
                  </a:cubicBezTo>
                  <a:lnTo>
                    <a:pt x="207219" y="457316"/>
                  </a:lnTo>
                  <a:cubicBezTo>
                    <a:pt x="152261" y="457316"/>
                    <a:pt x="99554" y="435484"/>
                    <a:pt x="60693" y="396623"/>
                  </a:cubicBezTo>
                  <a:cubicBezTo>
                    <a:pt x="21832" y="357762"/>
                    <a:pt x="0" y="305056"/>
                    <a:pt x="0" y="250098"/>
                  </a:cubicBezTo>
                  <a:lnTo>
                    <a:pt x="0" y="207219"/>
                  </a:lnTo>
                  <a:cubicBezTo>
                    <a:pt x="0" y="152261"/>
                    <a:pt x="21832" y="99554"/>
                    <a:pt x="60693" y="60693"/>
                  </a:cubicBezTo>
                  <a:cubicBezTo>
                    <a:pt x="99554" y="21832"/>
                    <a:pt x="152261" y="0"/>
                    <a:pt x="207219" y="0"/>
                  </a:cubicBezTo>
                  <a:close/>
                </a:path>
              </a:pathLst>
            </a:custGeom>
            <a:solidFill>
              <a:srgbClr val="073E88"/>
            </a:solidFill>
          </p:spPr>
        </p:sp>
        <p:sp>
          <p:nvSpPr>
            <p:cNvPr name="TextBox 9" id="9"/>
            <p:cNvSpPr txBox="true"/>
            <p:nvPr/>
          </p:nvSpPr>
          <p:spPr>
            <a:xfrm>
              <a:off x="0" y="-57150"/>
              <a:ext cx="457316" cy="514466"/>
            </a:xfrm>
            <a:prstGeom prst="rect">
              <a:avLst/>
            </a:prstGeom>
          </p:spPr>
          <p:txBody>
            <a:bodyPr anchor="ctr" rtlCol="false" tIns="50800" lIns="50800" bIns="50800" rIns="50800"/>
            <a:lstStyle/>
            <a:p>
              <a:pPr algn="ctr">
                <a:lnSpc>
                  <a:spcPts val="2958"/>
                </a:lnSpc>
              </a:pPr>
            </a:p>
          </p:txBody>
        </p:sp>
      </p:grpSp>
      <p:sp>
        <p:nvSpPr>
          <p:cNvPr name="TextBox 10" id="10"/>
          <p:cNvSpPr txBox="true"/>
          <p:nvPr/>
        </p:nvSpPr>
        <p:spPr>
          <a:xfrm rot="0">
            <a:off x="1742741" y="2093695"/>
            <a:ext cx="9104501" cy="1944931"/>
          </a:xfrm>
          <a:prstGeom prst="rect">
            <a:avLst/>
          </a:prstGeom>
        </p:spPr>
        <p:txBody>
          <a:bodyPr anchor="t" rtlCol="false" tIns="0" lIns="0" bIns="0" rIns="0">
            <a:spAutoFit/>
          </a:bodyPr>
          <a:lstStyle/>
          <a:p>
            <a:pPr algn="l">
              <a:lnSpc>
                <a:spcPts val="7200"/>
              </a:lnSpc>
            </a:pPr>
            <a:r>
              <a:rPr lang="en-US" sz="7200" b="true">
                <a:solidFill>
                  <a:srgbClr val="101419"/>
                </a:solidFill>
                <a:latin typeface="Poppins Bold"/>
                <a:ea typeface="Poppins Bold"/>
                <a:cs typeface="Poppins Bold"/>
                <a:sym typeface="Poppins Bold"/>
              </a:rPr>
              <a:t>Courses &amp; Certifications</a:t>
            </a:r>
          </a:p>
        </p:txBody>
      </p:sp>
      <p:sp>
        <p:nvSpPr>
          <p:cNvPr name="Freeform 11" id="11"/>
          <p:cNvSpPr/>
          <p:nvPr/>
        </p:nvSpPr>
        <p:spPr>
          <a:xfrm flipH="false" flipV="false" rot="0">
            <a:off x="1863767" y="4664969"/>
            <a:ext cx="878781" cy="856757"/>
          </a:xfrm>
          <a:custGeom>
            <a:avLst/>
            <a:gdLst/>
            <a:ahLst/>
            <a:cxnLst/>
            <a:rect r="r" b="b" t="t" l="l"/>
            <a:pathLst>
              <a:path h="856757" w="878781">
                <a:moveTo>
                  <a:pt x="0" y="0"/>
                </a:moveTo>
                <a:lnTo>
                  <a:pt x="878781" y="0"/>
                </a:lnTo>
                <a:lnTo>
                  <a:pt x="878781" y="856757"/>
                </a:lnTo>
                <a:lnTo>
                  <a:pt x="0" y="856757"/>
                </a:lnTo>
                <a:lnTo>
                  <a:pt x="0" y="0"/>
                </a:lnTo>
                <a:close/>
              </a:path>
            </a:pathLst>
          </a:custGeom>
          <a:blipFill>
            <a:blip r:embed="rId4"/>
            <a:stretch>
              <a:fillRect l="-131765" t="-19628" r="-134794" b="-78065"/>
            </a:stretch>
          </a:blipFill>
        </p:spPr>
      </p:sp>
      <p:grpSp>
        <p:nvGrpSpPr>
          <p:cNvPr name="Group 12" id="12"/>
          <p:cNvGrpSpPr/>
          <p:nvPr/>
        </p:nvGrpSpPr>
        <p:grpSpPr>
          <a:xfrm rot="0">
            <a:off x="1742741" y="5988345"/>
            <a:ext cx="1120834" cy="1120834"/>
            <a:chOff x="0" y="0"/>
            <a:chExt cx="457316" cy="457316"/>
          </a:xfrm>
        </p:grpSpPr>
        <p:sp>
          <p:nvSpPr>
            <p:cNvPr name="Freeform 13" id="13"/>
            <p:cNvSpPr/>
            <p:nvPr/>
          </p:nvSpPr>
          <p:spPr>
            <a:xfrm flipH="false" flipV="false" rot="0">
              <a:off x="0" y="0"/>
              <a:ext cx="457316" cy="457316"/>
            </a:xfrm>
            <a:custGeom>
              <a:avLst/>
              <a:gdLst/>
              <a:ahLst/>
              <a:cxnLst/>
              <a:rect r="r" b="b" t="t" l="l"/>
              <a:pathLst>
                <a:path h="457316" w="457316">
                  <a:moveTo>
                    <a:pt x="207219" y="0"/>
                  </a:moveTo>
                  <a:lnTo>
                    <a:pt x="250098" y="0"/>
                  </a:lnTo>
                  <a:cubicBezTo>
                    <a:pt x="305056" y="0"/>
                    <a:pt x="357762" y="21832"/>
                    <a:pt x="396623" y="60693"/>
                  </a:cubicBezTo>
                  <a:cubicBezTo>
                    <a:pt x="435484" y="99554"/>
                    <a:pt x="457316" y="152261"/>
                    <a:pt x="457316" y="207219"/>
                  </a:cubicBezTo>
                  <a:lnTo>
                    <a:pt x="457316" y="250098"/>
                  </a:lnTo>
                  <a:cubicBezTo>
                    <a:pt x="457316" y="305056"/>
                    <a:pt x="435484" y="357762"/>
                    <a:pt x="396623" y="396623"/>
                  </a:cubicBezTo>
                  <a:cubicBezTo>
                    <a:pt x="357762" y="435484"/>
                    <a:pt x="305056" y="457316"/>
                    <a:pt x="250098" y="457316"/>
                  </a:cubicBezTo>
                  <a:lnTo>
                    <a:pt x="207219" y="457316"/>
                  </a:lnTo>
                  <a:cubicBezTo>
                    <a:pt x="152261" y="457316"/>
                    <a:pt x="99554" y="435484"/>
                    <a:pt x="60693" y="396623"/>
                  </a:cubicBezTo>
                  <a:cubicBezTo>
                    <a:pt x="21832" y="357762"/>
                    <a:pt x="0" y="305056"/>
                    <a:pt x="0" y="250098"/>
                  </a:cubicBezTo>
                  <a:lnTo>
                    <a:pt x="0" y="207219"/>
                  </a:lnTo>
                  <a:cubicBezTo>
                    <a:pt x="0" y="152261"/>
                    <a:pt x="21832" y="99554"/>
                    <a:pt x="60693" y="60693"/>
                  </a:cubicBezTo>
                  <a:cubicBezTo>
                    <a:pt x="99554" y="21832"/>
                    <a:pt x="152261" y="0"/>
                    <a:pt x="207219" y="0"/>
                  </a:cubicBezTo>
                  <a:close/>
                </a:path>
              </a:pathLst>
            </a:custGeom>
            <a:solidFill>
              <a:srgbClr val="073E88"/>
            </a:solidFill>
          </p:spPr>
        </p:sp>
        <p:sp>
          <p:nvSpPr>
            <p:cNvPr name="TextBox 14" id="14"/>
            <p:cNvSpPr txBox="true"/>
            <p:nvPr/>
          </p:nvSpPr>
          <p:spPr>
            <a:xfrm>
              <a:off x="0" y="-57150"/>
              <a:ext cx="457316" cy="514466"/>
            </a:xfrm>
            <a:prstGeom prst="rect">
              <a:avLst/>
            </a:prstGeom>
          </p:spPr>
          <p:txBody>
            <a:bodyPr anchor="ctr" rtlCol="false" tIns="50800" lIns="50800" bIns="50800" rIns="50800"/>
            <a:lstStyle/>
            <a:p>
              <a:pPr algn="ctr">
                <a:lnSpc>
                  <a:spcPts val="2958"/>
                </a:lnSpc>
              </a:pPr>
            </a:p>
          </p:txBody>
        </p:sp>
      </p:grpSp>
      <p:grpSp>
        <p:nvGrpSpPr>
          <p:cNvPr name="Group 15" id="15"/>
          <p:cNvGrpSpPr/>
          <p:nvPr/>
        </p:nvGrpSpPr>
        <p:grpSpPr>
          <a:xfrm rot="0">
            <a:off x="1742741" y="7442553"/>
            <a:ext cx="1120834" cy="1120834"/>
            <a:chOff x="0" y="0"/>
            <a:chExt cx="457316" cy="457316"/>
          </a:xfrm>
        </p:grpSpPr>
        <p:sp>
          <p:nvSpPr>
            <p:cNvPr name="Freeform 16" id="16"/>
            <p:cNvSpPr/>
            <p:nvPr/>
          </p:nvSpPr>
          <p:spPr>
            <a:xfrm flipH="false" flipV="false" rot="0">
              <a:off x="0" y="0"/>
              <a:ext cx="457316" cy="457316"/>
            </a:xfrm>
            <a:custGeom>
              <a:avLst/>
              <a:gdLst/>
              <a:ahLst/>
              <a:cxnLst/>
              <a:rect r="r" b="b" t="t" l="l"/>
              <a:pathLst>
                <a:path h="457316" w="457316">
                  <a:moveTo>
                    <a:pt x="207219" y="0"/>
                  </a:moveTo>
                  <a:lnTo>
                    <a:pt x="250098" y="0"/>
                  </a:lnTo>
                  <a:cubicBezTo>
                    <a:pt x="305056" y="0"/>
                    <a:pt x="357762" y="21832"/>
                    <a:pt x="396623" y="60693"/>
                  </a:cubicBezTo>
                  <a:cubicBezTo>
                    <a:pt x="435484" y="99554"/>
                    <a:pt x="457316" y="152261"/>
                    <a:pt x="457316" y="207219"/>
                  </a:cubicBezTo>
                  <a:lnTo>
                    <a:pt x="457316" y="250098"/>
                  </a:lnTo>
                  <a:cubicBezTo>
                    <a:pt x="457316" y="305056"/>
                    <a:pt x="435484" y="357762"/>
                    <a:pt x="396623" y="396623"/>
                  </a:cubicBezTo>
                  <a:cubicBezTo>
                    <a:pt x="357762" y="435484"/>
                    <a:pt x="305056" y="457316"/>
                    <a:pt x="250098" y="457316"/>
                  </a:cubicBezTo>
                  <a:lnTo>
                    <a:pt x="207219" y="457316"/>
                  </a:lnTo>
                  <a:cubicBezTo>
                    <a:pt x="152261" y="457316"/>
                    <a:pt x="99554" y="435484"/>
                    <a:pt x="60693" y="396623"/>
                  </a:cubicBezTo>
                  <a:cubicBezTo>
                    <a:pt x="21832" y="357762"/>
                    <a:pt x="0" y="305056"/>
                    <a:pt x="0" y="250098"/>
                  </a:cubicBezTo>
                  <a:lnTo>
                    <a:pt x="0" y="207219"/>
                  </a:lnTo>
                  <a:cubicBezTo>
                    <a:pt x="0" y="152261"/>
                    <a:pt x="21832" y="99554"/>
                    <a:pt x="60693" y="60693"/>
                  </a:cubicBezTo>
                  <a:cubicBezTo>
                    <a:pt x="99554" y="21832"/>
                    <a:pt x="152261" y="0"/>
                    <a:pt x="207219" y="0"/>
                  </a:cubicBezTo>
                  <a:close/>
                </a:path>
              </a:pathLst>
            </a:custGeom>
            <a:solidFill>
              <a:srgbClr val="073E88"/>
            </a:solidFill>
          </p:spPr>
        </p:sp>
        <p:sp>
          <p:nvSpPr>
            <p:cNvPr name="TextBox 17" id="17"/>
            <p:cNvSpPr txBox="true"/>
            <p:nvPr/>
          </p:nvSpPr>
          <p:spPr>
            <a:xfrm>
              <a:off x="0" y="-57150"/>
              <a:ext cx="457316" cy="514466"/>
            </a:xfrm>
            <a:prstGeom prst="rect">
              <a:avLst/>
            </a:prstGeom>
          </p:spPr>
          <p:txBody>
            <a:bodyPr anchor="ctr" rtlCol="false" tIns="50800" lIns="50800" bIns="50800" rIns="50800"/>
            <a:lstStyle/>
            <a:p>
              <a:pPr algn="ctr">
                <a:lnSpc>
                  <a:spcPts val="2958"/>
                </a:lnSpc>
              </a:pPr>
            </a:p>
          </p:txBody>
        </p:sp>
      </p:grpSp>
      <p:grpSp>
        <p:nvGrpSpPr>
          <p:cNvPr name="Group 18" id="18"/>
          <p:cNvGrpSpPr/>
          <p:nvPr/>
        </p:nvGrpSpPr>
        <p:grpSpPr>
          <a:xfrm rot="0">
            <a:off x="3218661" y="4677485"/>
            <a:ext cx="10165781" cy="3582978"/>
            <a:chOff x="0" y="0"/>
            <a:chExt cx="13554374" cy="4777305"/>
          </a:xfrm>
        </p:grpSpPr>
        <p:sp>
          <p:nvSpPr>
            <p:cNvPr name="TextBox 19" id="19"/>
            <p:cNvSpPr txBox="true"/>
            <p:nvPr/>
          </p:nvSpPr>
          <p:spPr>
            <a:xfrm rot="0">
              <a:off x="0" y="38100"/>
              <a:ext cx="8487840" cy="1248734"/>
            </a:xfrm>
            <a:prstGeom prst="rect">
              <a:avLst/>
            </a:prstGeom>
          </p:spPr>
          <p:txBody>
            <a:bodyPr anchor="t" rtlCol="false" tIns="0" lIns="0" bIns="0" rIns="0">
              <a:spAutoFit/>
            </a:bodyPr>
            <a:lstStyle/>
            <a:p>
              <a:pPr algn="l">
                <a:lnSpc>
                  <a:spcPts val="3499"/>
                </a:lnSpc>
              </a:pPr>
              <a:r>
                <a:rPr lang="en-US" sz="3499" spc="-213" b="true">
                  <a:solidFill>
                    <a:srgbClr val="073E88"/>
                  </a:solidFill>
                  <a:latin typeface="Poppins Bold"/>
                  <a:ea typeface="Poppins Bold"/>
                  <a:cs typeface="Poppins Bold"/>
                  <a:sym typeface="Poppins Bold"/>
                </a:rPr>
                <a:t>Data Analytics &amp; Visualization</a:t>
              </a:r>
              <a:r>
                <a:rPr lang="en-US" sz="3499" spc="-213" b="true">
                  <a:solidFill>
                    <a:srgbClr val="073E88"/>
                  </a:solidFill>
                  <a:latin typeface="Poppins Bold"/>
                  <a:ea typeface="Poppins Bold"/>
                  <a:cs typeface="Poppins Bold"/>
                  <a:sym typeface="Poppins Bold"/>
                </a:rPr>
                <a:t> </a:t>
              </a:r>
            </a:p>
            <a:p>
              <a:pPr algn="l">
                <a:lnSpc>
                  <a:spcPts val="3499"/>
                </a:lnSpc>
              </a:pPr>
              <a:r>
                <a:rPr lang="en-US" sz="3499" spc="-213" b="true">
                  <a:solidFill>
                    <a:srgbClr val="073E88"/>
                  </a:solidFill>
                  <a:latin typeface="Poppins Bold"/>
                  <a:ea typeface="Poppins Bold"/>
                  <a:cs typeface="Poppins Bold"/>
                  <a:sym typeface="Poppins Bold"/>
                </a:rPr>
                <a:t>Bootcamp </a:t>
              </a:r>
            </a:p>
          </p:txBody>
        </p:sp>
        <p:sp>
          <p:nvSpPr>
            <p:cNvPr name="TextBox 20" id="20"/>
            <p:cNvSpPr txBox="true"/>
            <p:nvPr/>
          </p:nvSpPr>
          <p:spPr>
            <a:xfrm rot="0">
              <a:off x="0" y="2164251"/>
              <a:ext cx="8487840" cy="674109"/>
            </a:xfrm>
            <a:prstGeom prst="rect">
              <a:avLst/>
            </a:prstGeom>
          </p:spPr>
          <p:txBody>
            <a:bodyPr anchor="t" rtlCol="false" tIns="0" lIns="0" bIns="0" rIns="0">
              <a:spAutoFit/>
            </a:bodyPr>
            <a:lstStyle/>
            <a:p>
              <a:pPr algn="l">
                <a:lnSpc>
                  <a:spcPts val="3500"/>
                </a:lnSpc>
              </a:pPr>
              <a:r>
                <a:rPr lang="en-US" sz="3500" spc="-213" b="true">
                  <a:solidFill>
                    <a:srgbClr val="073E88"/>
                  </a:solidFill>
                  <a:latin typeface="Poppins Bold"/>
                  <a:ea typeface="Poppins Bold"/>
                  <a:cs typeface="Poppins Bold"/>
                  <a:sym typeface="Poppins Bold"/>
                </a:rPr>
                <a:t>Data Science &amp; Data Analysis</a:t>
              </a:r>
            </a:p>
          </p:txBody>
        </p:sp>
        <p:sp>
          <p:nvSpPr>
            <p:cNvPr name="TextBox 21" id="21"/>
            <p:cNvSpPr txBox="true"/>
            <p:nvPr/>
          </p:nvSpPr>
          <p:spPr>
            <a:xfrm rot="0">
              <a:off x="0" y="4103196"/>
              <a:ext cx="8487840" cy="674109"/>
            </a:xfrm>
            <a:prstGeom prst="rect">
              <a:avLst/>
            </a:prstGeom>
          </p:spPr>
          <p:txBody>
            <a:bodyPr anchor="t" rtlCol="false" tIns="0" lIns="0" bIns="0" rIns="0">
              <a:spAutoFit/>
            </a:bodyPr>
            <a:lstStyle/>
            <a:p>
              <a:pPr algn="l">
                <a:lnSpc>
                  <a:spcPts val="3500"/>
                </a:lnSpc>
              </a:pPr>
              <a:r>
                <a:rPr lang="en-US" sz="3500" spc="-213" b="true">
                  <a:solidFill>
                    <a:srgbClr val="073E88"/>
                  </a:solidFill>
                  <a:latin typeface="Poppins Bold"/>
                  <a:ea typeface="Poppins Bold"/>
                  <a:cs typeface="Poppins Bold"/>
                  <a:sym typeface="Poppins Bold"/>
                </a:rPr>
                <a:t>Machine Learning with Python</a:t>
              </a:r>
            </a:p>
          </p:txBody>
        </p:sp>
        <p:sp>
          <p:nvSpPr>
            <p:cNvPr name="TextBox 22" id="22"/>
            <p:cNvSpPr txBox="true"/>
            <p:nvPr/>
          </p:nvSpPr>
          <p:spPr>
            <a:xfrm rot="0">
              <a:off x="8487840" y="91017"/>
              <a:ext cx="5066534" cy="552400"/>
            </a:xfrm>
            <a:prstGeom prst="rect">
              <a:avLst/>
            </a:prstGeom>
          </p:spPr>
          <p:txBody>
            <a:bodyPr anchor="t" rtlCol="false" tIns="0" lIns="0" bIns="0" rIns="0">
              <a:spAutoFit/>
            </a:bodyPr>
            <a:lstStyle/>
            <a:p>
              <a:pPr algn="l">
                <a:lnSpc>
                  <a:spcPts val="2700"/>
                </a:lnSpc>
              </a:pPr>
              <a:r>
                <a:rPr lang="en-US" sz="3000" spc="-182" u="sng">
                  <a:solidFill>
                    <a:srgbClr val="073E88"/>
                  </a:solidFill>
                  <a:latin typeface="Poppins"/>
                  <a:ea typeface="Poppins"/>
                  <a:cs typeface="Poppins"/>
                  <a:sym typeface="Poppins"/>
                  <a:hlinkClick r:id="rId5" tooltip="https://drive.google.com/file/d/1ggwXAp2y2jhWvPtNBtF-LGDKeHnY5s6s/view"/>
                </a:rPr>
                <a:t>| Link Certificate</a:t>
              </a:r>
            </a:p>
          </p:txBody>
        </p:sp>
        <p:sp>
          <p:nvSpPr>
            <p:cNvPr name="TextBox 23" id="23"/>
            <p:cNvSpPr txBox="true"/>
            <p:nvPr/>
          </p:nvSpPr>
          <p:spPr>
            <a:xfrm rot="0">
              <a:off x="8487840" y="2192826"/>
              <a:ext cx="5066534" cy="552400"/>
            </a:xfrm>
            <a:prstGeom prst="rect">
              <a:avLst/>
            </a:prstGeom>
          </p:spPr>
          <p:txBody>
            <a:bodyPr anchor="t" rtlCol="false" tIns="0" lIns="0" bIns="0" rIns="0">
              <a:spAutoFit/>
            </a:bodyPr>
            <a:lstStyle/>
            <a:p>
              <a:pPr algn="l">
                <a:lnSpc>
                  <a:spcPts val="2700"/>
                </a:lnSpc>
              </a:pPr>
              <a:r>
                <a:rPr lang="en-US" sz="3000" spc="-182" u="sng">
                  <a:solidFill>
                    <a:srgbClr val="073E88"/>
                  </a:solidFill>
                  <a:latin typeface="Poppins"/>
                  <a:ea typeface="Poppins"/>
                  <a:cs typeface="Poppins"/>
                  <a:sym typeface="Poppins"/>
                  <a:hlinkClick r:id="rId6" tooltip="https://drive.google.com/file/d/1edB2NwiJIWsaSwN3cAZyM3xvO9xnJqpi/view?usp=drive_link"/>
                </a:rPr>
                <a:t>|</a:t>
              </a:r>
              <a:r>
                <a:rPr lang="en-US" sz="3000" spc="-182">
                  <a:solidFill>
                    <a:srgbClr val="073E88"/>
                  </a:solidFill>
                  <a:latin typeface="Poppins"/>
                  <a:ea typeface="Poppins"/>
                  <a:cs typeface="Poppins"/>
                  <a:sym typeface="Poppins"/>
                </a:rPr>
                <a:t> </a:t>
              </a:r>
              <a:r>
                <a:rPr lang="en-US" sz="3000" spc="-182" u="sng">
                  <a:solidFill>
                    <a:srgbClr val="073E88"/>
                  </a:solidFill>
                  <a:latin typeface="Poppins"/>
                  <a:ea typeface="Poppins"/>
                  <a:cs typeface="Poppins"/>
                  <a:sym typeface="Poppins"/>
                  <a:hlinkClick r:id="rId7" tooltip="https://drive.google.com/file/d/1edB2NwiJIWsaSwN3cAZyM3xvO9xnJqpi/view?usp=drive_link"/>
                </a:rPr>
                <a:t>Link Certificate</a:t>
              </a:r>
            </a:p>
          </p:txBody>
        </p:sp>
        <p:sp>
          <p:nvSpPr>
            <p:cNvPr name="TextBox 24" id="24"/>
            <p:cNvSpPr txBox="true"/>
            <p:nvPr/>
          </p:nvSpPr>
          <p:spPr>
            <a:xfrm rot="0">
              <a:off x="8487840" y="4224904"/>
              <a:ext cx="5066534" cy="552400"/>
            </a:xfrm>
            <a:prstGeom prst="rect">
              <a:avLst/>
            </a:prstGeom>
          </p:spPr>
          <p:txBody>
            <a:bodyPr anchor="t" rtlCol="false" tIns="0" lIns="0" bIns="0" rIns="0">
              <a:spAutoFit/>
            </a:bodyPr>
            <a:lstStyle/>
            <a:p>
              <a:pPr algn="l">
                <a:lnSpc>
                  <a:spcPts val="2700"/>
                </a:lnSpc>
              </a:pPr>
              <a:r>
                <a:rPr lang="en-US" sz="3000" spc="-182" u="sng">
                  <a:solidFill>
                    <a:srgbClr val="073E88"/>
                  </a:solidFill>
                  <a:latin typeface="Poppins"/>
                  <a:ea typeface="Poppins"/>
                  <a:cs typeface="Poppins"/>
                  <a:sym typeface="Poppins"/>
                  <a:hlinkClick r:id="rId8" tooltip="https://drive.google.com/file/d/1HoTBANCkyVP5A_v7AUvTvD8DrIyFUH2a/view?usp=drive_link"/>
                </a:rPr>
                <a:t>| Link Certificate</a:t>
              </a:r>
            </a:p>
          </p:txBody>
        </p:sp>
      </p:grpSp>
      <p:sp>
        <p:nvSpPr>
          <p:cNvPr name="TextBox 25" id="25"/>
          <p:cNvSpPr txBox="true"/>
          <p:nvPr/>
        </p:nvSpPr>
        <p:spPr>
          <a:xfrm rot="0">
            <a:off x="12694004" y="4743487"/>
            <a:ext cx="3799901" cy="400013"/>
          </a:xfrm>
          <a:prstGeom prst="rect">
            <a:avLst/>
          </a:prstGeom>
        </p:spPr>
        <p:txBody>
          <a:bodyPr anchor="t" rtlCol="false" tIns="0" lIns="0" bIns="0" rIns="0">
            <a:spAutoFit/>
          </a:bodyPr>
          <a:lstStyle/>
          <a:p>
            <a:pPr algn="r">
              <a:lnSpc>
                <a:spcPts val="2700"/>
              </a:lnSpc>
            </a:pPr>
            <a:r>
              <a:rPr lang="en-US" sz="3000" spc="-182">
                <a:solidFill>
                  <a:srgbClr val="073E88"/>
                </a:solidFill>
                <a:latin typeface="Poppins"/>
                <a:ea typeface="Poppins"/>
                <a:cs typeface="Poppins"/>
                <a:sym typeface="Poppins"/>
              </a:rPr>
              <a:t>(November, 2025)</a:t>
            </a:r>
          </a:p>
        </p:txBody>
      </p:sp>
      <p:sp>
        <p:nvSpPr>
          <p:cNvPr name="TextBox 26" id="26"/>
          <p:cNvSpPr txBox="true"/>
          <p:nvPr/>
        </p:nvSpPr>
        <p:spPr>
          <a:xfrm rot="0">
            <a:off x="12694004" y="6297543"/>
            <a:ext cx="3799901" cy="400013"/>
          </a:xfrm>
          <a:prstGeom prst="rect">
            <a:avLst/>
          </a:prstGeom>
        </p:spPr>
        <p:txBody>
          <a:bodyPr anchor="t" rtlCol="false" tIns="0" lIns="0" bIns="0" rIns="0">
            <a:spAutoFit/>
          </a:bodyPr>
          <a:lstStyle/>
          <a:p>
            <a:pPr algn="r">
              <a:lnSpc>
                <a:spcPts val="2700"/>
              </a:lnSpc>
            </a:pPr>
            <a:r>
              <a:rPr lang="en-US" sz="3000" spc="-182">
                <a:solidFill>
                  <a:srgbClr val="073E88"/>
                </a:solidFill>
                <a:latin typeface="Poppins"/>
                <a:ea typeface="Poppins"/>
                <a:cs typeface="Poppins"/>
                <a:sym typeface="Poppins"/>
              </a:rPr>
              <a:t>(October, 2025)</a:t>
            </a:r>
          </a:p>
        </p:txBody>
      </p:sp>
      <p:sp>
        <p:nvSpPr>
          <p:cNvPr name="TextBox 27" id="27"/>
          <p:cNvSpPr txBox="true"/>
          <p:nvPr/>
        </p:nvSpPr>
        <p:spPr>
          <a:xfrm rot="0">
            <a:off x="12694004" y="7831539"/>
            <a:ext cx="3799901" cy="400013"/>
          </a:xfrm>
          <a:prstGeom prst="rect">
            <a:avLst/>
          </a:prstGeom>
        </p:spPr>
        <p:txBody>
          <a:bodyPr anchor="t" rtlCol="false" tIns="0" lIns="0" bIns="0" rIns="0">
            <a:spAutoFit/>
          </a:bodyPr>
          <a:lstStyle/>
          <a:p>
            <a:pPr algn="r">
              <a:lnSpc>
                <a:spcPts val="2700"/>
              </a:lnSpc>
            </a:pPr>
            <a:r>
              <a:rPr lang="en-US" sz="3000" spc="-182">
                <a:solidFill>
                  <a:srgbClr val="073E88"/>
                </a:solidFill>
                <a:latin typeface="Poppins"/>
                <a:ea typeface="Poppins"/>
                <a:cs typeface="Poppins"/>
                <a:sym typeface="Poppins"/>
              </a:rPr>
              <a:t>(June, 2024)</a:t>
            </a:r>
          </a:p>
        </p:txBody>
      </p:sp>
      <p:sp>
        <p:nvSpPr>
          <p:cNvPr name="Freeform 28" id="28"/>
          <p:cNvSpPr/>
          <p:nvPr/>
        </p:nvSpPr>
        <p:spPr>
          <a:xfrm flipH="false" flipV="false" rot="0">
            <a:off x="1896699" y="6141701"/>
            <a:ext cx="812917" cy="812917"/>
          </a:xfrm>
          <a:custGeom>
            <a:avLst/>
            <a:gdLst/>
            <a:ahLst/>
            <a:cxnLst/>
            <a:rect r="r" b="b" t="t" l="l"/>
            <a:pathLst>
              <a:path h="812917" w="812917">
                <a:moveTo>
                  <a:pt x="0" y="0"/>
                </a:moveTo>
                <a:lnTo>
                  <a:pt x="812917" y="0"/>
                </a:lnTo>
                <a:lnTo>
                  <a:pt x="812917" y="812917"/>
                </a:lnTo>
                <a:lnTo>
                  <a:pt x="0" y="812917"/>
                </a:lnTo>
                <a:lnTo>
                  <a:pt x="0" y="0"/>
                </a:lnTo>
                <a:close/>
              </a:path>
            </a:pathLst>
          </a:custGeom>
          <a:blipFill>
            <a:blip r:embed="rId9"/>
            <a:stretch>
              <a:fillRect l="0" t="0" r="0" b="0"/>
            </a:stretch>
          </a:blipFill>
        </p:spPr>
      </p:sp>
      <p:grpSp>
        <p:nvGrpSpPr>
          <p:cNvPr name="Group 29" id="29"/>
          <p:cNvGrpSpPr/>
          <p:nvPr/>
        </p:nvGrpSpPr>
        <p:grpSpPr>
          <a:xfrm rot="0">
            <a:off x="1896699" y="7575903"/>
            <a:ext cx="812917" cy="81291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1" id="31"/>
            <p:cNvSpPr txBox="true"/>
            <p:nvPr/>
          </p:nvSpPr>
          <p:spPr>
            <a:xfrm>
              <a:off x="76200" y="38100"/>
              <a:ext cx="660400" cy="698500"/>
            </a:xfrm>
            <a:prstGeom prst="rect">
              <a:avLst/>
            </a:prstGeom>
          </p:spPr>
          <p:txBody>
            <a:bodyPr anchor="ctr" rtlCol="false" tIns="20848" lIns="20848" bIns="20848" rIns="20848"/>
            <a:lstStyle/>
            <a:p>
              <a:pPr algn="ctr">
                <a:lnSpc>
                  <a:spcPts val="2659"/>
                </a:lnSpc>
              </a:pPr>
            </a:p>
          </p:txBody>
        </p:sp>
      </p:grpSp>
      <p:sp>
        <p:nvSpPr>
          <p:cNvPr name="Freeform 32" id="32"/>
          <p:cNvSpPr/>
          <p:nvPr/>
        </p:nvSpPr>
        <p:spPr>
          <a:xfrm flipH="false" flipV="false" rot="0">
            <a:off x="2045584" y="7851959"/>
            <a:ext cx="515146" cy="260806"/>
          </a:xfrm>
          <a:custGeom>
            <a:avLst/>
            <a:gdLst/>
            <a:ahLst/>
            <a:cxnLst/>
            <a:rect r="r" b="b" t="t" l="l"/>
            <a:pathLst>
              <a:path h="260806" w="515146">
                <a:moveTo>
                  <a:pt x="0" y="0"/>
                </a:moveTo>
                <a:lnTo>
                  <a:pt x="515146" y="0"/>
                </a:lnTo>
                <a:lnTo>
                  <a:pt x="515146" y="260806"/>
                </a:lnTo>
                <a:lnTo>
                  <a:pt x="0" y="260806"/>
                </a:lnTo>
                <a:lnTo>
                  <a:pt x="0" y="0"/>
                </a:lnTo>
                <a:close/>
              </a:path>
            </a:pathLst>
          </a:custGeom>
          <a:blipFill>
            <a:blip r:embed="rId10"/>
            <a:stretch>
              <a:fillRect l="-18583" t="-90666" r="-23215" b="-89414"/>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sp>
        <p:nvSpPr>
          <p:cNvPr name="Freeform 5" id="5"/>
          <p:cNvSpPr/>
          <p:nvPr/>
        </p:nvSpPr>
        <p:spPr>
          <a:xfrm flipH="false" flipV="false" rot="-5400000">
            <a:off x="16381161" y="8530190"/>
            <a:ext cx="696543" cy="174136"/>
          </a:xfrm>
          <a:custGeom>
            <a:avLst/>
            <a:gdLst/>
            <a:ahLst/>
            <a:cxnLst/>
            <a:rect r="r" b="b" t="t" l="l"/>
            <a:pathLst>
              <a:path h="174136" w="696543">
                <a:moveTo>
                  <a:pt x="0" y="0"/>
                </a:moveTo>
                <a:lnTo>
                  <a:pt x="696543" y="0"/>
                </a:lnTo>
                <a:lnTo>
                  <a:pt x="696543" y="174136"/>
                </a:lnTo>
                <a:lnTo>
                  <a:pt x="0" y="1741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71499" y="1325314"/>
            <a:ext cx="15345001" cy="3042720"/>
            <a:chOff x="0" y="0"/>
            <a:chExt cx="2377342" cy="471397"/>
          </a:xfrm>
        </p:grpSpPr>
        <p:sp>
          <p:nvSpPr>
            <p:cNvPr name="Freeform 7" id="7"/>
            <p:cNvSpPr/>
            <p:nvPr/>
          </p:nvSpPr>
          <p:spPr>
            <a:xfrm flipH="false" flipV="false" rot="0">
              <a:off x="0" y="0"/>
              <a:ext cx="2377342" cy="471397"/>
            </a:xfrm>
            <a:custGeom>
              <a:avLst/>
              <a:gdLst/>
              <a:ahLst/>
              <a:cxnLst/>
              <a:rect r="r" b="b" t="t" l="l"/>
              <a:pathLst>
                <a:path h="471397" w="2377342">
                  <a:moveTo>
                    <a:pt x="11604" y="0"/>
                  </a:moveTo>
                  <a:lnTo>
                    <a:pt x="2365738" y="0"/>
                  </a:lnTo>
                  <a:cubicBezTo>
                    <a:pt x="2368816" y="0"/>
                    <a:pt x="2371767" y="1223"/>
                    <a:pt x="2373943" y="3399"/>
                  </a:cubicBezTo>
                  <a:cubicBezTo>
                    <a:pt x="2376120" y="5575"/>
                    <a:pt x="2377342" y="8526"/>
                    <a:pt x="2377342" y="11604"/>
                  </a:cubicBezTo>
                  <a:lnTo>
                    <a:pt x="2377342" y="459793"/>
                  </a:lnTo>
                  <a:cubicBezTo>
                    <a:pt x="2377342" y="462870"/>
                    <a:pt x="2376120" y="465822"/>
                    <a:pt x="2373943" y="467998"/>
                  </a:cubicBezTo>
                  <a:cubicBezTo>
                    <a:pt x="2371767" y="470174"/>
                    <a:pt x="2368816" y="471397"/>
                    <a:pt x="2365738" y="471397"/>
                  </a:cubicBezTo>
                  <a:lnTo>
                    <a:pt x="11604" y="471397"/>
                  </a:lnTo>
                  <a:cubicBezTo>
                    <a:pt x="5195" y="471397"/>
                    <a:pt x="0" y="466202"/>
                    <a:pt x="0" y="459793"/>
                  </a:cubicBezTo>
                  <a:lnTo>
                    <a:pt x="0" y="11604"/>
                  </a:lnTo>
                  <a:cubicBezTo>
                    <a:pt x="0" y="5195"/>
                    <a:pt x="5195" y="0"/>
                    <a:pt x="11604" y="0"/>
                  </a:cubicBezTo>
                  <a:close/>
                </a:path>
              </a:pathLst>
            </a:custGeom>
            <a:blipFill>
              <a:blip r:embed="rId4"/>
              <a:stretch>
                <a:fillRect l="0" t="-42924" r="0" b="-235314"/>
              </a:stretch>
            </a:blipFill>
          </p:spPr>
        </p:sp>
      </p:grpSp>
      <p:sp>
        <p:nvSpPr>
          <p:cNvPr name="TextBox 8" id="8"/>
          <p:cNvSpPr txBox="true"/>
          <p:nvPr/>
        </p:nvSpPr>
        <p:spPr>
          <a:xfrm rot="0">
            <a:off x="1471499" y="4833498"/>
            <a:ext cx="15345001" cy="927063"/>
          </a:xfrm>
          <a:prstGeom prst="rect">
            <a:avLst/>
          </a:prstGeom>
        </p:spPr>
        <p:txBody>
          <a:bodyPr anchor="t" rtlCol="false" tIns="0" lIns="0" bIns="0" rIns="0">
            <a:spAutoFit/>
          </a:bodyPr>
          <a:lstStyle/>
          <a:p>
            <a:pPr algn="l">
              <a:lnSpc>
                <a:spcPts val="6500"/>
              </a:lnSpc>
            </a:pPr>
            <a:r>
              <a:rPr lang="en-US" sz="6500" b="true">
                <a:solidFill>
                  <a:srgbClr val="101419"/>
                </a:solidFill>
                <a:latin typeface="Poppins Bold"/>
                <a:ea typeface="Poppins Bold"/>
                <a:cs typeface="Poppins Bold"/>
                <a:sym typeface="Poppins Bold"/>
              </a:rPr>
              <a:t>Case Study: Background</a:t>
            </a:r>
          </a:p>
        </p:txBody>
      </p:sp>
      <p:sp>
        <p:nvSpPr>
          <p:cNvPr name="TextBox 9" id="9"/>
          <p:cNvSpPr txBox="true"/>
          <p:nvPr/>
        </p:nvSpPr>
        <p:spPr>
          <a:xfrm rot="0">
            <a:off x="1471499" y="5918450"/>
            <a:ext cx="15345001" cy="962248"/>
          </a:xfrm>
          <a:prstGeom prst="rect">
            <a:avLst/>
          </a:prstGeom>
        </p:spPr>
        <p:txBody>
          <a:bodyPr anchor="t" rtlCol="false" tIns="0" lIns="0" bIns="0" rIns="0">
            <a:spAutoFit/>
          </a:bodyPr>
          <a:lstStyle/>
          <a:p>
            <a:pPr algn="just">
              <a:lnSpc>
                <a:spcPts val="2520"/>
              </a:lnSpc>
            </a:pPr>
            <a:r>
              <a:rPr lang="en-US" sz="2100">
                <a:solidFill>
                  <a:srgbClr val="101419"/>
                </a:solidFill>
                <a:latin typeface="Poppins"/>
                <a:ea typeface="Poppins"/>
                <a:cs typeface="Poppins"/>
                <a:sym typeface="Poppins"/>
              </a:rPr>
              <a:t>Th</a:t>
            </a:r>
            <a:r>
              <a:rPr lang="en-US" sz="2100">
                <a:solidFill>
                  <a:srgbClr val="101419"/>
                </a:solidFill>
                <a:latin typeface="Poppins"/>
                <a:ea typeface="Poppins"/>
                <a:cs typeface="Poppins"/>
                <a:sym typeface="Poppins"/>
              </a:rPr>
              <a:t>is month, the</a:t>
            </a:r>
            <a:r>
              <a:rPr lang="en-US" b="true" sz="2100">
                <a:solidFill>
                  <a:srgbClr val="101419"/>
                </a:solidFill>
                <a:latin typeface="Poppins Bold"/>
                <a:ea typeface="Poppins Bold"/>
                <a:cs typeface="Poppins Bold"/>
                <a:sym typeface="Poppins Bold"/>
              </a:rPr>
              <a:t> Conversion Rate (CR)</a:t>
            </a:r>
            <a:r>
              <a:rPr lang="en-US" sz="2100">
                <a:solidFill>
                  <a:srgbClr val="101419"/>
                </a:solidFill>
                <a:latin typeface="Poppins"/>
                <a:ea typeface="Poppins"/>
                <a:cs typeface="Poppins"/>
                <a:sym typeface="Poppins"/>
              </a:rPr>
              <a:t> on the website and digital platforms of XYZ, a fashion e-commerce company, </a:t>
            </a:r>
            <a:r>
              <a:rPr lang="en-US" b="true" sz="2100">
                <a:solidFill>
                  <a:srgbClr val="101419"/>
                </a:solidFill>
                <a:latin typeface="Poppins Bold"/>
                <a:ea typeface="Poppins Bold"/>
                <a:cs typeface="Poppins Bold"/>
                <a:sym typeface="Poppins Bold"/>
              </a:rPr>
              <a:t>declined by 2%</a:t>
            </a:r>
            <a:r>
              <a:rPr lang="en-US" sz="2100">
                <a:solidFill>
                  <a:srgbClr val="101419"/>
                </a:solidFill>
                <a:latin typeface="Poppins"/>
                <a:ea typeface="Poppins"/>
                <a:cs typeface="Poppins"/>
                <a:sym typeface="Poppins"/>
              </a:rPr>
              <a:t> compared to the previous month. This drop </a:t>
            </a:r>
            <a:r>
              <a:rPr lang="en-US" b="true" sz="2100">
                <a:solidFill>
                  <a:srgbClr val="101419"/>
                </a:solidFill>
                <a:latin typeface="Poppins Bold"/>
                <a:ea typeface="Poppins Bold"/>
                <a:cs typeface="Poppins Bold"/>
                <a:sym typeface="Poppins Bold"/>
              </a:rPr>
              <a:t>raises concerns as it may reduce revenue</a:t>
            </a:r>
            <a:r>
              <a:rPr lang="en-US" sz="2100">
                <a:solidFill>
                  <a:srgbClr val="101419"/>
                </a:solidFill>
                <a:latin typeface="Poppins"/>
                <a:ea typeface="Poppins"/>
                <a:cs typeface="Poppins"/>
                <a:sym typeface="Poppins"/>
              </a:rPr>
              <a:t> </a:t>
            </a:r>
            <a:r>
              <a:rPr lang="en-US" b="true" sz="2100">
                <a:solidFill>
                  <a:srgbClr val="101419"/>
                </a:solidFill>
                <a:latin typeface="Poppins Bold"/>
                <a:ea typeface="Poppins Bold"/>
                <a:cs typeface="Poppins Bold"/>
                <a:sym typeface="Poppins Bold"/>
              </a:rPr>
              <a:t>and weaken the effectiveness of ongoing marketing campaign</a:t>
            </a:r>
            <a:r>
              <a:rPr lang="en-US" sz="2100">
                <a:solidFill>
                  <a:srgbClr val="101419"/>
                </a:solidFill>
                <a:latin typeface="Poppins"/>
                <a:ea typeface="Poppins"/>
                <a:cs typeface="Poppins"/>
                <a:sym typeface="Poppins"/>
              </a:rPr>
              <a:t>s.</a:t>
            </a:r>
          </a:p>
        </p:txBody>
      </p:sp>
      <p:grpSp>
        <p:nvGrpSpPr>
          <p:cNvPr name="Group 10" id="10"/>
          <p:cNvGrpSpPr/>
          <p:nvPr/>
        </p:nvGrpSpPr>
        <p:grpSpPr>
          <a:xfrm rot="0">
            <a:off x="1471499" y="1325314"/>
            <a:ext cx="15345001" cy="3042720"/>
            <a:chOff x="0" y="0"/>
            <a:chExt cx="2377342" cy="471397"/>
          </a:xfrm>
        </p:grpSpPr>
        <p:sp>
          <p:nvSpPr>
            <p:cNvPr name="Freeform 11" id="11"/>
            <p:cNvSpPr/>
            <p:nvPr/>
          </p:nvSpPr>
          <p:spPr>
            <a:xfrm flipH="false" flipV="false" rot="0">
              <a:off x="0" y="0"/>
              <a:ext cx="2377342" cy="471397"/>
            </a:xfrm>
            <a:custGeom>
              <a:avLst/>
              <a:gdLst/>
              <a:ahLst/>
              <a:cxnLst/>
              <a:rect r="r" b="b" t="t" l="l"/>
              <a:pathLst>
                <a:path h="471397" w="2377342">
                  <a:moveTo>
                    <a:pt x="11604" y="0"/>
                  </a:moveTo>
                  <a:lnTo>
                    <a:pt x="2365738" y="0"/>
                  </a:lnTo>
                  <a:cubicBezTo>
                    <a:pt x="2368816" y="0"/>
                    <a:pt x="2371767" y="1223"/>
                    <a:pt x="2373943" y="3399"/>
                  </a:cubicBezTo>
                  <a:cubicBezTo>
                    <a:pt x="2376120" y="5575"/>
                    <a:pt x="2377342" y="8526"/>
                    <a:pt x="2377342" y="11604"/>
                  </a:cubicBezTo>
                  <a:lnTo>
                    <a:pt x="2377342" y="459793"/>
                  </a:lnTo>
                  <a:cubicBezTo>
                    <a:pt x="2377342" y="462870"/>
                    <a:pt x="2376120" y="465822"/>
                    <a:pt x="2373943" y="467998"/>
                  </a:cubicBezTo>
                  <a:cubicBezTo>
                    <a:pt x="2371767" y="470174"/>
                    <a:pt x="2368816" y="471397"/>
                    <a:pt x="2365738" y="471397"/>
                  </a:cubicBezTo>
                  <a:lnTo>
                    <a:pt x="11604" y="471397"/>
                  </a:lnTo>
                  <a:cubicBezTo>
                    <a:pt x="5195" y="471397"/>
                    <a:pt x="0" y="466202"/>
                    <a:pt x="0" y="459793"/>
                  </a:cubicBezTo>
                  <a:lnTo>
                    <a:pt x="0" y="11604"/>
                  </a:lnTo>
                  <a:cubicBezTo>
                    <a:pt x="0" y="5195"/>
                    <a:pt x="5195" y="0"/>
                    <a:pt x="11604" y="0"/>
                  </a:cubicBezTo>
                  <a:close/>
                </a:path>
              </a:pathLst>
            </a:custGeom>
            <a:solidFill>
              <a:srgbClr val="073E88">
                <a:alpha val="29804"/>
              </a:srgbClr>
            </a:solidFill>
            <a:ln w="12700">
              <a:solidFill>
                <a:srgbClr val="000000"/>
              </a:solidFill>
            </a:ln>
          </p:spPr>
        </p:sp>
      </p:grpSp>
      <p:sp>
        <p:nvSpPr>
          <p:cNvPr name="TextBox 12" id="12"/>
          <p:cNvSpPr txBox="true"/>
          <p:nvPr/>
        </p:nvSpPr>
        <p:spPr>
          <a:xfrm rot="0">
            <a:off x="1471499" y="7042623"/>
            <a:ext cx="15345001" cy="962248"/>
          </a:xfrm>
          <a:prstGeom prst="rect">
            <a:avLst/>
          </a:prstGeom>
        </p:spPr>
        <p:txBody>
          <a:bodyPr anchor="t" rtlCol="false" tIns="0" lIns="0" bIns="0" rIns="0">
            <a:spAutoFit/>
          </a:bodyPr>
          <a:lstStyle/>
          <a:p>
            <a:pPr algn="just">
              <a:lnSpc>
                <a:spcPts val="2520"/>
              </a:lnSpc>
            </a:pPr>
            <a:r>
              <a:rPr lang="en-US" sz="2100">
                <a:solidFill>
                  <a:srgbClr val="101419"/>
                </a:solidFill>
                <a:latin typeface="Poppins"/>
                <a:ea typeface="Poppins"/>
                <a:cs typeface="Poppins"/>
                <a:sym typeface="Poppins"/>
              </a:rPr>
              <a:t>At the reque</a:t>
            </a:r>
            <a:r>
              <a:rPr lang="en-US" sz="2100">
                <a:solidFill>
                  <a:srgbClr val="101419"/>
                </a:solidFill>
                <a:latin typeface="Poppins"/>
                <a:ea typeface="Poppins"/>
                <a:cs typeface="Poppins"/>
                <a:sym typeface="Poppins"/>
              </a:rPr>
              <a:t>st of the executive team, the marketing team needs to </a:t>
            </a:r>
            <a:r>
              <a:rPr lang="en-US" b="true" sz="2100">
                <a:solidFill>
                  <a:srgbClr val="101419"/>
                </a:solidFill>
                <a:latin typeface="Poppins Bold"/>
                <a:ea typeface="Poppins Bold"/>
                <a:cs typeface="Poppins Bold"/>
                <a:sym typeface="Poppins Bold"/>
              </a:rPr>
              <a:t>analyze the root causes</a:t>
            </a:r>
            <a:r>
              <a:rPr lang="en-US" sz="2100">
                <a:solidFill>
                  <a:srgbClr val="101419"/>
                </a:solidFill>
                <a:latin typeface="Poppins"/>
                <a:ea typeface="Poppins"/>
                <a:cs typeface="Poppins"/>
                <a:sym typeface="Poppins"/>
              </a:rPr>
              <a:t> of this decline and design strategies to </a:t>
            </a:r>
            <a:r>
              <a:rPr lang="en-US" b="true" sz="2100">
                <a:solidFill>
                  <a:srgbClr val="101419"/>
                </a:solidFill>
                <a:latin typeface="Poppins Bold"/>
                <a:ea typeface="Poppins Bold"/>
                <a:cs typeface="Poppins Bold"/>
                <a:sym typeface="Poppins Bold"/>
              </a:rPr>
              <a:t>increase the conversion rate by 3% within the next three months</a:t>
            </a:r>
            <a:r>
              <a:rPr lang="en-US" sz="2100">
                <a:solidFill>
                  <a:srgbClr val="101419"/>
                </a:solidFill>
                <a:latin typeface="Poppins"/>
                <a:ea typeface="Poppins"/>
                <a:cs typeface="Poppins"/>
                <a:sym typeface="Poppins"/>
              </a:rPr>
              <a:t>, focusing on website user experience optimization, social media engagement, and the effectiveness of digital advertising.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sp>
        <p:nvSpPr>
          <p:cNvPr name="Freeform 5" id="5"/>
          <p:cNvSpPr/>
          <p:nvPr/>
        </p:nvSpPr>
        <p:spPr>
          <a:xfrm flipH="false" flipV="false" rot="0">
            <a:off x="1159511" y="1162050"/>
            <a:ext cx="1106118" cy="276529"/>
          </a:xfrm>
          <a:custGeom>
            <a:avLst/>
            <a:gdLst/>
            <a:ahLst/>
            <a:cxnLst/>
            <a:rect r="r" b="b" t="t" l="l"/>
            <a:pathLst>
              <a:path h="276529" w="1106118">
                <a:moveTo>
                  <a:pt x="0" y="0"/>
                </a:moveTo>
                <a:lnTo>
                  <a:pt x="1106118" y="0"/>
                </a:lnTo>
                <a:lnTo>
                  <a:pt x="1106118" y="276529"/>
                </a:lnTo>
                <a:lnTo>
                  <a:pt x="0" y="27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9144000" y="3443345"/>
            <a:ext cx="10041" cy="3649036"/>
          </a:xfrm>
          <a:prstGeom prst="line">
            <a:avLst/>
          </a:prstGeom>
          <a:ln cap="flat" w="28575">
            <a:solidFill>
              <a:srgbClr val="073E88"/>
            </a:solidFill>
            <a:prstDash val="solid"/>
            <a:headEnd type="none" len="sm" w="sm"/>
            <a:tailEnd type="none" len="sm" w="sm"/>
          </a:ln>
        </p:spPr>
      </p:sp>
      <p:grpSp>
        <p:nvGrpSpPr>
          <p:cNvPr name="Group 7" id="7"/>
          <p:cNvGrpSpPr/>
          <p:nvPr/>
        </p:nvGrpSpPr>
        <p:grpSpPr>
          <a:xfrm rot="0">
            <a:off x="1599514" y="4478068"/>
            <a:ext cx="490909" cy="49090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9" id="9"/>
            <p:cNvSpPr txBox="true"/>
            <p:nvPr/>
          </p:nvSpPr>
          <p:spPr>
            <a:xfrm>
              <a:off x="76200" y="38100"/>
              <a:ext cx="660400" cy="698500"/>
            </a:xfrm>
            <a:prstGeom prst="rect">
              <a:avLst/>
            </a:prstGeom>
          </p:spPr>
          <p:txBody>
            <a:bodyPr anchor="ctr" rtlCol="false" tIns="22959" lIns="22959" bIns="22959" rIns="22959"/>
            <a:lstStyle/>
            <a:p>
              <a:pPr algn="ctr">
                <a:lnSpc>
                  <a:spcPts val="2659"/>
                </a:lnSpc>
              </a:pPr>
            </a:p>
          </p:txBody>
        </p:sp>
      </p:grpSp>
      <p:sp>
        <p:nvSpPr>
          <p:cNvPr name="TextBox 10" id="10"/>
          <p:cNvSpPr txBox="true"/>
          <p:nvPr/>
        </p:nvSpPr>
        <p:spPr>
          <a:xfrm rot="0">
            <a:off x="1666156" y="4603454"/>
            <a:ext cx="357625" cy="259188"/>
          </a:xfrm>
          <a:prstGeom prst="rect">
            <a:avLst/>
          </a:prstGeom>
        </p:spPr>
        <p:txBody>
          <a:bodyPr anchor="t" rtlCol="false" tIns="0" lIns="0" bIns="0" rIns="0">
            <a:spAutoFit/>
          </a:bodyPr>
          <a:lstStyle/>
          <a:p>
            <a:pPr algn="ctr">
              <a:lnSpc>
                <a:spcPts val="1872"/>
              </a:lnSpc>
            </a:pPr>
            <a:r>
              <a:rPr lang="en-US" b="true" sz="1872">
                <a:solidFill>
                  <a:srgbClr val="FFFFFF"/>
                </a:solidFill>
                <a:latin typeface="Poppins Bold"/>
                <a:ea typeface="Poppins Bold"/>
                <a:cs typeface="Poppins Bold"/>
                <a:sym typeface="Poppins Bold"/>
              </a:rPr>
              <a:t>1</a:t>
            </a:r>
          </a:p>
        </p:txBody>
      </p:sp>
      <p:sp>
        <p:nvSpPr>
          <p:cNvPr name="TextBox 11" id="11"/>
          <p:cNvSpPr txBox="true"/>
          <p:nvPr/>
        </p:nvSpPr>
        <p:spPr>
          <a:xfrm rot="0">
            <a:off x="2290380" y="4438250"/>
            <a:ext cx="6206344" cy="570545"/>
          </a:xfrm>
          <a:prstGeom prst="rect">
            <a:avLst/>
          </a:prstGeom>
        </p:spPr>
        <p:txBody>
          <a:bodyPr anchor="t" rtlCol="false" tIns="0" lIns="0" bIns="0" rIns="0">
            <a:spAutoFit/>
          </a:bodyPr>
          <a:lstStyle/>
          <a:p>
            <a:pPr algn="just">
              <a:lnSpc>
                <a:spcPts val="2180"/>
              </a:lnSpc>
            </a:pPr>
            <a:r>
              <a:rPr lang="en-US" sz="1982">
                <a:solidFill>
                  <a:srgbClr val="101419"/>
                </a:solidFill>
                <a:latin typeface="Poppins"/>
                <a:ea typeface="Poppins"/>
                <a:cs typeface="Poppins"/>
                <a:sym typeface="Poppins"/>
              </a:rPr>
              <a:t>Which marketing factors or channels contributed most to the decline in Conversion Rate (CR)?</a:t>
            </a:r>
          </a:p>
        </p:txBody>
      </p:sp>
      <p:grpSp>
        <p:nvGrpSpPr>
          <p:cNvPr name="Group 12" id="12"/>
          <p:cNvGrpSpPr/>
          <p:nvPr/>
        </p:nvGrpSpPr>
        <p:grpSpPr>
          <a:xfrm rot="0">
            <a:off x="1599514" y="5259908"/>
            <a:ext cx="490909" cy="49090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14" id="14"/>
            <p:cNvSpPr txBox="true"/>
            <p:nvPr/>
          </p:nvSpPr>
          <p:spPr>
            <a:xfrm>
              <a:off x="76200" y="38100"/>
              <a:ext cx="660400" cy="698500"/>
            </a:xfrm>
            <a:prstGeom prst="rect">
              <a:avLst/>
            </a:prstGeom>
          </p:spPr>
          <p:txBody>
            <a:bodyPr anchor="ctr" rtlCol="false" tIns="22959" lIns="22959" bIns="22959" rIns="22959"/>
            <a:lstStyle/>
            <a:p>
              <a:pPr algn="ctr">
                <a:lnSpc>
                  <a:spcPts val="2659"/>
                </a:lnSpc>
              </a:pPr>
            </a:p>
          </p:txBody>
        </p:sp>
      </p:grpSp>
      <p:sp>
        <p:nvSpPr>
          <p:cNvPr name="TextBox 15" id="15"/>
          <p:cNvSpPr txBox="true"/>
          <p:nvPr/>
        </p:nvSpPr>
        <p:spPr>
          <a:xfrm rot="0">
            <a:off x="1666156" y="5385294"/>
            <a:ext cx="357625" cy="259188"/>
          </a:xfrm>
          <a:prstGeom prst="rect">
            <a:avLst/>
          </a:prstGeom>
        </p:spPr>
        <p:txBody>
          <a:bodyPr anchor="t" rtlCol="false" tIns="0" lIns="0" bIns="0" rIns="0">
            <a:spAutoFit/>
          </a:bodyPr>
          <a:lstStyle/>
          <a:p>
            <a:pPr algn="ctr">
              <a:lnSpc>
                <a:spcPts val="1872"/>
              </a:lnSpc>
            </a:pPr>
            <a:r>
              <a:rPr lang="en-US" sz="1872" b="true">
                <a:solidFill>
                  <a:srgbClr val="FFFFFF"/>
                </a:solidFill>
                <a:latin typeface="Poppins Bold"/>
                <a:ea typeface="Poppins Bold"/>
                <a:cs typeface="Poppins Bold"/>
                <a:sym typeface="Poppins Bold"/>
              </a:rPr>
              <a:t>2</a:t>
            </a:r>
          </a:p>
        </p:txBody>
      </p:sp>
      <p:sp>
        <p:nvSpPr>
          <p:cNvPr name="TextBox 16" id="16"/>
          <p:cNvSpPr txBox="true"/>
          <p:nvPr/>
        </p:nvSpPr>
        <p:spPr>
          <a:xfrm rot="0">
            <a:off x="2290380" y="5220090"/>
            <a:ext cx="6206344" cy="570545"/>
          </a:xfrm>
          <a:prstGeom prst="rect">
            <a:avLst/>
          </a:prstGeom>
        </p:spPr>
        <p:txBody>
          <a:bodyPr anchor="t" rtlCol="false" tIns="0" lIns="0" bIns="0" rIns="0">
            <a:spAutoFit/>
          </a:bodyPr>
          <a:lstStyle/>
          <a:p>
            <a:pPr algn="just">
              <a:lnSpc>
                <a:spcPts val="2180"/>
              </a:lnSpc>
            </a:pPr>
            <a:r>
              <a:rPr lang="en-US" sz="1982">
                <a:solidFill>
                  <a:srgbClr val="101419"/>
                </a:solidFill>
                <a:latin typeface="Poppins"/>
                <a:ea typeface="Poppins"/>
                <a:cs typeface="Poppins"/>
                <a:sym typeface="Poppins"/>
              </a:rPr>
              <a:t>How does user behavior on the website and social media influence their purchase decisions?</a:t>
            </a:r>
          </a:p>
        </p:txBody>
      </p:sp>
      <p:grpSp>
        <p:nvGrpSpPr>
          <p:cNvPr name="Group 17" id="17"/>
          <p:cNvGrpSpPr/>
          <p:nvPr/>
        </p:nvGrpSpPr>
        <p:grpSpPr>
          <a:xfrm rot="0">
            <a:off x="1587058" y="6000425"/>
            <a:ext cx="490909" cy="49090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19" id="19"/>
            <p:cNvSpPr txBox="true"/>
            <p:nvPr/>
          </p:nvSpPr>
          <p:spPr>
            <a:xfrm>
              <a:off x="76200" y="38100"/>
              <a:ext cx="660400" cy="698500"/>
            </a:xfrm>
            <a:prstGeom prst="rect">
              <a:avLst/>
            </a:prstGeom>
          </p:spPr>
          <p:txBody>
            <a:bodyPr anchor="ctr" rtlCol="false" tIns="22959" lIns="22959" bIns="22959" rIns="22959"/>
            <a:lstStyle/>
            <a:p>
              <a:pPr algn="ctr">
                <a:lnSpc>
                  <a:spcPts val="2659"/>
                </a:lnSpc>
              </a:pPr>
            </a:p>
          </p:txBody>
        </p:sp>
      </p:grpSp>
      <p:sp>
        <p:nvSpPr>
          <p:cNvPr name="TextBox 20" id="20"/>
          <p:cNvSpPr txBox="true"/>
          <p:nvPr/>
        </p:nvSpPr>
        <p:spPr>
          <a:xfrm rot="0">
            <a:off x="1653699" y="6125810"/>
            <a:ext cx="357625" cy="259188"/>
          </a:xfrm>
          <a:prstGeom prst="rect">
            <a:avLst/>
          </a:prstGeom>
        </p:spPr>
        <p:txBody>
          <a:bodyPr anchor="t" rtlCol="false" tIns="0" lIns="0" bIns="0" rIns="0">
            <a:spAutoFit/>
          </a:bodyPr>
          <a:lstStyle/>
          <a:p>
            <a:pPr algn="ctr">
              <a:lnSpc>
                <a:spcPts val="1872"/>
              </a:lnSpc>
            </a:pPr>
            <a:r>
              <a:rPr lang="en-US" sz="1872" b="true">
                <a:solidFill>
                  <a:srgbClr val="FFFFFF"/>
                </a:solidFill>
                <a:latin typeface="Poppins Bold"/>
                <a:ea typeface="Poppins Bold"/>
                <a:cs typeface="Poppins Bold"/>
                <a:sym typeface="Poppins Bold"/>
              </a:rPr>
              <a:t>3</a:t>
            </a:r>
          </a:p>
        </p:txBody>
      </p:sp>
      <p:sp>
        <p:nvSpPr>
          <p:cNvPr name="TextBox 21" id="21"/>
          <p:cNvSpPr txBox="true"/>
          <p:nvPr/>
        </p:nvSpPr>
        <p:spPr>
          <a:xfrm rot="0">
            <a:off x="2277923" y="6000425"/>
            <a:ext cx="6206344" cy="843230"/>
          </a:xfrm>
          <a:prstGeom prst="rect">
            <a:avLst/>
          </a:prstGeom>
        </p:spPr>
        <p:txBody>
          <a:bodyPr anchor="t" rtlCol="false" tIns="0" lIns="0" bIns="0" rIns="0">
            <a:spAutoFit/>
          </a:bodyPr>
          <a:lstStyle/>
          <a:p>
            <a:pPr algn="just">
              <a:lnSpc>
                <a:spcPts val="2180"/>
              </a:lnSpc>
            </a:pPr>
            <a:r>
              <a:rPr lang="en-US" sz="1982">
                <a:solidFill>
                  <a:srgbClr val="101419"/>
                </a:solidFill>
                <a:latin typeface="Poppins"/>
                <a:ea typeface="Poppins"/>
                <a:cs typeface="Poppins"/>
                <a:sym typeface="Poppins"/>
              </a:rPr>
              <a:t>What strategies or optimizations can be implemented to increase the CR in the next three months?</a:t>
            </a:r>
          </a:p>
        </p:txBody>
      </p:sp>
      <p:sp>
        <p:nvSpPr>
          <p:cNvPr name="TextBox 22" id="22"/>
          <p:cNvSpPr txBox="true"/>
          <p:nvPr/>
        </p:nvSpPr>
        <p:spPr>
          <a:xfrm rot="0">
            <a:off x="1587058" y="3471920"/>
            <a:ext cx="6909666" cy="501411"/>
          </a:xfrm>
          <a:prstGeom prst="rect">
            <a:avLst/>
          </a:prstGeom>
        </p:spPr>
        <p:txBody>
          <a:bodyPr anchor="t" rtlCol="false" tIns="0" lIns="0" bIns="0" rIns="0">
            <a:spAutoFit/>
          </a:bodyPr>
          <a:lstStyle/>
          <a:p>
            <a:pPr algn="ctr">
              <a:lnSpc>
                <a:spcPts val="3524"/>
              </a:lnSpc>
            </a:pPr>
            <a:r>
              <a:rPr lang="en-US" sz="3524" b="true">
                <a:solidFill>
                  <a:srgbClr val="101419"/>
                </a:solidFill>
                <a:latin typeface="Poppins Bold"/>
                <a:ea typeface="Poppins Bold"/>
                <a:cs typeface="Poppins Bold"/>
                <a:sym typeface="Poppins Bold"/>
              </a:rPr>
              <a:t>Main Objective Questions</a:t>
            </a:r>
          </a:p>
        </p:txBody>
      </p:sp>
      <p:grpSp>
        <p:nvGrpSpPr>
          <p:cNvPr name="Group 23" id="23"/>
          <p:cNvGrpSpPr/>
          <p:nvPr/>
        </p:nvGrpSpPr>
        <p:grpSpPr>
          <a:xfrm rot="0">
            <a:off x="9803733" y="4478068"/>
            <a:ext cx="490909" cy="490909"/>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25" id="25"/>
            <p:cNvSpPr txBox="true"/>
            <p:nvPr/>
          </p:nvSpPr>
          <p:spPr>
            <a:xfrm>
              <a:off x="76200" y="38100"/>
              <a:ext cx="660400" cy="698500"/>
            </a:xfrm>
            <a:prstGeom prst="rect">
              <a:avLst/>
            </a:prstGeom>
          </p:spPr>
          <p:txBody>
            <a:bodyPr anchor="ctr" rtlCol="false" tIns="22959" lIns="22959" bIns="22959" rIns="22959"/>
            <a:lstStyle/>
            <a:p>
              <a:pPr algn="ctr">
                <a:lnSpc>
                  <a:spcPts val="2659"/>
                </a:lnSpc>
              </a:pPr>
            </a:p>
          </p:txBody>
        </p:sp>
      </p:grpSp>
      <p:sp>
        <p:nvSpPr>
          <p:cNvPr name="TextBox 26" id="26"/>
          <p:cNvSpPr txBox="true"/>
          <p:nvPr/>
        </p:nvSpPr>
        <p:spPr>
          <a:xfrm rot="0">
            <a:off x="9870374" y="4603454"/>
            <a:ext cx="357625" cy="259188"/>
          </a:xfrm>
          <a:prstGeom prst="rect">
            <a:avLst/>
          </a:prstGeom>
        </p:spPr>
        <p:txBody>
          <a:bodyPr anchor="t" rtlCol="false" tIns="0" lIns="0" bIns="0" rIns="0">
            <a:spAutoFit/>
          </a:bodyPr>
          <a:lstStyle/>
          <a:p>
            <a:pPr algn="ctr">
              <a:lnSpc>
                <a:spcPts val="1872"/>
              </a:lnSpc>
            </a:pPr>
            <a:r>
              <a:rPr lang="en-US" b="true" sz="1872">
                <a:solidFill>
                  <a:srgbClr val="FFFFFF"/>
                </a:solidFill>
                <a:latin typeface="Poppins Bold"/>
                <a:ea typeface="Poppins Bold"/>
                <a:cs typeface="Poppins Bold"/>
                <a:sym typeface="Poppins Bold"/>
              </a:rPr>
              <a:t>1</a:t>
            </a:r>
          </a:p>
        </p:txBody>
      </p:sp>
      <p:sp>
        <p:nvSpPr>
          <p:cNvPr name="TextBox 27" id="27"/>
          <p:cNvSpPr txBox="true"/>
          <p:nvPr/>
        </p:nvSpPr>
        <p:spPr>
          <a:xfrm rot="0">
            <a:off x="10494598" y="4438250"/>
            <a:ext cx="6206344" cy="570545"/>
          </a:xfrm>
          <a:prstGeom prst="rect">
            <a:avLst/>
          </a:prstGeom>
        </p:spPr>
        <p:txBody>
          <a:bodyPr anchor="t" rtlCol="false" tIns="0" lIns="0" bIns="0" rIns="0">
            <a:spAutoFit/>
          </a:bodyPr>
          <a:lstStyle/>
          <a:p>
            <a:pPr algn="just">
              <a:lnSpc>
                <a:spcPts val="2180"/>
              </a:lnSpc>
            </a:pPr>
            <a:r>
              <a:rPr lang="en-US" sz="1982">
                <a:solidFill>
                  <a:srgbClr val="101419"/>
                </a:solidFill>
                <a:latin typeface="Poppins"/>
                <a:ea typeface="Poppins"/>
                <a:cs typeface="Poppins"/>
                <a:sym typeface="Poppins"/>
              </a:rPr>
              <a:t>Increase the Conversion Rate (CR) by 3% within three months.</a:t>
            </a:r>
          </a:p>
        </p:txBody>
      </p:sp>
      <p:grpSp>
        <p:nvGrpSpPr>
          <p:cNvPr name="Group 28" id="28"/>
          <p:cNvGrpSpPr/>
          <p:nvPr/>
        </p:nvGrpSpPr>
        <p:grpSpPr>
          <a:xfrm rot="0">
            <a:off x="9803733" y="5259908"/>
            <a:ext cx="490909" cy="490909"/>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30" id="30"/>
            <p:cNvSpPr txBox="true"/>
            <p:nvPr/>
          </p:nvSpPr>
          <p:spPr>
            <a:xfrm>
              <a:off x="76200" y="38100"/>
              <a:ext cx="660400" cy="698500"/>
            </a:xfrm>
            <a:prstGeom prst="rect">
              <a:avLst/>
            </a:prstGeom>
          </p:spPr>
          <p:txBody>
            <a:bodyPr anchor="ctr" rtlCol="false" tIns="22959" lIns="22959" bIns="22959" rIns="22959"/>
            <a:lstStyle/>
            <a:p>
              <a:pPr algn="ctr">
                <a:lnSpc>
                  <a:spcPts val="2659"/>
                </a:lnSpc>
              </a:pPr>
            </a:p>
          </p:txBody>
        </p:sp>
      </p:grpSp>
      <p:sp>
        <p:nvSpPr>
          <p:cNvPr name="TextBox 31" id="31"/>
          <p:cNvSpPr txBox="true"/>
          <p:nvPr/>
        </p:nvSpPr>
        <p:spPr>
          <a:xfrm rot="0">
            <a:off x="9870374" y="5385294"/>
            <a:ext cx="357625" cy="259188"/>
          </a:xfrm>
          <a:prstGeom prst="rect">
            <a:avLst/>
          </a:prstGeom>
        </p:spPr>
        <p:txBody>
          <a:bodyPr anchor="t" rtlCol="false" tIns="0" lIns="0" bIns="0" rIns="0">
            <a:spAutoFit/>
          </a:bodyPr>
          <a:lstStyle/>
          <a:p>
            <a:pPr algn="ctr">
              <a:lnSpc>
                <a:spcPts val="1872"/>
              </a:lnSpc>
            </a:pPr>
            <a:r>
              <a:rPr lang="en-US" sz="1872" b="true">
                <a:solidFill>
                  <a:srgbClr val="FFFFFF"/>
                </a:solidFill>
                <a:latin typeface="Poppins Bold"/>
                <a:ea typeface="Poppins Bold"/>
                <a:cs typeface="Poppins Bold"/>
                <a:sym typeface="Poppins Bold"/>
              </a:rPr>
              <a:t>2</a:t>
            </a:r>
          </a:p>
        </p:txBody>
      </p:sp>
      <p:sp>
        <p:nvSpPr>
          <p:cNvPr name="TextBox 32" id="32"/>
          <p:cNvSpPr txBox="true"/>
          <p:nvPr/>
        </p:nvSpPr>
        <p:spPr>
          <a:xfrm rot="0">
            <a:off x="10494598" y="5220090"/>
            <a:ext cx="6206344" cy="570545"/>
          </a:xfrm>
          <a:prstGeom prst="rect">
            <a:avLst/>
          </a:prstGeom>
        </p:spPr>
        <p:txBody>
          <a:bodyPr anchor="t" rtlCol="false" tIns="0" lIns="0" bIns="0" rIns="0">
            <a:spAutoFit/>
          </a:bodyPr>
          <a:lstStyle/>
          <a:p>
            <a:pPr algn="just">
              <a:lnSpc>
                <a:spcPts val="2180"/>
              </a:lnSpc>
            </a:pPr>
            <a:r>
              <a:rPr lang="en-US" sz="1982">
                <a:solidFill>
                  <a:srgbClr val="101419"/>
                </a:solidFill>
                <a:latin typeface="Poppins"/>
                <a:ea typeface="Poppins"/>
                <a:cs typeface="Poppins"/>
                <a:sym typeface="Poppins"/>
              </a:rPr>
              <a:t>Identify the key factors and marketing channels influencing CR.</a:t>
            </a:r>
          </a:p>
        </p:txBody>
      </p:sp>
      <p:grpSp>
        <p:nvGrpSpPr>
          <p:cNvPr name="Group 33" id="33"/>
          <p:cNvGrpSpPr/>
          <p:nvPr/>
        </p:nvGrpSpPr>
        <p:grpSpPr>
          <a:xfrm rot="0">
            <a:off x="9791276" y="6000425"/>
            <a:ext cx="490909" cy="490909"/>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35" id="35"/>
            <p:cNvSpPr txBox="true"/>
            <p:nvPr/>
          </p:nvSpPr>
          <p:spPr>
            <a:xfrm>
              <a:off x="76200" y="38100"/>
              <a:ext cx="660400" cy="698500"/>
            </a:xfrm>
            <a:prstGeom prst="rect">
              <a:avLst/>
            </a:prstGeom>
          </p:spPr>
          <p:txBody>
            <a:bodyPr anchor="ctr" rtlCol="false" tIns="22959" lIns="22959" bIns="22959" rIns="22959"/>
            <a:lstStyle/>
            <a:p>
              <a:pPr algn="ctr">
                <a:lnSpc>
                  <a:spcPts val="2659"/>
                </a:lnSpc>
              </a:pPr>
            </a:p>
          </p:txBody>
        </p:sp>
      </p:grpSp>
      <p:sp>
        <p:nvSpPr>
          <p:cNvPr name="TextBox 36" id="36"/>
          <p:cNvSpPr txBox="true"/>
          <p:nvPr/>
        </p:nvSpPr>
        <p:spPr>
          <a:xfrm rot="0">
            <a:off x="9857918" y="6125810"/>
            <a:ext cx="357625" cy="259188"/>
          </a:xfrm>
          <a:prstGeom prst="rect">
            <a:avLst/>
          </a:prstGeom>
        </p:spPr>
        <p:txBody>
          <a:bodyPr anchor="t" rtlCol="false" tIns="0" lIns="0" bIns="0" rIns="0">
            <a:spAutoFit/>
          </a:bodyPr>
          <a:lstStyle/>
          <a:p>
            <a:pPr algn="ctr">
              <a:lnSpc>
                <a:spcPts val="1872"/>
              </a:lnSpc>
            </a:pPr>
            <a:r>
              <a:rPr lang="en-US" sz="1872" b="true">
                <a:solidFill>
                  <a:srgbClr val="FFFFFF"/>
                </a:solidFill>
                <a:latin typeface="Poppins Bold"/>
                <a:ea typeface="Poppins Bold"/>
                <a:cs typeface="Poppins Bold"/>
                <a:sym typeface="Poppins Bold"/>
              </a:rPr>
              <a:t>3</a:t>
            </a:r>
          </a:p>
        </p:txBody>
      </p:sp>
      <p:sp>
        <p:nvSpPr>
          <p:cNvPr name="TextBox 37" id="37"/>
          <p:cNvSpPr txBox="true"/>
          <p:nvPr/>
        </p:nvSpPr>
        <p:spPr>
          <a:xfrm rot="0">
            <a:off x="10482141" y="6000425"/>
            <a:ext cx="6206344" cy="570545"/>
          </a:xfrm>
          <a:prstGeom prst="rect">
            <a:avLst/>
          </a:prstGeom>
        </p:spPr>
        <p:txBody>
          <a:bodyPr anchor="t" rtlCol="false" tIns="0" lIns="0" bIns="0" rIns="0">
            <a:spAutoFit/>
          </a:bodyPr>
          <a:lstStyle/>
          <a:p>
            <a:pPr algn="just">
              <a:lnSpc>
                <a:spcPts val="2180"/>
              </a:lnSpc>
            </a:pPr>
            <a:r>
              <a:rPr lang="en-US" sz="1982">
                <a:solidFill>
                  <a:srgbClr val="101419"/>
                </a:solidFill>
                <a:latin typeface="Poppins"/>
                <a:ea typeface="Poppins"/>
                <a:cs typeface="Poppins"/>
                <a:sym typeface="Poppins"/>
              </a:rPr>
              <a:t>Understand visitor behavior across the website and social media platforms.</a:t>
            </a:r>
          </a:p>
        </p:txBody>
      </p:sp>
      <p:sp>
        <p:nvSpPr>
          <p:cNvPr name="TextBox 38" id="38"/>
          <p:cNvSpPr txBox="true"/>
          <p:nvPr/>
        </p:nvSpPr>
        <p:spPr>
          <a:xfrm rot="0">
            <a:off x="9791276" y="3471920"/>
            <a:ext cx="6909666" cy="501411"/>
          </a:xfrm>
          <a:prstGeom prst="rect">
            <a:avLst/>
          </a:prstGeom>
        </p:spPr>
        <p:txBody>
          <a:bodyPr anchor="t" rtlCol="false" tIns="0" lIns="0" bIns="0" rIns="0">
            <a:spAutoFit/>
          </a:bodyPr>
          <a:lstStyle/>
          <a:p>
            <a:pPr algn="ctr">
              <a:lnSpc>
                <a:spcPts val="3524"/>
              </a:lnSpc>
            </a:pPr>
            <a:r>
              <a:rPr lang="en-US" sz="3524" b="true">
                <a:solidFill>
                  <a:srgbClr val="101419"/>
                </a:solidFill>
                <a:latin typeface="Poppins Bold"/>
                <a:ea typeface="Poppins Bold"/>
                <a:cs typeface="Poppins Bold"/>
                <a:sym typeface="Poppins Bold"/>
              </a:rPr>
              <a:t>Objectives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sp>
        <p:nvSpPr>
          <p:cNvPr name="Freeform 5" id="5"/>
          <p:cNvSpPr/>
          <p:nvPr/>
        </p:nvSpPr>
        <p:spPr>
          <a:xfrm flipH="false" flipV="false" rot="0">
            <a:off x="1159511" y="1162050"/>
            <a:ext cx="1106118" cy="276529"/>
          </a:xfrm>
          <a:custGeom>
            <a:avLst/>
            <a:gdLst/>
            <a:ahLst/>
            <a:cxnLst/>
            <a:rect r="r" b="b" t="t" l="l"/>
            <a:pathLst>
              <a:path h="276529" w="1106118">
                <a:moveTo>
                  <a:pt x="0" y="0"/>
                </a:moveTo>
                <a:lnTo>
                  <a:pt x="1106118" y="0"/>
                </a:lnTo>
                <a:lnTo>
                  <a:pt x="1106118" y="276529"/>
                </a:lnTo>
                <a:lnTo>
                  <a:pt x="0" y="27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6" id="6"/>
          <p:cNvGraphicFramePr>
            <a:graphicFrameLocks noGrp="true"/>
          </p:cNvGraphicFramePr>
          <p:nvPr/>
        </p:nvGraphicFramePr>
        <p:xfrm>
          <a:off x="1038225" y="2826124"/>
          <a:ext cx="16211550" cy="5772150"/>
        </p:xfrm>
        <a:graphic>
          <a:graphicData uri="http://schemas.openxmlformats.org/drawingml/2006/table">
            <a:tbl>
              <a:tblPr/>
              <a:tblGrid>
                <a:gridCol w="4114792"/>
                <a:gridCol w="12096758"/>
              </a:tblGrid>
              <a:tr h="993880">
                <a:tc>
                  <a:txBody>
                    <a:bodyPr anchor="t" rtlCol="false"/>
                    <a:lstStyle/>
                    <a:p>
                      <a:pPr algn="ctr">
                        <a:lnSpc>
                          <a:spcPts val="3359"/>
                        </a:lnSpc>
                        <a:defRPr/>
                      </a:pPr>
                      <a:r>
                        <a:rPr lang="en-US" sz="2399" b="true">
                          <a:solidFill>
                            <a:srgbClr val="FFFFFF"/>
                          </a:solidFill>
                          <a:latin typeface="Poppins Bold"/>
                          <a:ea typeface="Poppins Bold"/>
                          <a:cs typeface="Poppins Bold"/>
                          <a:sym typeface="Poppins Bold"/>
                        </a:rPr>
                        <a:t>Column Name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3359"/>
                        </a:lnSpc>
                        <a:defRPr/>
                      </a:pPr>
                      <a:r>
                        <a:rPr lang="en-US" sz="2399" b="true">
                          <a:solidFill>
                            <a:srgbClr val="FFFFFF"/>
                          </a:solidFill>
                          <a:latin typeface="Poppins Bold"/>
                          <a:ea typeface="Poppins Bold"/>
                          <a:cs typeface="Poppins Bold"/>
                          <a:sym typeface="Poppins Bold"/>
                        </a:rPr>
                        <a:t>Definition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r>
              <a:tr h="955654">
                <a:tc>
                  <a:txBody>
                    <a:bodyPr anchor="t" rtlCol="false"/>
                    <a:lstStyle/>
                    <a:p>
                      <a:pPr algn="ctr">
                        <a:lnSpc>
                          <a:spcPts val="3079"/>
                        </a:lnSpc>
                        <a:defRPr/>
                      </a:pPr>
                      <a:r>
                        <a:rPr lang="en-US" sz="2199">
                          <a:solidFill>
                            <a:srgbClr val="000000"/>
                          </a:solidFill>
                          <a:latin typeface="Poppins"/>
                          <a:ea typeface="Poppins"/>
                          <a:cs typeface="Poppins"/>
                          <a:sym typeface="Poppins"/>
                        </a:rPr>
                        <a:t>User_ID</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Poppins"/>
                          <a:ea typeface="Poppins"/>
                          <a:cs typeface="Poppins"/>
                          <a:sym typeface="Poppins"/>
                        </a:rPr>
                        <a:t>Unique ID of the visitor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55654">
                <a:tc>
                  <a:txBody>
                    <a:bodyPr anchor="t" rtlCol="false"/>
                    <a:lstStyle/>
                    <a:p>
                      <a:pPr algn="ctr">
                        <a:lnSpc>
                          <a:spcPts val="3079"/>
                        </a:lnSpc>
                        <a:defRPr/>
                      </a:pPr>
                      <a:r>
                        <a:rPr lang="en-US" sz="2199">
                          <a:solidFill>
                            <a:srgbClr val="000000"/>
                          </a:solidFill>
                          <a:latin typeface="Poppins"/>
                          <a:ea typeface="Poppins"/>
                          <a:cs typeface="Poppins"/>
                          <a:sym typeface="Poppins"/>
                        </a:rPr>
                        <a:t>Location </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Poppins"/>
                          <a:ea typeface="Poppins"/>
                          <a:cs typeface="Poppins"/>
                          <a:sym typeface="Poppins"/>
                        </a:rPr>
                        <a:t>City or province of the visitor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55654">
                <a:tc>
                  <a:txBody>
                    <a:bodyPr anchor="t" rtlCol="false"/>
                    <a:lstStyle/>
                    <a:p>
                      <a:pPr algn="ctr">
                        <a:lnSpc>
                          <a:spcPts val="3079"/>
                        </a:lnSpc>
                        <a:defRPr/>
                      </a:pPr>
                      <a:r>
                        <a:rPr lang="en-US" sz="2199">
                          <a:solidFill>
                            <a:srgbClr val="000000"/>
                          </a:solidFill>
                          <a:latin typeface="Poppins"/>
                          <a:ea typeface="Poppins"/>
                          <a:cs typeface="Poppins"/>
                          <a:sym typeface="Poppins"/>
                        </a:rPr>
                        <a:t>Visit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Poppins"/>
                          <a:ea typeface="Poppins"/>
                          <a:cs typeface="Poppins"/>
                          <a:sym typeface="Poppins"/>
                        </a:rPr>
                        <a:t>Number of visits to the website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55654">
                <a:tc>
                  <a:txBody>
                    <a:bodyPr anchor="t" rtlCol="false"/>
                    <a:lstStyle/>
                    <a:p>
                      <a:pPr algn="ctr">
                        <a:lnSpc>
                          <a:spcPts val="3079"/>
                        </a:lnSpc>
                        <a:defRPr/>
                      </a:pPr>
                      <a:r>
                        <a:rPr lang="en-US" sz="2199">
                          <a:solidFill>
                            <a:srgbClr val="000000"/>
                          </a:solidFill>
                          <a:latin typeface="Poppins"/>
                          <a:ea typeface="Poppins"/>
                          <a:cs typeface="Poppins"/>
                          <a:sym typeface="Poppins"/>
                        </a:rPr>
                        <a:t>Session_Duration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Poppins"/>
                          <a:ea typeface="Poppins"/>
                          <a:cs typeface="Poppins"/>
                          <a:sym typeface="Poppins"/>
                        </a:rPr>
                        <a:t>Duration of the website session (in minutes)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55654">
                <a:tc>
                  <a:txBody>
                    <a:bodyPr anchor="t" rtlCol="false"/>
                    <a:lstStyle/>
                    <a:p>
                      <a:pPr algn="ctr">
                        <a:lnSpc>
                          <a:spcPts val="3079"/>
                        </a:lnSpc>
                        <a:defRPr/>
                      </a:pPr>
                      <a:r>
                        <a:rPr lang="en-US" sz="2199">
                          <a:solidFill>
                            <a:srgbClr val="000000"/>
                          </a:solidFill>
                          <a:latin typeface="Poppins"/>
                          <a:ea typeface="Poppins"/>
                          <a:cs typeface="Poppins"/>
                          <a:sym typeface="Poppins"/>
                        </a:rPr>
                        <a:t>Product_Category </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Poppins"/>
                          <a:ea typeface="Poppins"/>
                          <a:cs typeface="Poppins"/>
                          <a:sym typeface="Poppins"/>
                        </a:rPr>
                        <a:t>Product category viewed</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028700" y="1820699"/>
            <a:ext cx="16221075" cy="594920"/>
          </a:xfrm>
          <a:prstGeom prst="rect">
            <a:avLst/>
          </a:prstGeom>
        </p:spPr>
        <p:txBody>
          <a:bodyPr anchor="t" rtlCol="false" tIns="0" lIns="0" bIns="0" rIns="0">
            <a:spAutoFit/>
          </a:bodyPr>
          <a:lstStyle/>
          <a:p>
            <a:pPr algn="ctr">
              <a:lnSpc>
                <a:spcPts val="4299"/>
              </a:lnSpc>
            </a:pPr>
            <a:r>
              <a:rPr lang="en-US" sz="4299" b="true">
                <a:solidFill>
                  <a:srgbClr val="101419"/>
                </a:solidFill>
                <a:latin typeface="Poppins Bold"/>
                <a:ea typeface="Poppins Bold"/>
                <a:cs typeface="Poppins Bold"/>
                <a:sym typeface="Poppins Bold"/>
              </a:rPr>
              <a:t>Data Definition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sp>
        <p:nvSpPr>
          <p:cNvPr name="Freeform 5" id="5"/>
          <p:cNvSpPr/>
          <p:nvPr/>
        </p:nvSpPr>
        <p:spPr>
          <a:xfrm flipH="false" flipV="false" rot="0">
            <a:off x="1159511" y="1162050"/>
            <a:ext cx="1106118" cy="276529"/>
          </a:xfrm>
          <a:custGeom>
            <a:avLst/>
            <a:gdLst/>
            <a:ahLst/>
            <a:cxnLst/>
            <a:rect r="r" b="b" t="t" l="l"/>
            <a:pathLst>
              <a:path h="276529" w="1106118">
                <a:moveTo>
                  <a:pt x="0" y="0"/>
                </a:moveTo>
                <a:lnTo>
                  <a:pt x="1106118" y="0"/>
                </a:lnTo>
                <a:lnTo>
                  <a:pt x="1106118" y="276529"/>
                </a:lnTo>
                <a:lnTo>
                  <a:pt x="0" y="27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6" id="6"/>
          <p:cNvGraphicFramePr>
            <a:graphicFrameLocks noGrp="true"/>
          </p:cNvGraphicFramePr>
          <p:nvPr/>
        </p:nvGraphicFramePr>
        <p:xfrm>
          <a:off x="1038225" y="2826124"/>
          <a:ext cx="16211550" cy="5772150"/>
        </p:xfrm>
        <a:graphic>
          <a:graphicData uri="http://schemas.openxmlformats.org/drawingml/2006/table">
            <a:tbl>
              <a:tblPr/>
              <a:tblGrid>
                <a:gridCol w="4158172"/>
                <a:gridCol w="12053378"/>
              </a:tblGrid>
              <a:tr h="993880">
                <a:tc>
                  <a:txBody>
                    <a:bodyPr anchor="t" rtlCol="false"/>
                    <a:lstStyle/>
                    <a:p>
                      <a:pPr algn="ctr">
                        <a:lnSpc>
                          <a:spcPts val="3359"/>
                        </a:lnSpc>
                        <a:defRPr/>
                      </a:pPr>
                      <a:r>
                        <a:rPr lang="en-US" sz="2399" b="true">
                          <a:solidFill>
                            <a:srgbClr val="FFFFFF"/>
                          </a:solidFill>
                          <a:latin typeface="Poppins Bold"/>
                          <a:ea typeface="Poppins Bold"/>
                          <a:cs typeface="Poppins Bold"/>
                          <a:sym typeface="Poppins Bold"/>
                        </a:rPr>
                        <a:t>Column Name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3359"/>
                        </a:lnSpc>
                        <a:defRPr/>
                      </a:pPr>
                      <a:r>
                        <a:rPr lang="en-US" sz="2399" b="true">
                          <a:solidFill>
                            <a:srgbClr val="FFFFFF"/>
                          </a:solidFill>
                          <a:latin typeface="Poppins Bold"/>
                          <a:ea typeface="Poppins Bold"/>
                          <a:cs typeface="Poppins Bold"/>
                          <a:sym typeface="Poppins Bold"/>
                        </a:rPr>
                        <a:t>Definition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r>
              <a:tr h="955654">
                <a:tc>
                  <a:txBody>
                    <a:bodyPr anchor="t" rtlCol="false"/>
                    <a:lstStyle/>
                    <a:p>
                      <a:pPr algn="ctr">
                        <a:lnSpc>
                          <a:spcPts val="3079"/>
                        </a:lnSpc>
                        <a:defRPr/>
                      </a:pPr>
                      <a:r>
                        <a:rPr lang="en-US" sz="2199">
                          <a:solidFill>
                            <a:srgbClr val="000000"/>
                          </a:solidFill>
                          <a:latin typeface="Poppins"/>
                          <a:ea typeface="Poppins"/>
                          <a:cs typeface="Poppins"/>
                          <a:sym typeface="Poppins"/>
                        </a:rPr>
                        <a:t>Product_Page_Views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Poppins"/>
                          <a:ea typeface="Poppins"/>
                          <a:cs typeface="Poppins"/>
                          <a:sym typeface="Poppins"/>
                        </a:rPr>
                        <a:t>Number of product pages viewed</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55654">
                <a:tc>
                  <a:txBody>
                    <a:bodyPr anchor="t" rtlCol="false"/>
                    <a:lstStyle/>
                    <a:p>
                      <a:pPr algn="ctr">
                        <a:lnSpc>
                          <a:spcPts val="3079"/>
                        </a:lnSpc>
                        <a:defRPr/>
                      </a:pPr>
                      <a:r>
                        <a:rPr lang="en-US" sz="2199">
                          <a:solidFill>
                            <a:srgbClr val="000000"/>
                          </a:solidFill>
                          <a:latin typeface="Poppins"/>
                          <a:ea typeface="Poppins"/>
                          <a:cs typeface="Poppins"/>
                          <a:sym typeface="Poppins"/>
                        </a:rPr>
                        <a:t>Ads_Name </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Poppins"/>
                          <a:ea typeface="Poppins"/>
                          <a:cs typeface="Poppins"/>
                          <a:sym typeface="Poppins"/>
                        </a:rPr>
                        <a:t>Name of the advertisement or ad campaign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55654">
                <a:tc>
                  <a:txBody>
                    <a:bodyPr anchor="t" rtlCol="false"/>
                    <a:lstStyle/>
                    <a:p>
                      <a:pPr algn="ctr">
                        <a:lnSpc>
                          <a:spcPts val="3079"/>
                        </a:lnSpc>
                        <a:defRPr/>
                      </a:pPr>
                      <a:r>
                        <a:rPr lang="en-US" sz="2199">
                          <a:solidFill>
                            <a:srgbClr val="000000"/>
                          </a:solidFill>
                          <a:latin typeface="Poppins"/>
                          <a:ea typeface="Poppins"/>
                          <a:cs typeface="Poppins"/>
                          <a:sym typeface="Poppins"/>
                        </a:rPr>
                        <a:t>Transaction_date </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Poppins"/>
                          <a:ea typeface="Poppins"/>
                          <a:cs typeface="Poppins"/>
                          <a:sym typeface="Poppins"/>
                        </a:rPr>
                        <a:t>Date the customer made a purchase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55654">
                <a:tc>
                  <a:txBody>
                    <a:bodyPr anchor="t" rtlCol="false"/>
                    <a:lstStyle/>
                    <a:p>
                      <a:pPr algn="ctr">
                        <a:lnSpc>
                          <a:spcPts val="3079"/>
                        </a:lnSpc>
                        <a:defRPr/>
                      </a:pPr>
                      <a:r>
                        <a:rPr lang="en-US" sz="2199">
                          <a:solidFill>
                            <a:srgbClr val="000000"/>
                          </a:solidFill>
                          <a:latin typeface="Poppins"/>
                          <a:ea typeface="Poppins"/>
                          <a:cs typeface="Poppins"/>
                          <a:sym typeface="Poppins"/>
                        </a:rPr>
                        <a:t>Impressions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Poppins"/>
                          <a:ea typeface="Poppins"/>
                          <a:cs typeface="Poppins"/>
                          <a:sym typeface="Poppins"/>
                        </a:rPr>
                        <a:t>Number of ad impressions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55654">
                <a:tc>
                  <a:txBody>
                    <a:bodyPr anchor="t" rtlCol="false"/>
                    <a:lstStyle/>
                    <a:p>
                      <a:pPr algn="ctr">
                        <a:lnSpc>
                          <a:spcPts val="3079"/>
                        </a:lnSpc>
                        <a:defRPr/>
                      </a:pPr>
                      <a:r>
                        <a:rPr lang="en-US" sz="2199">
                          <a:solidFill>
                            <a:srgbClr val="000000"/>
                          </a:solidFill>
                          <a:latin typeface="Poppins"/>
                          <a:ea typeface="Poppins"/>
                          <a:cs typeface="Poppins"/>
                          <a:sym typeface="Poppins"/>
                        </a:rPr>
                        <a:t>Clicks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Poppins"/>
                          <a:ea typeface="Poppins"/>
                          <a:cs typeface="Poppins"/>
                          <a:sym typeface="Poppins"/>
                        </a:rPr>
                        <a:t>Number of ad clicks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028700" y="1820699"/>
            <a:ext cx="16221075" cy="594920"/>
          </a:xfrm>
          <a:prstGeom prst="rect">
            <a:avLst/>
          </a:prstGeom>
        </p:spPr>
        <p:txBody>
          <a:bodyPr anchor="t" rtlCol="false" tIns="0" lIns="0" bIns="0" rIns="0">
            <a:spAutoFit/>
          </a:bodyPr>
          <a:lstStyle/>
          <a:p>
            <a:pPr algn="ctr">
              <a:lnSpc>
                <a:spcPts val="4299"/>
              </a:lnSpc>
            </a:pPr>
            <a:r>
              <a:rPr lang="en-US" sz="4299" b="true">
                <a:solidFill>
                  <a:srgbClr val="101419"/>
                </a:solidFill>
                <a:latin typeface="Poppins Bold"/>
                <a:ea typeface="Poppins Bold"/>
                <a:cs typeface="Poppins Bold"/>
                <a:sym typeface="Poppins Bold"/>
              </a:rPr>
              <a:t>Data Definition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sp>
        <p:nvSpPr>
          <p:cNvPr name="Freeform 5" id="5"/>
          <p:cNvSpPr/>
          <p:nvPr/>
        </p:nvSpPr>
        <p:spPr>
          <a:xfrm flipH="false" flipV="false" rot="0">
            <a:off x="1159511" y="1162050"/>
            <a:ext cx="1106118" cy="276529"/>
          </a:xfrm>
          <a:custGeom>
            <a:avLst/>
            <a:gdLst/>
            <a:ahLst/>
            <a:cxnLst/>
            <a:rect r="r" b="b" t="t" l="l"/>
            <a:pathLst>
              <a:path h="276529" w="1106118">
                <a:moveTo>
                  <a:pt x="0" y="0"/>
                </a:moveTo>
                <a:lnTo>
                  <a:pt x="1106118" y="0"/>
                </a:lnTo>
                <a:lnTo>
                  <a:pt x="1106118" y="276529"/>
                </a:lnTo>
                <a:lnTo>
                  <a:pt x="0" y="27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6" id="6"/>
          <p:cNvGraphicFramePr>
            <a:graphicFrameLocks noGrp="true"/>
          </p:cNvGraphicFramePr>
          <p:nvPr/>
        </p:nvGraphicFramePr>
        <p:xfrm>
          <a:off x="1038225" y="2826124"/>
          <a:ext cx="16211550" cy="4819650"/>
        </p:xfrm>
        <a:graphic>
          <a:graphicData uri="http://schemas.openxmlformats.org/drawingml/2006/table">
            <a:tbl>
              <a:tblPr/>
              <a:tblGrid>
                <a:gridCol w="4158172"/>
                <a:gridCol w="12053378"/>
              </a:tblGrid>
              <a:tr h="994531">
                <a:tc>
                  <a:txBody>
                    <a:bodyPr anchor="t" rtlCol="false"/>
                    <a:lstStyle/>
                    <a:p>
                      <a:pPr algn="ctr">
                        <a:lnSpc>
                          <a:spcPts val="3359"/>
                        </a:lnSpc>
                        <a:defRPr/>
                      </a:pPr>
                      <a:r>
                        <a:rPr lang="en-US" sz="2399" b="true">
                          <a:solidFill>
                            <a:srgbClr val="FFFFFF"/>
                          </a:solidFill>
                          <a:latin typeface="Poppins Bold"/>
                          <a:ea typeface="Poppins Bold"/>
                          <a:cs typeface="Poppins Bold"/>
                          <a:sym typeface="Poppins Bold"/>
                        </a:rPr>
                        <a:t>Column Name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3359"/>
                        </a:lnSpc>
                        <a:defRPr/>
                      </a:pPr>
                      <a:r>
                        <a:rPr lang="en-US" sz="2399" b="true">
                          <a:solidFill>
                            <a:srgbClr val="FFFFFF"/>
                          </a:solidFill>
                          <a:latin typeface="Poppins Bold"/>
                          <a:ea typeface="Poppins Bold"/>
                          <a:cs typeface="Poppins Bold"/>
                          <a:sym typeface="Poppins Bold"/>
                        </a:rPr>
                        <a:t>Definition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r>
              <a:tr h="956280">
                <a:tc>
                  <a:txBody>
                    <a:bodyPr anchor="t" rtlCol="false"/>
                    <a:lstStyle/>
                    <a:p>
                      <a:pPr algn="ctr">
                        <a:lnSpc>
                          <a:spcPts val="3079"/>
                        </a:lnSpc>
                        <a:defRPr/>
                      </a:pPr>
                      <a:r>
                        <a:rPr lang="en-US" sz="2199">
                          <a:solidFill>
                            <a:srgbClr val="000000"/>
                          </a:solidFill>
                          <a:latin typeface="Poppins"/>
                          <a:ea typeface="Poppins"/>
                          <a:cs typeface="Poppins"/>
                          <a:sym typeface="Poppins"/>
                        </a:rPr>
                        <a:t>Engagement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Poppins"/>
                          <a:ea typeface="Poppins"/>
                          <a:cs typeface="Poppins"/>
                          <a:sym typeface="Poppins"/>
                        </a:rPr>
                        <a:t>Number of interactions (likes + comments + shares)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56280">
                <a:tc>
                  <a:txBody>
                    <a:bodyPr anchor="t" rtlCol="false"/>
                    <a:lstStyle/>
                    <a:p>
                      <a:pPr algn="ctr">
                        <a:lnSpc>
                          <a:spcPts val="3079"/>
                        </a:lnSpc>
                        <a:defRPr/>
                      </a:pPr>
                      <a:r>
                        <a:rPr lang="en-US" sz="2199">
                          <a:solidFill>
                            <a:srgbClr val="000000"/>
                          </a:solidFill>
                          <a:latin typeface="Poppins"/>
                          <a:ea typeface="Poppins"/>
                          <a:cs typeface="Poppins"/>
                          <a:sym typeface="Poppins"/>
                        </a:rPr>
                        <a:t>Purchase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Poppins"/>
                          <a:ea typeface="Poppins"/>
                          <a:cs typeface="Poppins"/>
                          <a:sym typeface="Poppins"/>
                        </a:rPr>
                        <a:t>Purchase status (Yes/No)</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56280">
                <a:tc>
                  <a:txBody>
                    <a:bodyPr anchor="t" rtlCol="false"/>
                    <a:lstStyle/>
                    <a:p>
                      <a:pPr algn="ctr">
                        <a:lnSpc>
                          <a:spcPts val="3079"/>
                        </a:lnSpc>
                        <a:defRPr/>
                      </a:pPr>
                      <a:r>
                        <a:rPr lang="en-US" sz="2199">
                          <a:solidFill>
                            <a:srgbClr val="000000"/>
                          </a:solidFill>
                          <a:latin typeface="Poppins"/>
                          <a:ea typeface="Poppins"/>
                          <a:cs typeface="Poppins"/>
                          <a:sym typeface="Poppins"/>
                        </a:rPr>
                        <a:t>Transaction_Amount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Poppins"/>
                          <a:ea typeface="Poppins"/>
                          <a:cs typeface="Poppins"/>
                          <a:sym typeface="Poppins"/>
                        </a:rPr>
                        <a:t>Transaction value (in currency)</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56280">
                <a:tc>
                  <a:txBody>
                    <a:bodyPr anchor="t" rtlCol="false"/>
                    <a:lstStyle/>
                    <a:p>
                      <a:pPr algn="ctr">
                        <a:lnSpc>
                          <a:spcPts val="3079"/>
                        </a:lnSpc>
                        <a:defRPr/>
                      </a:pPr>
                      <a:r>
                        <a:rPr lang="en-US" sz="2199">
                          <a:solidFill>
                            <a:srgbClr val="000000"/>
                          </a:solidFill>
                          <a:latin typeface="Poppins"/>
                          <a:ea typeface="Poppins"/>
                          <a:cs typeface="Poppins"/>
                          <a:sym typeface="Poppins"/>
                        </a:rPr>
                        <a:t>Repeat_Customer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Poppins"/>
                          <a:ea typeface="Poppins"/>
                          <a:cs typeface="Poppins"/>
                          <a:sym typeface="Poppins"/>
                        </a:rPr>
                        <a:t>Returning customer status (Yes/No)</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028700" y="1820699"/>
            <a:ext cx="16221075" cy="594920"/>
          </a:xfrm>
          <a:prstGeom prst="rect">
            <a:avLst/>
          </a:prstGeom>
        </p:spPr>
        <p:txBody>
          <a:bodyPr anchor="t" rtlCol="false" tIns="0" lIns="0" bIns="0" rIns="0">
            <a:spAutoFit/>
          </a:bodyPr>
          <a:lstStyle/>
          <a:p>
            <a:pPr algn="ctr">
              <a:lnSpc>
                <a:spcPts val="4299"/>
              </a:lnSpc>
            </a:pPr>
            <a:r>
              <a:rPr lang="en-US" sz="4299" b="true">
                <a:solidFill>
                  <a:srgbClr val="101419"/>
                </a:solidFill>
                <a:latin typeface="Poppins Bold"/>
                <a:ea typeface="Poppins Bold"/>
                <a:cs typeface="Poppins Bold"/>
                <a:sym typeface="Poppins Bold"/>
              </a:rPr>
              <a:t>Data Definition</a:t>
            </a:r>
          </a:p>
        </p:txBody>
      </p:sp>
      <p:sp>
        <p:nvSpPr>
          <p:cNvPr name="TextBox 8" id="8"/>
          <p:cNvSpPr txBox="true"/>
          <p:nvPr/>
        </p:nvSpPr>
        <p:spPr>
          <a:xfrm rot="0">
            <a:off x="1038225" y="7969624"/>
            <a:ext cx="16221075" cy="1169670"/>
          </a:xfrm>
          <a:prstGeom prst="rect">
            <a:avLst/>
          </a:prstGeom>
        </p:spPr>
        <p:txBody>
          <a:bodyPr anchor="t" rtlCol="false" tIns="0" lIns="0" bIns="0" rIns="0">
            <a:spAutoFit/>
          </a:bodyPr>
          <a:lstStyle/>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Awareness</a:t>
            </a:r>
            <a:r>
              <a:rPr lang="en-US" sz="2100">
                <a:solidFill>
                  <a:srgbClr val="101419"/>
                </a:solidFill>
                <a:latin typeface="Poppins"/>
                <a:ea typeface="Poppins"/>
                <a:cs typeface="Poppins"/>
                <a:sym typeface="Poppins"/>
              </a:rPr>
              <a:t>: Impressions, Reach Rate</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Interest</a:t>
            </a:r>
            <a:r>
              <a:rPr lang="en-US" sz="2100">
                <a:solidFill>
                  <a:srgbClr val="101419"/>
                </a:solidFill>
                <a:latin typeface="Poppins"/>
                <a:ea typeface="Poppins"/>
                <a:cs typeface="Poppins"/>
                <a:sym typeface="Poppins"/>
              </a:rPr>
              <a:t>: Session_Duration, Engagement, CTR</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Desire</a:t>
            </a:r>
            <a:r>
              <a:rPr lang="en-US" sz="2100">
                <a:solidFill>
                  <a:srgbClr val="101419"/>
                </a:solidFill>
                <a:latin typeface="Poppins"/>
                <a:ea typeface="Poppins"/>
                <a:cs typeface="Poppins"/>
                <a:sym typeface="Poppins"/>
              </a:rPr>
              <a:t>: Product_Page_Views</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Action</a:t>
            </a:r>
            <a:r>
              <a:rPr lang="en-US" sz="2100">
                <a:solidFill>
                  <a:srgbClr val="101419"/>
                </a:solidFill>
                <a:latin typeface="Poppins"/>
                <a:ea typeface="Poppins"/>
                <a:cs typeface="Poppins"/>
                <a:sym typeface="Poppins"/>
              </a:rPr>
              <a:t>: Conversion_Rate, Transaction_Amount (AOV)</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sp>
        <p:nvSpPr>
          <p:cNvPr name="Freeform 5" id="5"/>
          <p:cNvSpPr/>
          <p:nvPr/>
        </p:nvSpPr>
        <p:spPr>
          <a:xfrm flipH="false" flipV="false" rot="0">
            <a:off x="1159511" y="1162050"/>
            <a:ext cx="1106118" cy="276529"/>
          </a:xfrm>
          <a:custGeom>
            <a:avLst/>
            <a:gdLst/>
            <a:ahLst/>
            <a:cxnLst/>
            <a:rect r="r" b="b" t="t" l="l"/>
            <a:pathLst>
              <a:path h="276529" w="1106118">
                <a:moveTo>
                  <a:pt x="0" y="0"/>
                </a:moveTo>
                <a:lnTo>
                  <a:pt x="1106118" y="0"/>
                </a:lnTo>
                <a:lnTo>
                  <a:pt x="1106118" y="276529"/>
                </a:lnTo>
                <a:lnTo>
                  <a:pt x="0" y="27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1583294"/>
            <a:ext cx="16230600" cy="7343052"/>
            <a:chOff x="0" y="0"/>
            <a:chExt cx="21640800" cy="9790736"/>
          </a:xfrm>
        </p:grpSpPr>
        <p:sp>
          <p:nvSpPr>
            <p:cNvPr name="TextBox 7" id="7"/>
            <p:cNvSpPr txBox="true"/>
            <p:nvPr/>
          </p:nvSpPr>
          <p:spPr>
            <a:xfrm rot="0">
              <a:off x="6109726" y="47625"/>
              <a:ext cx="9421348" cy="959859"/>
            </a:xfrm>
            <a:prstGeom prst="rect">
              <a:avLst/>
            </a:prstGeom>
          </p:spPr>
          <p:txBody>
            <a:bodyPr anchor="t" rtlCol="false" tIns="0" lIns="0" bIns="0" rIns="0">
              <a:spAutoFit/>
            </a:bodyPr>
            <a:lstStyle/>
            <a:p>
              <a:pPr algn="ctr">
                <a:lnSpc>
                  <a:spcPts val="5000"/>
                </a:lnSpc>
              </a:pPr>
              <a:r>
                <a:rPr lang="en-US" sz="5000" b="true">
                  <a:solidFill>
                    <a:srgbClr val="101419"/>
                  </a:solidFill>
                  <a:latin typeface="Poppins Bold"/>
                  <a:ea typeface="Poppins Bold"/>
                  <a:cs typeface="Poppins Bold"/>
                  <a:sym typeface="Poppins Bold"/>
                </a:rPr>
                <a:t>Data Sanity Check</a:t>
              </a:r>
            </a:p>
          </p:txBody>
        </p:sp>
        <p:sp>
          <p:nvSpPr>
            <p:cNvPr name="Freeform 8" id="8"/>
            <p:cNvSpPr/>
            <p:nvPr/>
          </p:nvSpPr>
          <p:spPr>
            <a:xfrm flipH="false" flipV="false" rot="0">
              <a:off x="0" y="3017884"/>
              <a:ext cx="5157676" cy="1567311"/>
            </a:xfrm>
            <a:custGeom>
              <a:avLst/>
              <a:gdLst/>
              <a:ahLst/>
              <a:cxnLst/>
              <a:rect r="r" b="b" t="t" l="l"/>
              <a:pathLst>
                <a:path h="1567311" w="5157676">
                  <a:moveTo>
                    <a:pt x="0" y="0"/>
                  </a:moveTo>
                  <a:lnTo>
                    <a:pt x="5157676" y="0"/>
                  </a:lnTo>
                  <a:lnTo>
                    <a:pt x="5157676" y="1567311"/>
                  </a:lnTo>
                  <a:lnTo>
                    <a:pt x="0" y="1567311"/>
                  </a:lnTo>
                  <a:lnTo>
                    <a:pt x="0" y="0"/>
                  </a:lnTo>
                  <a:close/>
                </a:path>
              </a:pathLst>
            </a:custGeom>
            <a:blipFill>
              <a:blip r:embed="rId4"/>
              <a:stretch>
                <a:fillRect l="0" t="0" r="0" b="0"/>
              </a:stretch>
            </a:blipFill>
            <a:ln w="19050" cap="sq">
              <a:solidFill>
                <a:srgbClr val="073E88"/>
              </a:solidFill>
              <a:prstDash val="solid"/>
              <a:miter/>
            </a:ln>
          </p:spPr>
        </p:sp>
        <p:sp>
          <p:nvSpPr>
            <p:cNvPr name="Freeform 9" id="9"/>
            <p:cNvSpPr/>
            <p:nvPr/>
          </p:nvSpPr>
          <p:spPr>
            <a:xfrm flipH="false" flipV="false" rot="0">
              <a:off x="0" y="5418934"/>
              <a:ext cx="5157676" cy="3900863"/>
            </a:xfrm>
            <a:custGeom>
              <a:avLst/>
              <a:gdLst/>
              <a:ahLst/>
              <a:cxnLst/>
              <a:rect r="r" b="b" t="t" l="l"/>
              <a:pathLst>
                <a:path h="3900863" w="5157676">
                  <a:moveTo>
                    <a:pt x="0" y="0"/>
                  </a:moveTo>
                  <a:lnTo>
                    <a:pt x="5157676" y="0"/>
                  </a:lnTo>
                  <a:lnTo>
                    <a:pt x="5157676" y="3900863"/>
                  </a:lnTo>
                  <a:lnTo>
                    <a:pt x="0" y="3900863"/>
                  </a:lnTo>
                  <a:lnTo>
                    <a:pt x="0" y="0"/>
                  </a:lnTo>
                  <a:close/>
                </a:path>
              </a:pathLst>
            </a:custGeom>
            <a:blipFill>
              <a:blip r:embed="rId5"/>
              <a:stretch>
                <a:fillRect l="0" t="0" r="0" b="0"/>
              </a:stretch>
            </a:blipFill>
            <a:ln w="19050" cap="sq">
              <a:solidFill>
                <a:srgbClr val="073E88"/>
              </a:solidFill>
              <a:prstDash val="solid"/>
              <a:miter/>
            </a:ln>
          </p:spPr>
        </p:sp>
        <p:sp>
          <p:nvSpPr>
            <p:cNvPr name="Freeform 10" id="10"/>
            <p:cNvSpPr/>
            <p:nvPr/>
          </p:nvSpPr>
          <p:spPr>
            <a:xfrm flipH="false" flipV="false" rot="0">
              <a:off x="6054092" y="3017884"/>
              <a:ext cx="7889719" cy="6301913"/>
            </a:xfrm>
            <a:custGeom>
              <a:avLst/>
              <a:gdLst/>
              <a:ahLst/>
              <a:cxnLst/>
              <a:rect r="r" b="b" t="t" l="l"/>
              <a:pathLst>
                <a:path h="6301913" w="7889719">
                  <a:moveTo>
                    <a:pt x="0" y="0"/>
                  </a:moveTo>
                  <a:lnTo>
                    <a:pt x="7889719" y="0"/>
                  </a:lnTo>
                  <a:lnTo>
                    <a:pt x="7889719" y="6301913"/>
                  </a:lnTo>
                  <a:lnTo>
                    <a:pt x="0" y="6301913"/>
                  </a:lnTo>
                  <a:lnTo>
                    <a:pt x="0" y="0"/>
                  </a:lnTo>
                  <a:close/>
                </a:path>
              </a:pathLst>
            </a:custGeom>
            <a:blipFill>
              <a:blip r:embed="rId6"/>
              <a:stretch>
                <a:fillRect l="0" t="0" r="0" b="0"/>
              </a:stretch>
            </a:blipFill>
            <a:ln w="19050" cap="sq">
              <a:solidFill>
                <a:srgbClr val="073E88"/>
              </a:solidFill>
              <a:prstDash val="solid"/>
              <a:miter/>
            </a:ln>
          </p:spPr>
        </p:sp>
        <p:sp>
          <p:nvSpPr>
            <p:cNvPr name="TextBox 11" id="11"/>
            <p:cNvSpPr txBox="true"/>
            <p:nvPr/>
          </p:nvSpPr>
          <p:spPr>
            <a:xfrm rot="0">
              <a:off x="0" y="1700622"/>
              <a:ext cx="5157676" cy="817552"/>
            </a:xfrm>
            <a:prstGeom prst="rect">
              <a:avLst/>
            </a:prstGeom>
          </p:spPr>
          <p:txBody>
            <a:bodyPr anchor="t" rtlCol="false" tIns="0" lIns="0" bIns="0" rIns="0">
              <a:spAutoFit/>
            </a:bodyPr>
            <a:lstStyle/>
            <a:p>
              <a:pPr algn="l">
                <a:lnSpc>
                  <a:spcPts val="2325"/>
                </a:lnSpc>
              </a:pPr>
              <a:r>
                <a:rPr lang="en-US" sz="2040" spc="-61" b="true">
                  <a:solidFill>
                    <a:srgbClr val="073E88"/>
                  </a:solidFill>
                  <a:latin typeface="Poppins Bold"/>
                  <a:ea typeface="Poppins Bold"/>
                  <a:cs typeface="Poppins Bold"/>
                  <a:sym typeface="Poppins Bold"/>
                </a:rPr>
                <a:t>Q1: Are t</a:t>
              </a:r>
              <a:r>
                <a:rPr lang="en-US" b="true" sz="2040" spc="-61">
                  <a:solidFill>
                    <a:srgbClr val="073E88"/>
                  </a:solidFill>
                  <a:latin typeface="Poppins Bold"/>
                  <a:ea typeface="Poppins Bold"/>
                  <a:cs typeface="Poppins Bold"/>
                  <a:sym typeface="Poppins Bold"/>
                </a:rPr>
                <a:t>here any duplicates or missing values?</a:t>
              </a:r>
            </a:p>
          </p:txBody>
        </p:sp>
        <p:sp>
          <p:nvSpPr>
            <p:cNvPr name="TextBox 12" id="12"/>
            <p:cNvSpPr txBox="true"/>
            <p:nvPr/>
          </p:nvSpPr>
          <p:spPr>
            <a:xfrm rot="0">
              <a:off x="1208444" y="4754833"/>
              <a:ext cx="2740788" cy="300435"/>
            </a:xfrm>
            <a:prstGeom prst="rect">
              <a:avLst/>
            </a:prstGeom>
          </p:spPr>
          <p:txBody>
            <a:bodyPr anchor="t" rtlCol="false" tIns="0" lIns="0" bIns="0" rIns="0">
              <a:spAutoFit/>
            </a:bodyPr>
            <a:lstStyle/>
            <a:p>
              <a:pPr algn="ctr">
                <a:lnSpc>
                  <a:spcPts val="1744"/>
                </a:lnSpc>
              </a:pPr>
              <a:r>
                <a:rPr lang="en-US" b="true" sz="1530" spc="-45">
                  <a:solidFill>
                    <a:srgbClr val="073E88"/>
                  </a:solidFill>
                  <a:latin typeface="Poppins Bold"/>
                  <a:ea typeface="Poppins Bold"/>
                  <a:cs typeface="Poppins Bold"/>
                  <a:sym typeface="Poppins Bold"/>
                </a:rPr>
                <a:t>NO DUPLICATE</a:t>
              </a:r>
            </a:p>
          </p:txBody>
        </p:sp>
        <p:sp>
          <p:nvSpPr>
            <p:cNvPr name="TextBox 13" id="13"/>
            <p:cNvSpPr txBox="true"/>
            <p:nvPr/>
          </p:nvSpPr>
          <p:spPr>
            <a:xfrm rot="0">
              <a:off x="1208444" y="9490301"/>
              <a:ext cx="2740788" cy="300435"/>
            </a:xfrm>
            <a:prstGeom prst="rect">
              <a:avLst/>
            </a:prstGeom>
          </p:spPr>
          <p:txBody>
            <a:bodyPr anchor="t" rtlCol="false" tIns="0" lIns="0" bIns="0" rIns="0">
              <a:spAutoFit/>
            </a:bodyPr>
            <a:lstStyle/>
            <a:p>
              <a:pPr algn="ctr">
                <a:lnSpc>
                  <a:spcPts val="1744"/>
                </a:lnSpc>
              </a:pPr>
              <a:r>
                <a:rPr lang="en-US" b="true" sz="1530" spc="-45">
                  <a:solidFill>
                    <a:srgbClr val="073E88"/>
                  </a:solidFill>
                  <a:latin typeface="Poppins Bold"/>
                  <a:ea typeface="Poppins Bold"/>
                  <a:cs typeface="Poppins Bold"/>
                  <a:sym typeface="Poppins Bold"/>
                </a:rPr>
                <a:t>NO MISSING VALUES</a:t>
              </a:r>
            </a:p>
          </p:txBody>
        </p:sp>
        <p:sp>
          <p:nvSpPr>
            <p:cNvPr name="TextBox 14" id="14"/>
            <p:cNvSpPr txBox="true"/>
            <p:nvPr/>
          </p:nvSpPr>
          <p:spPr>
            <a:xfrm rot="0">
              <a:off x="6054092" y="1700622"/>
              <a:ext cx="8570354" cy="423902"/>
            </a:xfrm>
            <a:prstGeom prst="rect">
              <a:avLst/>
            </a:prstGeom>
          </p:spPr>
          <p:txBody>
            <a:bodyPr anchor="t" rtlCol="false" tIns="0" lIns="0" bIns="0" rIns="0">
              <a:spAutoFit/>
            </a:bodyPr>
            <a:lstStyle/>
            <a:p>
              <a:pPr algn="l">
                <a:lnSpc>
                  <a:spcPts val="2325"/>
                </a:lnSpc>
              </a:pPr>
              <a:r>
                <a:rPr lang="en-US" sz="2040" spc="-61" b="true">
                  <a:solidFill>
                    <a:srgbClr val="073E88"/>
                  </a:solidFill>
                  <a:latin typeface="Poppins Bold"/>
                  <a:ea typeface="Poppins Bold"/>
                  <a:cs typeface="Poppins Bold"/>
                  <a:sym typeface="Poppins Bold"/>
                </a:rPr>
                <a:t>Q2: Are there any unreasonable data distributions?</a:t>
              </a:r>
            </a:p>
          </p:txBody>
        </p:sp>
        <p:sp>
          <p:nvSpPr>
            <p:cNvPr name="TextBox 15" id="15"/>
            <p:cNvSpPr txBox="true"/>
            <p:nvPr/>
          </p:nvSpPr>
          <p:spPr>
            <a:xfrm rot="0">
              <a:off x="14837648" y="3017884"/>
              <a:ext cx="6803152" cy="5890716"/>
            </a:xfrm>
            <a:prstGeom prst="rect">
              <a:avLst/>
            </a:prstGeom>
          </p:spPr>
          <p:txBody>
            <a:bodyPr anchor="t" rtlCol="false" tIns="0" lIns="0" bIns="0" rIns="0">
              <a:spAutoFit/>
            </a:bodyPr>
            <a:lstStyle/>
            <a:p>
              <a:pPr algn="just" marL="323850" indent="-161925" lvl="1">
                <a:lnSpc>
                  <a:spcPts val="1650"/>
                </a:lnSpc>
                <a:buFont typeface="Arial"/>
                <a:buChar char="•"/>
              </a:pPr>
              <a:r>
                <a:rPr lang="en-US" b="true" sz="1500">
                  <a:solidFill>
                    <a:srgbClr val="073E88"/>
                  </a:solidFill>
                  <a:latin typeface="Poppins Bold"/>
                  <a:ea typeface="Poppins Bold"/>
                  <a:cs typeface="Poppins Bold"/>
                  <a:sym typeface="Poppins Bold"/>
                </a:rPr>
                <a:t>The distribution of key behavioral metrics</a:t>
              </a:r>
              <a:r>
                <a:rPr lang="en-US" sz="1500">
                  <a:solidFill>
                    <a:srgbClr val="101419"/>
                  </a:solidFill>
                  <a:latin typeface="Poppins"/>
                  <a:ea typeface="Poppins"/>
                  <a:cs typeface="Poppins"/>
                  <a:sym typeface="Poppins"/>
                </a:rPr>
                <a:t> (Visit, Session Duration, Product Page Views, Impressions, Clicks, and Engagement) </a:t>
              </a:r>
              <a:r>
                <a:rPr lang="en-US" b="true" sz="1500">
                  <a:solidFill>
                    <a:srgbClr val="073E88"/>
                  </a:solidFill>
                  <a:latin typeface="Poppins Bold"/>
                  <a:ea typeface="Poppins Bold"/>
                  <a:cs typeface="Poppins Bold"/>
                  <a:sym typeface="Poppins Bold"/>
                </a:rPr>
                <a:t>appears stable and well-balanced across realistic value ranges</a:t>
              </a:r>
              <a:r>
                <a:rPr lang="en-US" sz="1500">
                  <a:solidFill>
                    <a:srgbClr val="101419"/>
                  </a:solidFill>
                  <a:latin typeface="Poppins"/>
                  <a:ea typeface="Poppins"/>
                  <a:cs typeface="Poppins"/>
                  <a:sym typeface="Poppins"/>
                </a:rPr>
                <a:t>, indicating consistent data capture with no visible anomalies such as extreme spikes, gaps, or distorted patterns.</a:t>
              </a:r>
            </a:p>
            <a:p>
              <a:pPr algn="just">
                <a:lnSpc>
                  <a:spcPts val="1650"/>
                </a:lnSpc>
              </a:pPr>
            </a:p>
            <a:p>
              <a:pPr algn="just" marL="323850" indent="-161925" lvl="1">
                <a:lnSpc>
                  <a:spcPts val="1650"/>
                </a:lnSpc>
                <a:buFont typeface="Arial"/>
                <a:buChar char="•"/>
              </a:pPr>
              <a:r>
                <a:rPr lang="en-US" b="true" sz="1500">
                  <a:solidFill>
                    <a:srgbClr val="073E88"/>
                  </a:solidFill>
                  <a:latin typeface="Poppins Bold"/>
                  <a:ea typeface="Poppins Bold"/>
                  <a:cs typeface="Poppins Bold"/>
                  <a:sym typeface="Poppins Bold"/>
                </a:rPr>
                <a:t>Purchase and Repeat_Customer appropriately show a strong dominance of non-conversion values (0)</a:t>
              </a:r>
              <a:r>
                <a:rPr lang="en-US" sz="1500">
                  <a:solidFill>
                    <a:srgbClr val="101419"/>
                  </a:solidFill>
                  <a:latin typeface="Poppins"/>
                  <a:ea typeface="Poppins"/>
                  <a:cs typeface="Poppins"/>
                  <a:sym typeface="Poppins"/>
                </a:rPr>
                <a:t>, which aligns with typical e-commerce behavior where only a </a:t>
              </a:r>
              <a:r>
                <a:rPr lang="en-US" b="true" sz="1500">
                  <a:solidFill>
                    <a:srgbClr val="073E88"/>
                  </a:solidFill>
                  <a:latin typeface="Poppins Bold"/>
                  <a:ea typeface="Poppins Bold"/>
                  <a:cs typeface="Poppins Bold"/>
                  <a:sym typeface="Poppins Bold"/>
                </a:rPr>
                <a:t>smaller portion of users actually convert or return</a:t>
              </a:r>
              <a:r>
                <a:rPr lang="en-US" sz="1500">
                  <a:solidFill>
                    <a:srgbClr val="101419"/>
                  </a:solidFill>
                  <a:latin typeface="Poppins"/>
                  <a:ea typeface="Poppins"/>
                  <a:cs typeface="Poppins"/>
                  <a:sym typeface="Poppins"/>
                </a:rPr>
                <a:t>. </a:t>
              </a:r>
            </a:p>
            <a:p>
              <a:pPr algn="just">
                <a:lnSpc>
                  <a:spcPts val="1650"/>
                </a:lnSpc>
              </a:pPr>
            </a:p>
            <a:p>
              <a:pPr algn="just" marL="323850" indent="-161925" lvl="1">
                <a:lnSpc>
                  <a:spcPts val="1650"/>
                </a:lnSpc>
                <a:buFont typeface="Arial"/>
                <a:buChar char="•"/>
              </a:pPr>
              <a:r>
                <a:rPr lang="en-US" sz="1500">
                  <a:solidFill>
                    <a:srgbClr val="101419"/>
                  </a:solidFill>
                  <a:latin typeface="Poppins"/>
                  <a:ea typeface="Poppins"/>
                  <a:cs typeface="Poppins"/>
                  <a:sym typeface="Poppins"/>
                </a:rPr>
                <a:t>Meanwhile, </a:t>
              </a:r>
              <a:r>
                <a:rPr lang="en-US" b="true" sz="1500">
                  <a:solidFill>
                    <a:srgbClr val="073E88"/>
                  </a:solidFill>
                  <a:latin typeface="Poppins Bold"/>
                  <a:ea typeface="Poppins Bold"/>
                  <a:cs typeface="Poppins Bold"/>
                  <a:sym typeface="Poppins Bold"/>
                </a:rPr>
                <a:t>Transaction_Amount exhibits a right-skewed pattern</a:t>
              </a:r>
              <a:r>
                <a:rPr lang="en-US" sz="1500">
                  <a:solidFill>
                    <a:srgbClr val="101419"/>
                  </a:solidFill>
                  <a:latin typeface="Poppins"/>
                  <a:ea typeface="Poppins"/>
                  <a:cs typeface="Poppins"/>
                  <a:sym typeface="Poppins"/>
                </a:rPr>
                <a:t>, reflecting the natural </a:t>
              </a:r>
              <a:r>
                <a:rPr lang="en-US" b="true" sz="1500">
                  <a:solidFill>
                    <a:srgbClr val="073E88"/>
                  </a:solidFill>
                  <a:latin typeface="Poppins Bold"/>
                  <a:ea typeface="Poppins Bold"/>
                  <a:cs typeface="Poppins Bold"/>
                  <a:sym typeface="Poppins Bold"/>
                </a:rPr>
                <a:t>tendency for most transactions to occur at lower values</a:t>
              </a:r>
              <a:r>
                <a:rPr lang="en-US" sz="1500">
                  <a:solidFill>
                    <a:srgbClr val="101419"/>
                  </a:solidFill>
                  <a:latin typeface="Poppins"/>
                  <a:ea typeface="Poppins"/>
                  <a:cs typeface="Poppins"/>
                  <a:sym typeface="Poppins"/>
                </a:rPr>
                <a:t>, with fewer high-value purchases.</a:t>
              </a:r>
            </a:p>
            <a:p>
              <a:pPr algn="just">
                <a:lnSpc>
                  <a:spcPts val="1650"/>
                </a:lnSpc>
              </a:pPr>
            </a:p>
            <a:p>
              <a:pPr algn="just" marL="323850" indent="-161925" lvl="1">
                <a:lnSpc>
                  <a:spcPts val="1650"/>
                </a:lnSpc>
                <a:buFont typeface="Arial"/>
                <a:buChar char="•"/>
              </a:pPr>
              <a:r>
                <a:rPr lang="en-US" sz="1500">
                  <a:solidFill>
                    <a:srgbClr val="101419"/>
                  </a:solidFill>
                  <a:latin typeface="Poppins"/>
                  <a:ea typeface="Poppins"/>
                  <a:cs typeface="Poppins"/>
                  <a:sym typeface="Poppins"/>
                </a:rPr>
                <a:t>Overall, the dataset is ready for the next analytical stage.</a:t>
              </a:r>
            </a:p>
          </p:txBody>
        </p:sp>
        <p:sp>
          <p:nvSpPr>
            <p:cNvPr name="TextBox 16" id="16"/>
            <p:cNvSpPr txBox="true"/>
            <p:nvPr/>
          </p:nvSpPr>
          <p:spPr>
            <a:xfrm rot="0">
              <a:off x="14837648" y="1700622"/>
              <a:ext cx="6803152" cy="423902"/>
            </a:xfrm>
            <a:prstGeom prst="rect">
              <a:avLst/>
            </a:prstGeom>
          </p:spPr>
          <p:txBody>
            <a:bodyPr anchor="t" rtlCol="false" tIns="0" lIns="0" bIns="0" rIns="0">
              <a:spAutoFit/>
            </a:bodyPr>
            <a:lstStyle/>
            <a:p>
              <a:pPr algn="ctr">
                <a:lnSpc>
                  <a:spcPts val="2325"/>
                </a:lnSpc>
              </a:pPr>
              <a:r>
                <a:rPr lang="en-US" b="true" sz="2040" spc="-61">
                  <a:solidFill>
                    <a:srgbClr val="073E88"/>
                  </a:solidFill>
                  <a:latin typeface="Poppins Bold"/>
                  <a:ea typeface="Poppins Bold"/>
                  <a:cs typeface="Poppins Bold"/>
                  <a:sym typeface="Poppins Bold"/>
                </a:rPr>
                <a:t>Tools: </a:t>
              </a:r>
              <a:r>
                <a:rPr lang="en-US" b="true" sz="2040" spc="-61" u="sng">
                  <a:solidFill>
                    <a:srgbClr val="073E88"/>
                  </a:solidFill>
                  <a:latin typeface="Poppins Bold"/>
                  <a:ea typeface="Poppins Bold"/>
                  <a:cs typeface="Poppins Bold"/>
                  <a:sym typeface="Poppins Bold"/>
                  <a:hlinkClick r:id="rId7" tooltip="https://colab.research.google.com/drive/1V7wxt2dL9NRRSyMoBp5LYtHpmf9Fyrxq?usp=sharing"/>
                </a:rPr>
                <a:t>Python</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sp>
        <p:nvSpPr>
          <p:cNvPr name="Freeform 5" id="5"/>
          <p:cNvSpPr/>
          <p:nvPr/>
        </p:nvSpPr>
        <p:spPr>
          <a:xfrm flipH="false" flipV="false" rot="0">
            <a:off x="1159511" y="1162050"/>
            <a:ext cx="1106118" cy="276529"/>
          </a:xfrm>
          <a:custGeom>
            <a:avLst/>
            <a:gdLst/>
            <a:ahLst/>
            <a:cxnLst/>
            <a:rect r="r" b="b" t="t" l="l"/>
            <a:pathLst>
              <a:path h="276529" w="1106118">
                <a:moveTo>
                  <a:pt x="0" y="0"/>
                </a:moveTo>
                <a:lnTo>
                  <a:pt x="1106118" y="0"/>
                </a:lnTo>
                <a:lnTo>
                  <a:pt x="1106118" y="276529"/>
                </a:lnTo>
                <a:lnTo>
                  <a:pt x="0" y="27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5610995" y="1630919"/>
            <a:ext cx="7066011" cy="707988"/>
          </a:xfrm>
          <a:prstGeom prst="rect">
            <a:avLst/>
          </a:prstGeom>
        </p:spPr>
        <p:txBody>
          <a:bodyPr anchor="t" rtlCol="false" tIns="0" lIns="0" bIns="0" rIns="0">
            <a:spAutoFit/>
          </a:bodyPr>
          <a:lstStyle/>
          <a:p>
            <a:pPr algn="ctr">
              <a:lnSpc>
                <a:spcPts val="5000"/>
              </a:lnSpc>
            </a:pPr>
            <a:r>
              <a:rPr lang="en-US" sz="5000" b="true">
                <a:solidFill>
                  <a:srgbClr val="101419"/>
                </a:solidFill>
                <a:latin typeface="Poppins Bold"/>
                <a:ea typeface="Poppins Bold"/>
                <a:cs typeface="Poppins Bold"/>
                <a:sym typeface="Poppins Bold"/>
              </a:rPr>
              <a:t>Data Sanity Check</a:t>
            </a:r>
          </a:p>
        </p:txBody>
      </p:sp>
      <p:grpSp>
        <p:nvGrpSpPr>
          <p:cNvPr name="Group 7" id="7"/>
          <p:cNvGrpSpPr/>
          <p:nvPr/>
        </p:nvGrpSpPr>
        <p:grpSpPr>
          <a:xfrm rot="0">
            <a:off x="1028700" y="3218674"/>
            <a:ext cx="16230600" cy="5014463"/>
            <a:chOff x="0" y="0"/>
            <a:chExt cx="21640800" cy="6685951"/>
          </a:xfrm>
        </p:grpSpPr>
        <p:sp>
          <p:nvSpPr>
            <p:cNvPr name="Freeform 8" id="8"/>
            <p:cNvSpPr/>
            <p:nvPr/>
          </p:nvSpPr>
          <p:spPr>
            <a:xfrm flipH="false" flipV="false" rot="0">
              <a:off x="0" y="0"/>
              <a:ext cx="6685951" cy="6685951"/>
            </a:xfrm>
            <a:custGeom>
              <a:avLst/>
              <a:gdLst/>
              <a:ahLst/>
              <a:cxnLst/>
              <a:rect r="r" b="b" t="t" l="l"/>
              <a:pathLst>
                <a:path h="6685951" w="6685951">
                  <a:moveTo>
                    <a:pt x="0" y="0"/>
                  </a:moveTo>
                  <a:lnTo>
                    <a:pt x="6685951" y="0"/>
                  </a:lnTo>
                  <a:lnTo>
                    <a:pt x="6685951" y="6685951"/>
                  </a:lnTo>
                  <a:lnTo>
                    <a:pt x="0" y="6685951"/>
                  </a:lnTo>
                  <a:lnTo>
                    <a:pt x="0" y="0"/>
                  </a:lnTo>
                  <a:close/>
                </a:path>
              </a:pathLst>
            </a:custGeom>
            <a:blipFill>
              <a:blip r:embed="rId4"/>
              <a:stretch>
                <a:fillRect l="0" t="0" r="0" b="0"/>
              </a:stretch>
            </a:blipFill>
            <a:ln w="19050" cap="sq">
              <a:solidFill>
                <a:srgbClr val="073E88"/>
              </a:solidFill>
              <a:prstDash val="solid"/>
              <a:miter/>
            </a:ln>
          </p:spPr>
        </p:sp>
        <p:sp>
          <p:nvSpPr>
            <p:cNvPr name="TextBox 9" id="9"/>
            <p:cNvSpPr txBox="true"/>
            <p:nvPr/>
          </p:nvSpPr>
          <p:spPr>
            <a:xfrm rot="0">
              <a:off x="7611896" y="-9525"/>
              <a:ext cx="5676109" cy="465554"/>
            </a:xfrm>
            <a:prstGeom prst="rect">
              <a:avLst/>
            </a:prstGeom>
          </p:spPr>
          <p:txBody>
            <a:bodyPr anchor="t" rtlCol="false" tIns="0" lIns="0" bIns="0" rIns="0">
              <a:spAutoFit/>
            </a:bodyPr>
            <a:lstStyle/>
            <a:p>
              <a:pPr algn="l">
                <a:lnSpc>
                  <a:spcPts val="2559"/>
                </a:lnSpc>
              </a:pPr>
              <a:r>
                <a:rPr lang="en-US" sz="2245" spc="-67" b="true">
                  <a:solidFill>
                    <a:srgbClr val="073E88"/>
                  </a:solidFill>
                  <a:latin typeface="Poppins Bold"/>
                  <a:ea typeface="Poppins Bold"/>
                  <a:cs typeface="Poppins Bold"/>
                  <a:sym typeface="Poppins Bold"/>
                </a:rPr>
                <a:t>Q3: Are t</a:t>
              </a:r>
              <a:r>
                <a:rPr lang="en-US" b="true" sz="2245" spc="-67">
                  <a:solidFill>
                    <a:srgbClr val="073E88"/>
                  </a:solidFill>
                  <a:latin typeface="Poppins Bold"/>
                  <a:ea typeface="Poppins Bold"/>
                  <a:cs typeface="Poppins Bold"/>
                  <a:sym typeface="Poppins Bold"/>
                </a:rPr>
                <a:t>here any outliers?</a:t>
              </a:r>
            </a:p>
          </p:txBody>
        </p:sp>
        <p:sp>
          <p:nvSpPr>
            <p:cNvPr name="TextBox 10" id="10"/>
            <p:cNvSpPr txBox="true"/>
            <p:nvPr/>
          </p:nvSpPr>
          <p:spPr>
            <a:xfrm rot="0">
              <a:off x="7492987" y="801089"/>
              <a:ext cx="6671132" cy="4494212"/>
            </a:xfrm>
            <a:prstGeom prst="rect">
              <a:avLst/>
            </a:prstGeom>
          </p:spPr>
          <p:txBody>
            <a:bodyPr anchor="t" rtlCol="false" tIns="0" lIns="0" bIns="0" rIns="0">
              <a:spAutoFit/>
            </a:bodyPr>
            <a:lstStyle/>
            <a:p>
              <a:pPr algn="just" marL="323850" indent="-161925" lvl="1">
                <a:lnSpc>
                  <a:spcPts val="1650"/>
                </a:lnSpc>
                <a:buFont typeface="Arial"/>
                <a:buChar char="•"/>
              </a:pPr>
              <a:r>
                <a:rPr lang="en-US" sz="1500">
                  <a:solidFill>
                    <a:srgbClr val="101419"/>
                  </a:solidFill>
                  <a:latin typeface="Poppins"/>
                  <a:ea typeface="Poppins"/>
                  <a:cs typeface="Poppins"/>
                  <a:sym typeface="Poppins"/>
                </a:rPr>
                <a:t>The boxplots for the </a:t>
              </a:r>
              <a:r>
                <a:rPr lang="en-US" b="true" sz="1500">
                  <a:solidFill>
                    <a:srgbClr val="073E88"/>
                  </a:solidFill>
                  <a:latin typeface="Poppins Bold"/>
                  <a:ea typeface="Poppins Bold"/>
                  <a:cs typeface="Poppins Bold"/>
                  <a:sym typeface="Poppins Bold"/>
                </a:rPr>
                <a:t>main behavioral metrics</a:t>
              </a:r>
              <a:r>
                <a:rPr lang="en-US" sz="1500">
                  <a:solidFill>
                    <a:srgbClr val="101419"/>
                  </a:solidFill>
                  <a:latin typeface="Poppins"/>
                  <a:ea typeface="Poppins"/>
                  <a:cs typeface="Poppins"/>
                  <a:sym typeface="Poppins"/>
                </a:rPr>
                <a:t> (Session Duration, Product Page Views, Impressions, Clicks, and Engagement) </a:t>
              </a:r>
              <a:r>
                <a:rPr lang="en-US" sz="1500">
                  <a:solidFill>
                    <a:srgbClr val="073E88"/>
                  </a:solidFill>
                  <a:latin typeface="Poppins"/>
                  <a:ea typeface="Poppins"/>
                  <a:cs typeface="Poppins"/>
                  <a:sym typeface="Poppins"/>
                </a:rPr>
                <a:t>show no visible outliers</a:t>
              </a:r>
              <a:r>
                <a:rPr lang="en-US" sz="1500">
                  <a:solidFill>
                    <a:srgbClr val="101419"/>
                  </a:solidFill>
                  <a:latin typeface="Poppins"/>
                  <a:ea typeface="Poppins"/>
                  <a:cs typeface="Poppins"/>
                  <a:sym typeface="Poppins"/>
                </a:rPr>
                <a:t>.</a:t>
              </a:r>
            </a:p>
            <a:p>
              <a:pPr algn="just">
                <a:lnSpc>
                  <a:spcPts val="1650"/>
                </a:lnSpc>
              </a:pPr>
            </a:p>
            <a:p>
              <a:pPr algn="just" marL="323850" indent="-161925" lvl="1">
                <a:lnSpc>
                  <a:spcPts val="1650"/>
                </a:lnSpc>
                <a:buFont typeface="Arial"/>
                <a:buChar char="•"/>
              </a:pPr>
              <a:r>
                <a:rPr lang="en-US" b="true" sz="1500">
                  <a:solidFill>
                    <a:srgbClr val="073E88"/>
                  </a:solidFill>
                  <a:latin typeface="Poppins Bold"/>
                  <a:ea typeface="Poppins Bold"/>
                  <a:cs typeface="Poppins Bold"/>
                  <a:sym typeface="Poppins Bold"/>
                </a:rPr>
                <a:t>Transaction_Amount is the only variable that displays several high-end outliers</a:t>
              </a:r>
              <a:r>
                <a:rPr lang="en-US" sz="1500">
                  <a:solidFill>
                    <a:srgbClr val="101419"/>
                  </a:solidFill>
                  <a:latin typeface="Poppins"/>
                  <a:ea typeface="Poppins"/>
                  <a:cs typeface="Poppins"/>
                  <a:sym typeface="Poppins"/>
                </a:rPr>
                <a:t>. </a:t>
              </a:r>
              <a:r>
                <a:rPr lang="en-US" b="true" sz="1500">
                  <a:solidFill>
                    <a:srgbClr val="073E88"/>
                  </a:solidFill>
                  <a:latin typeface="Poppins Bold"/>
                  <a:ea typeface="Poppins Bold"/>
                  <a:cs typeface="Poppins Bold"/>
                  <a:sym typeface="Poppins Bold"/>
                </a:rPr>
                <a:t>This pattern is expected in an e-commerce context</a:t>
              </a:r>
              <a:r>
                <a:rPr lang="en-US" sz="1500">
                  <a:solidFill>
                    <a:srgbClr val="101419"/>
                  </a:solidFill>
                  <a:latin typeface="Poppins"/>
                  <a:ea typeface="Poppins"/>
                  <a:cs typeface="Poppins"/>
                  <a:sym typeface="Poppins"/>
                </a:rPr>
                <a:t>, where a small proportion of customers accounts for disproportionately high transaction values.</a:t>
              </a:r>
              <a:r>
                <a:rPr lang="en-US" b="true" sz="1500">
                  <a:solidFill>
                    <a:srgbClr val="073E88"/>
                  </a:solidFill>
                  <a:latin typeface="Poppins Bold"/>
                  <a:ea typeface="Poppins Bold"/>
                  <a:cs typeface="Poppins Bold"/>
                  <a:sym typeface="Poppins Bold"/>
                </a:rPr>
                <a:t> These extreme observations are therefore informative </a:t>
              </a:r>
              <a:r>
                <a:rPr lang="en-US" sz="1500">
                  <a:solidFill>
                    <a:srgbClr val="101419"/>
                  </a:solidFill>
                  <a:latin typeface="Poppins"/>
                  <a:ea typeface="Poppins"/>
                  <a:cs typeface="Poppins"/>
                  <a:sym typeface="Poppins"/>
                </a:rPr>
                <a:t>rather than problematic, as they may be linked to high-impact campaigns, premium customer segments, or bulk purchases. Removing them would risk eliminating meaningful business insights.</a:t>
              </a:r>
            </a:p>
          </p:txBody>
        </p:sp>
        <p:sp>
          <p:nvSpPr>
            <p:cNvPr name="TextBox 11" id="11"/>
            <p:cNvSpPr txBox="true"/>
            <p:nvPr/>
          </p:nvSpPr>
          <p:spPr>
            <a:xfrm rot="0">
              <a:off x="15087575" y="801089"/>
              <a:ext cx="6553225" cy="3377009"/>
            </a:xfrm>
            <a:prstGeom prst="rect">
              <a:avLst/>
            </a:prstGeom>
          </p:spPr>
          <p:txBody>
            <a:bodyPr anchor="t" rtlCol="false" tIns="0" lIns="0" bIns="0" rIns="0">
              <a:spAutoFit/>
            </a:bodyPr>
            <a:lstStyle/>
            <a:p>
              <a:pPr algn="just" marL="323850" indent="-161925" lvl="1">
                <a:lnSpc>
                  <a:spcPts val="1650"/>
                </a:lnSpc>
                <a:buFont typeface="Arial"/>
                <a:buChar char="•"/>
              </a:pPr>
              <a:r>
                <a:rPr lang="en-US" b="true" sz="1500">
                  <a:solidFill>
                    <a:srgbClr val="073E88"/>
                  </a:solidFill>
                  <a:latin typeface="Poppins Bold"/>
                  <a:ea typeface="Poppins Bold"/>
                  <a:cs typeface="Poppins Bold"/>
                  <a:sym typeface="Poppins Bold"/>
                </a:rPr>
                <a:t>The binary variables (Purchase and Repeat_Customer) show a strong class imbalance dominated by the value 0</a:t>
              </a:r>
              <a:r>
                <a:rPr lang="en-US" sz="1500">
                  <a:solidFill>
                    <a:srgbClr val="101419"/>
                  </a:solidFill>
                  <a:latin typeface="Poppins"/>
                  <a:ea typeface="Poppins"/>
                  <a:cs typeface="Poppins"/>
                  <a:sym typeface="Poppins"/>
                </a:rPr>
                <a:t>. This distribution</a:t>
              </a:r>
              <a:r>
                <a:rPr lang="en-US" b="true" sz="1500">
                  <a:solidFill>
                    <a:srgbClr val="101419"/>
                  </a:solidFill>
                  <a:latin typeface="Poppins Bold"/>
                  <a:ea typeface="Poppins Bold"/>
                  <a:cs typeface="Poppins Bold"/>
                  <a:sym typeface="Poppins Bold"/>
                </a:rPr>
                <a:t> </a:t>
              </a:r>
              <a:r>
                <a:rPr lang="en-US" b="true" sz="1500">
                  <a:solidFill>
                    <a:srgbClr val="073E88"/>
                  </a:solidFill>
                  <a:latin typeface="Poppins Bold"/>
                  <a:ea typeface="Poppins Bold"/>
                  <a:cs typeface="Poppins Bold"/>
                  <a:sym typeface="Poppins Bold"/>
                </a:rPr>
                <a:t>accurately reflects a realistic business/marketing funnel, in which most visitors do not convert or become repeat customers</a:t>
              </a:r>
              <a:r>
                <a:rPr lang="en-US" sz="1500">
                  <a:solidFill>
                    <a:srgbClr val="101419"/>
                  </a:solidFill>
                  <a:latin typeface="Poppins"/>
                  <a:ea typeface="Poppins"/>
                  <a:cs typeface="Poppins"/>
                  <a:sym typeface="Poppins"/>
                </a:rPr>
                <a:t>. The isolated values of 1 in the boxplot are not anomalies but represent successful conversion and retention events, making these variables critical indicators of campaign effectiveness and overall customer journey performance.</a:t>
              </a:r>
            </a:p>
          </p:txBody>
        </p:sp>
        <p:sp>
          <p:nvSpPr>
            <p:cNvPr name="TextBox 12" id="12"/>
            <p:cNvSpPr txBox="true"/>
            <p:nvPr/>
          </p:nvSpPr>
          <p:spPr>
            <a:xfrm rot="0">
              <a:off x="15087575" y="-9525"/>
              <a:ext cx="6553225" cy="423902"/>
            </a:xfrm>
            <a:prstGeom prst="rect">
              <a:avLst/>
            </a:prstGeom>
          </p:spPr>
          <p:txBody>
            <a:bodyPr anchor="t" rtlCol="false" tIns="0" lIns="0" bIns="0" rIns="0">
              <a:spAutoFit/>
            </a:bodyPr>
            <a:lstStyle/>
            <a:p>
              <a:pPr algn="ctr">
                <a:lnSpc>
                  <a:spcPts val="2325"/>
                </a:lnSpc>
              </a:pPr>
              <a:r>
                <a:rPr lang="en-US" b="true" sz="2040" spc="-61">
                  <a:solidFill>
                    <a:srgbClr val="073E88"/>
                  </a:solidFill>
                  <a:latin typeface="Poppins Bold"/>
                  <a:ea typeface="Poppins Bold"/>
                  <a:cs typeface="Poppins Bold"/>
                  <a:sym typeface="Poppins Bold"/>
                </a:rPr>
                <a:t>Tools: </a:t>
              </a:r>
              <a:r>
                <a:rPr lang="en-US" b="true" sz="2040" spc="-61" u="sng">
                  <a:solidFill>
                    <a:srgbClr val="073E88"/>
                  </a:solidFill>
                  <a:latin typeface="Poppins Bold"/>
                  <a:ea typeface="Poppins Bold"/>
                  <a:cs typeface="Poppins Bold"/>
                  <a:sym typeface="Poppins Bold"/>
                  <a:hlinkClick r:id="rId5" tooltip="https://colab.research.google.com/drive/1V7wxt2dL9NRRSyMoBp5LYtHpmf9Fyrxq?usp=sharing"/>
                </a:rPr>
                <a:t>Python</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64382"/>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grpSp>
        <p:nvGrpSpPr>
          <p:cNvPr name="Group 5" id="5"/>
          <p:cNvGrpSpPr/>
          <p:nvPr/>
        </p:nvGrpSpPr>
        <p:grpSpPr>
          <a:xfrm rot="0">
            <a:off x="1767415" y="2059307"/>
            <a:ext cx="14753171" cy="6168385"/>
            <a:chOff x="0" y="0"/>
            <a:chExt cx="19670895" cy="8224514"/>
          </a:xfrm>
        </p:grpSpPr>
        <p:sp>
          <p:nvSpPr>
            <p:cNvPr name="TextBox 6" id="6"/>
            <p:cNvSpPr txBox="true"/>
            <p:nvPr/>
          </p:nvSpPr>
          <p:spPr>
            <a:xfrm rot="0">
              <a:off x="5806043" y="28575"/>
              <a:ext cx="8058808" cy="703044"/>
            </a:xfrm>
            <a:prstGeom prst="rect">
              <a:avLst/>
            </a:prstGeom>
          </p:spPr>
          <p:txBody>
            <a:bodyPr anchor="t" rtlCol="false" tIns="0" lIns="0" bIns="0" rIns="0">
              <a:spAutoFit/>
            </a:bodyPr>
            <a:lstStyle/>
            <a:p>
              <a:pPr algn="ctr">
                <a:lnSpc>
                  <a:spcPts val="3600"/>
                </a:lnSpc>
              </a:pPr>
              <a:r>
                <a:rPr lang="en-US" sz="3600" b="true">
                  <a:solidFill>
                    <a:srgbClr val="101419"/>
                  </a:solidFill>
                  <a:latin typeface="Poppins Bold"/>
                  <a:ea typeface="Poppins Bold"/>
                  <a:cs typeface="Poppins Bold"/>
                  <a:sym typeface="Poppins Bold"/>
                </a:rPr>
                <a:t>Dashboard Layout Design</a:t>
              </a:r>
            </a:p>
          </p:txBody>
        </p:sp>
        <p:sp>
          <p:nvSpPr>
            <p:cNvPr name="Freeform 7" id="7"/>
            <p:cNvSpPr/>
            <p:nvPr/>
          </p:nvSpPr>
          <p:spPr>
            <a:xfrm flipH="false" flipV="false" rot="0">
              <a:off x="0" y="2278466"/>
              <a:ext cx="19670895" cy="5946048"/>
            </a:xfrm>
            <a:custGeom>
              <a:avLst/>
              <a:gdLst/>
              <a:ahLst/>
              <a:cxnLst/>
              <a:rect r="r" b="b" t="t" l="l"/>
              <a:pathLst>
                <a:path h="5946048" w="19670895">
                  <a:moveTo>
                    <a:pt x="0" y="0"/>
                  </a:moveTo>
                  <a:lnTo>
                    <a:pt x="19670895" y="0"/>
                  </a:lnTo>
                  <a:lnTo>
                    <a:pt x="19670895" y="5946048"/>
                  </a:lnTo>
                  <a:lnTo>
                    <a:pt x="0" y="5946048"/>
                  </a:lnTo>
                  <a:lnTo>
                    <a:pt x="0" y="0"/>
                  </a:lnTo>
                  <a:close/>
                </a:path>
              </a:pathLst>
            </a:custGeom>
            <a:blipFill>
              <a:blip r:embed="rId2"/>
              <a:stretch>
                <a:fillRect l="0" t="-4815" r="0" b="0"/>
              </a:stretch>
            </a:blipFill>
          </p:spPr>
        </p:sp>
        <p:sp>
          <p:nvSpPr>
            <p:cNvPr name="TextBox 8" id="8"/>
            <p:cNvSpPr txBox="true"/>
            <p:nvPr/>
          </p:nvSpPr>
          <p:spPr>
            <a:xfrm rot="0">
              <a:off x="327342" y="1728725"/>
              <a:ext cx="8058808" cy="504726"/>
            </a:xfrm>
            <a:prstGeom prst="rect">
              <a:avLst/>
            </a:prstGeom>
          </p:spPr>
          <p:txBody>
            <a:bodyPr anchor="t" rtlCol="false" tIns="0" lIns="0" bIns="0" rIns="0">
              <a:spAutoFit/>
            </a:bodyPr>
            <a:lstStyle/>
            <a:p>
              <a:pPr algn="l">
                <a:lnSpc>
                  <a:spcPts val="2849"/>
                </a:lnSpc>
              </a:pPr>
              <a:r>
                <a:rPr lang="en-US" sz="2499" spc="-74" b="true">
                  <a:solidFill>
                    <a:srgbClr val="073E88"/>
                  </a:solidFill>
                  <a:latin typeface="Poppins Bold"/>
                  <a:ea typeface="Poppins Bold"/>
                  <a:cs typeface="Poppins Bold"/>
                  <a:sym typeface="Poppins Bold"/>
                </a:rPr>
                <a:t>Stakeholder: Executive Management</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64382"/>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grpSp>
        <p:nvGrpSpPr>
          <p:cNvPr name="Group 5" id="5"/>
          <p:cNvGrpSpPr/>
          <p:nvPr/>
        </p:nvGrpSpPr>
        <p:grpSpPr>
          <a:xfrm rot="0">
            <a:off x="1430431" y="1813457"/>
            <a:ext cx="15427137" cy="6786951"/>
            <a:chOff x="0" y="0"/>
            <a:chExt cx="20569516" cy="9049269"/>
          </a:xfrm>
        </p:grpSpPr>
        <p:sp>
          <p:nvSpPr>
            <p:cNvPr name="Freeform 6" id="6"/>
            <p:cNvSpPr/>
            <p:nvPr/>
          </p:nvSpPr>
          <p:spPr>
            <a:xfrm flipH="false" flipV="false" rot="0">
              <a:off x="6987124" y="0"/>
              <a:ext cx="13582392" cy="9049269"/>
            </a:xfrm>
            <a:custGeom>
              <a:avLst/>
              <a:gdLst/>
              <a:ahLst/>
              <a:cxnLst/>
              <a:rect r="r" b="b" t="t" l="l"/>
              <a:pathLst>
                <a:path h="9049269" w="13582392">
                  <a:moveTo>
                    <a:pt x="0" y="0"/>
                  </a:moveTo>
                  <a:lnTo>
                    <a:pt x="13582392" y="0"/>
                  </a:lnTo>
                  <a:lnTo>
                    <a:pt x="13582392" y="9049269"/>
                  </a:lnTo>
                  <a:lnTo>
                    <a:pt x="0" y="9049269"/>
                  </a:lnTo>
                  <a:lnTo>
                    <a:pt x="0" y="0"/>
                  </a:lnTo>
                  <a:close/>
                </a:path>
              </a:pathLst>
            </a:custGeom>
            <a:blipFill>
              <a:blip r:embed="rId2"/>
              <a:stretch>
                <a:fillRect l="0" t="0" r="0" b="0"/>
              </a:stretch>
            </a:blipFill>
          </p:spPr>
        </p:sp>
        <p:sp>
          <p:nvSpPr>
            <p:cNvPr name="TextBox 7" id="7"/>
            <p:cNvSpPr txBox="true"/>
            <p:nvPr/>
          </p:nvSpPr>
          <p:spPr>
            <a:xfrm rot="0">
              <a:off x="0" y="3520584"/>
              <a:ext cx="6373290" cy="1258259"/>
            </a:xfrm>
            <a:prstGeom prst="rect">
              <a:avLst/>
            </a:prstGeom>
          </p:spPr>
          <p:txBody>
            <a:bodyPr anchor="t" rtlCol="false" tIns="0" lIns="0" bIns="0" rIns="0">
              <a:spAutoFit/>
            </a:bodyPr>
            <a:lstStyle/>
            <a:p>
              <a:pPr algn="l">
                <a:lnSpc>
                  <a:spcPts val="3500"/>
                </a:lnSpc>
              </a:pPr>
              <a:r>
                <a:rPr lang="en-US" sz="3500" b="true">
                  <a:solidFill>
                    <a:srgbClr val="101419"/>
                  </a:solidFill>
                  <a:latin typeface="Poppins Bold"/>
                  <a:ea typeface="Poppins Bold"/>
                  <a:cs typeface="Poppins Bold"/>
                  <a:sym typeface="Poppins Bold"/>
                </a:rPr>
                <a:t>Marketing Analytics Dashboard</a:t>
              </a:r>
            </a:p>
          </p:txBody>
        </p:sp>
        <p:sp>
          <p:nvSpPr>
            <p:cNvPr name="TextBox 8" id="8"/>
            <p:cNvSpPr txBox="true"/>
            <p:nvPr/>
          </p:nvSpPr>
          <p:spPr>
            <a:xfrm rot="0">
              <a:off x="0" y="4883380"/>
              <a:ext cx="6373290" cy="504726"/>
            </a:xfrm>
            <a:prstGeom prst="rect">
              <a:avLst/>
            </a:prstGeom>
          </p:spPr>
          <p:txBody>
            <a:bodyPr anchor="t" rtlCol="false" tIns="0" lIns="0" bIns="0" rIns="0">
              <a:spAutoFit/>
            </a:bodyPr>
            <a:lstStyle/>
            <a:p>
              <a:pPr algn="l">
                <a:lnSpc>
                  <a:spcPts val="2849"/>
                </a:lnSpc>
              </a:pPr>
              <a:r>
                <a:rPr lang="en-US" sz="2499" spc="-74" b="true">
                  <a:solidFill>
                    <a:srgbClr val="073E88"/>
                  </a:solidFill>
                  <a:latin typeface="Poppins Bold"/>
                  <a:ea typeface="Poppins Bold"/>
                  <a:cs typeface="Poppins Bold"/>
                  <a:sym typeface="Poppins Bold"/>
                </a:rPr>
                <a:t>Tools: Power BI</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sp>
        <p:nvSpPr>
          <p:cNvPr name="Freeform 2" id="2"/>
          <p:cNvSpPr/>
          <p:nvPr/>
        </p:nvSpPr>
        <p:spPr>
          <a:xfrm flipH="false" flipV="false" rot="0">
            <a:off x="-504372" y="-1617761"/>
            <a:ext cx="24842526" cy="14536367"/>
          </a:xfrm>
          <a:custGeom>
            <a:avLst/>
            <a:gdLst/>
            <a:ahLst/>
            <a:cxnLst/>
            <a:rect r="r" b="b" t="t" l="l"/>
            <a:pathLst>
              <a:path h="14536367" w="24842526">
                <a:moveTo>
                  <a:pt x="0" y="0"/>
                </a:moveTo>
                <a:lnTo>
                  <a:pt x="24842526" y="0"/>
                </a:lnTo>
                <a:lnTo>
                  <a:pt x="24842526" y="14536367"/>
                </a:lnTo>
                <a:lnTo>
                  <a:pt x="0" y="14536367"/>
                </a:lnTo>
                <a:lnTo>
                  <a:pt x="0" y="0"/>
                </a:lnTo>
                <a:close/>
              </a:path>
            </a:pathLst>
          </a:custGeom>
          <a:blipFill>
            <a:blip r:embed="rId2"/>
            <a:stretch>
              <a:fillRect l="0" t="-4905" r="0" b="-9131"/>
            </a:stretch>
          </a:blipFill>
        </p:spPr>
      </p:sp>
      <p:grpSp>
        <p:nvGrpSpPr>
          <p:cNvPr name="Group 3" id="3"/>
          <p:cNvGrpSpPr/>
          <p:nvPr/>
        </p:nvGrpSpPr>
        <p:grpSpPr>
          <a:xfrm rot="0">
            <a:off x="-504372" y="-463166"/>
            <a:ext cx="18792372" cy="11213331"/>
            <a:chOff x="0" y="0"/>
            <a:chExt cx="4949431" cy="2953305"/>
          </a:xfrm>
        </p:grpSpPr>
        <p:sp>
          <p:nvSpPr>
            <p:cNvPr name="Freeform 4" id="4"/>
            <p:cNvSpPr/>
            <p:nvPr/>
          </p:nvSpPr>
          <p:spPr>
            <a:xfrm flipH="false" flipV="false" rot="0">
              <a:off x="0" y="0"/>
              <a:ext cx="4949431" cy="2953305"/>
            </a:xfrm>
            <a:custGeom>
              <a:avLst/>
              <a:gdLst/>
              <a:ahLst/>
              <a:cxnLst/>
              <a:rect r="r" b="b" t="t" l="l"/>
              <a:pathLst>
                <a:path h="2953305" w="4949431">
                  <a:moveTo>
                    <a:pt x="0" y="0"/>
                  </a:moveTo>
                  <a:lnTo>
                    <a:pt x="4949431" y="0"/>
                  </a:lnTo>
                  <a:lnTo>
                    <a:pt x="4949431" y="2953305"/>
                  </a:lnTo>
                  <a:lnTo>
                    <a:pt x="0" y="2953305"/>
                  </a:lnTo>
                  <a:close/>
                </a:path>
              </a:pathLst>
            </a:custGeom>
            <a:solidFill>
              <a:srgbClr val="073E88">
                <a:alpha val="60000"/>
              </a:srgbClr>
            </a:solidFill>
          </p:spPr>
        </p:sp>
        <p:sp>
          <p:nvSpPr>
            <p:cNvPr name="TextBox 5" id="5"/>
            <p:cNvSpPr txBox="true"/>
            <p:nvPr/>
          </p:nvSpPr>
          <p:spPr>
            <a:xfrm>
              <a:off x="0" y="-57150"/>
              <a:ext cx="4949431" cy="301045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4112895"/>
            <a:ext cx="16230600" cy="2061210"/>
          </a:xfrm>
          <a:prstGeom prst="rect">
            <a:avLst/>
          </a:prstGeom>
        </p:spPr>
        <p:txBody>
          <a:bodyPr anchor="t" rtlCol="false" tIns="0" lIns="0" bIns="0" rIns="0">
            <a:spAutoFit/>
          </a:bodyPr>
          <a:lstStyle/>
          <a:p>
            <a:pPr algn="l">
              <a:lnSpc>
                <a:spcPts val="5280"/>
              </a:lnSpc>
            </a:pPr>
            <a:r>
              <a:rPr lang="en-US" sz="4800" b="true">
                <a:solidFill>
                  <a:srgbClr val="FFFFFF"/>
                </a:solidFill>
                <a:latin typeface="Poppins Bold"/>
                <a:ea typeface="Poppins Bold"/>
                <a:cs typeface="Poppins Bold"/>
                <a:sym typeface="Poppins Bold"/>
              </a:rPr>
              <a:t>Q1: Which mark</a:t>
            </a:r>
            <a:r>
              <a:rPr lang="en-US" sz="4800" b="true">
                <a:solidFill>
                  <a:srgbClr val="FFFFFF"/>
                </a:solidFill>
                <a:latin typeface="Poppins Bold"/>
                <a:ea typeface="Poppins Bold"/>
                <a:cs typeface="Poppins Bold"/>
                <a:sym typeface="Poppins Bold"/>
              </a:rPr>
              <a:t>eting factors or channels contributed most to the decline in Conversion Rate (CR)?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graphicFrame>
        <p:nvGraphicFramePr>
          <p:cNvPr name="Table 5" id="5"/>
          <p:cNvGraphicFramePr>
            <a:graphicFrameLocks noGrp="true"/>
          </p:cNvGraphicFramePr>
          <p:nvPr/>
        </p:nvGraphicFramePr>
        <p:xfrm>
          <a:off x="1438932" y="3419808"/>
          <a:ext cx="15467622" cy="5819775"/>
        </p:xfrm>
        <a:graphic>
          <a:graphicData uri="http://schemas.openxmlformats.org/drawingml/2006/table">
            <a:tbl>
              <a:tblPr/>
              <a:tblGrid>
                <a:gridCol w="2216695"/>
                <a:gridCol w="1667926"/>
                <a:gridCol w="1659087"/>
                <a:gridCol w="1627459"/>
                <a:gridCol w="1637718"/>
                <a:gridCol w="1633557"/>
                <a:gridCol w="1668712"/>
                <a:gridCol w="1702120"/>
                <a:gridCol w="1654347"/>
              </a:tblGrid>
              <a:tr h="1118085">
                <a:tc>
                  <a:txBody>
                    <a:bodyPr anchor="t" rtlCol="false"/>
                    <a:lstStyle/>
                    <a:p>
                      <a:pPr algn="ctr">
                        <a:lnSpc>
                          <a:spcPts val="2379"/>
                        </a:lnSpc>
                        <a:defRPr/>
                      </a:pPr>
                      <a:r>
                        <a:rPr lang="en-US" sz="1699" b="true">
                          <a:solidFill>
                            <a:srgbClr val="FFFFFF"/>
                          </a:solidFill>
                          <a:latin typeface="Poppins Bold"/>
                          <a:ea typeface="Poppins Bold"/>
                          <a:cs typeface="Poppins Bold"/>
                          <a:sym typeface="Poppins Bold"/>
                        </a:rPr>
                        <a:t>Location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379"/>
                        </a:lnSpc>
                        <a:defRPr/>
                      </a:pPr>
                      <a:r>
                        <a:rPr lang="en-US" sz="1699" b="true">
                          <a:solidFill>
                            <a:srgbClr val="FFFFFF"/>
                          </a:solidFill>
                          <a:latin typeface="Poppins Bold"/>
                          <a:ea typeface="Poppins Bold"/>
                          <a:cs typeface="Poppins Bold"/>
                          <a:sym typeface="Poppins Bold"/>
                        </a:rPr>
                        <a:t>Reach </a:t>
                      </a:r>
                      <a:endParaRPr lang="en-US" sz="1100"/>
                    </a:p>
                    <a:p>
                      <a:pPr algn="ctr">
                        <a:lnSpc>
                          <a:spcPts val="2379"/>
                        </a:lnSpc>
                      </a:pPr>
                      <a:r>
                        <a:rPr lang="en-US" sz="1699" b="true">
                          <a:solidFill>
                            <a:srgbClr val="FFFFFF"/>
                          </a:solidFill>
                          <a:latin typeface="Poppins Bold"/>
                          <a:ea typeface="Poppins Bold"/>
                          <a:cs typeface="Poppins Bold"/>
                          <a:sym typeface="Poppins Bold"/>
                        </a:rPr>
                        <a:t>Rate</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379"/>
                        </a:lnSpc>
                        <a:defRPr/>
                      </a:pPr>
                      <a:r>
                        <a:rPr lang="en-US" sz="1699" b="true">
                          <a:solidFill>
                            <a:srgbClr val="FFFFFF"/>
                          </a:solidFill>
                          <a:latin typeface="Poppins Bold"/>
                          <a:ea typeface="Poppins Bold"/>
                          <a:cs typeface="Poppins Bold"/>
                          <a:sym typeface="Poppins Bold"/>
                        </a:rPr>
                        <a:t>CTR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100"/>
                        </a:lnSpc>
                        <a:defRPr/>
                      </a:pPr>
                      <a:r>
                        <a:rPr lang="en-US" sz="1500" b="true">
                          <a:solidFill>
                            <a:srgbClr val="FFFFFF"/>
                          </a:solidFill>
                          <a:latin typeface="Poppins Bold"/>
                          <a:ea typeface="Poppins Bold"/>
                          <a:cs typeface="Poppins Bold"/>
                          <a:sym typeface="Poppins Bold"/>
                        </a:rPr>
                        <a:t>Engage-</a:t>
                      </a:r>
                      <a:endParaRPr lang="en-US" sz="1100"/>
                    </a:p>
                    <a:p>
                      <a:pPr algn="ctr">
                        <a:lnSpc>
                          <a:spcPts val="2379"/>
                        </a:lnSpc>
                      </a:pPr>
                      <a:r>
                        <a:rPr lang="en-US" sz="1699" b="true">
                          <a:solidFill>
                            <a:srgbClr val="FFFFFF"/>
                          </a:solidFill>
                          <a:latin typeface="Poppins Bold"/>
                          <a:ea typeface="Poppins Bold"/>
                          <a:cs typeface="Poppins Bold"/>
                          <a:sym typeface="Poppins Bold"/>
                        </a:rPr>
                        <a:t>ment</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380"/>
                        </a:lnSpc>
                        <a:defRPr/>
                      </a:pPr>
                      <a:r>
                        <a:rPr lang="en-US" sz="1700" b="true">
                          <a:solidFill>
                            <a:srgbClr val="FFFFFF"/>
                          </a:solidFill>
                          <a:latin typeface="Poppins Bold"/>
                          <a:ea typeface="Poppins Bold"/>
                          <a:cs typeface="Poppins Bold"/>
                          <a:sym typeface="Poppins Bold"/>
                        </a:rPr>
                        <a:t>Impres-</a:t>
                      </a:r>
                      <a:endParaRPr lang="en-US" sz="1100"/>
                    </a:p>
                    <a:p>
                      <a:pPr algn="ctr">
                        <a:lnSpc>
                          <a:spcPts val="2380"/>
                        </a:lnSpc>
                      </a:pPr>
                      <a:r>
                        <a:rPr lang="en-US" sz="1700" b="true">
                          <a:solidFill>
                            <a:srgbClr val="FFFFFF"/>
                          </a:solidFill>
                          <a:latin typeface="Poppins Bold"/>
                          <a:ea typeface="Poppins Bold"/>
                          <a:cs typeface="Poppins Bold"/>
                          <a:sym typeface="Poppins Bold"/>
                        </a:rPr>
                        <a:t>sion</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379"/>
                        </a:lnSpc>
                        <a:defRPr/>
                      </a:pPr>
                      <a:r>
                        <a:rPr lang="en-US" sz="1699" b="true">
                          <a:solidFill>
                            <a:srgbClr val="FFFFFF"/>
                          </a:solidFill>
                          <a:latin typeface="Poppins Bold"/>
                          <a:ea typeface="Poppins Bold"/>
                          <a:cs typeface="Poppins Bold"/>
                          <a:sym typeface="Poppins Bold"/>
                        </a:rPr>
                        <a:t>Product </a:t>
                      </a:r>
                      <a:endParaRPr lang="en-US" sz="1100"/>
                    </a:p>
                    <a:p>
                      <a:pPr algn="ctr">
                        <a:lnSpc>
                          <a:spcPts val="2379"/>
                        </a:lnSpc>
                      </a:pPr>
                      <a:r>
                        <a:rPr lang="en-US" sz="1699" b="true">
                          <a:solidFill>
                            <a:srgbClr val="FFFFFF"/>
                          </a:solidFill>
                          <a:latin typeface="Poppins Bold"/>
                          <a:ea typeface="Poppins Bold"/>
                          <a:cs typeface="Poppins Bold"/>
                          <a:sym typeface="Poppins Bold"/>
                        </a:rPr>
                        <a:t>Page View</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379"/>
                        </a:lnSpc>
                        <a:defRPr/>
                      </a:pPr>
                      <a:r>
                        <a:rPr lang="en-US" sz="1699" b="true">
                          <a:solidFill>
                            <a:srgbClr val="FFFFFF"/>
                          </a:solidFill>
                          <a:latin typeface="Poppins Bold"/>
                          <a:ea typeface="Poppins Bold"/>
                          <a:cs typeface="Poppins Bold"/>
                          <a:sym typeface="Poppins Bold"/>
                        </a:rPr>
                        <a:t>Conver.</a:t>
                      </a:r>
                      <a:endParaRPr lang="en-US" sz="1100"/>
                    </a:p>
                    <a:p>
                      <a:pPr algn="ctr">
                        <a:lnSpc>
                          <a:spcPts val="2379"/>
                        </a:lnSpc>
                      </a:pPr>
                      <a:r>
                        <a:rPr lang="en-US" sz="1699" b="true">
                          <a:solidFill>
                            <a:srgbClr val="FFFFFF"/>
                          </a:solidFill>
                          <a:latin typeface="Poppins Bold"/>
                          <a:ea typeface="Poppins Bold"/>
                          <a:cs typeface="Poppins Bold"/>
                          <a:sym typeface="Poppins Bold"/>
                        </a:rPr>
                        <a:t>Rate</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379"/>
                        </a:lnSpc>
                        <a:defRPr/>
                      </a:pPr>
                      <a:r>
                        <a:rPr lang="en-US" sz="1699" b="true">
                          <a:solidFill>
                            <a:srgbClr val="FFFFFF"/>
                          </a:solidFill>
                          <a:latin typeface="Poppins Bold"/>
                          <a:ea typeface="Poppins Bold"/>
                          <a:cs typeface="Poppins Bold"/>
                          <a:sym typeface="Poppins Bold"/>
                        </a:rPr>
                        <a:t>AOV</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379"/>
                        </a:lnSpc>
                        <a:defRPr/>
                      </a:pPr>
                      <a:r>
                        <a:rPr lang="en-US" sz="1699" b="true">
                          <a:solidFill>
                            <a:srgbClr val="FFFFFF"/>
                          </a:solidFill>
                          <a:latin typeface="Poppins Bold"/>
                          <a:ea typeface="Poppins Bold"/>
                          <a:cs typeface="Poppins Bold"/>
                          <a:sym typeface="Poppins Bold"/>
                        </a:rPr>
                        <a:t>Purchase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r>
              <a:tr h="783615">
                <a:tc>
                  <a:txBody>
                    <a:bodyPr anchor="t" rtlCol="false"/>
                    <a:lstStyle/>
                    <a:p>
                      <a:pPr algn="ctr">
                        <a:lnSpc>
                          <a:spcPts val="2100"/>
                        </a:lnSpc>
                        <a:defRPr/>
                      </a:pPr>
                      <a:r>
                        <a:rPr lang="en-US" sz="1500">
                          <a:solidFill>
                            <a:srgbClr val="000000"/>
                          </a:solidFill>
                          <a:latin typeface="Poppins"/>
                          <a:ea typeface="Poppins"/>
                          <a:cs typeface="Poppins"/>
                          <a:sym typeface="Poppins"/>
                        </a:rPr>
                        <a:t>Balikpapan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0.44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FFF"/>
                          </a:solidFill>
                          <a:latin typeface="Poppins"/>
                          <a:ea typeface="Poppins"/>
                          <a:cs typeface="Poppins"/>
                          <a:sym typeface="Poppins"/>
                        </a:rPr>
                        <a:t>17.95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24.35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5.06K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FFF"/>
                          </a:solidFill>
                          <a:latin typeface="Poppins"/>
                          <a:ea typeface="Poppins"/>
                          <a:cs typeface="Poppins"/>
                          <a:sym typeface="Poppins"/>
                        </a:rPr>
                        <a:t>4.68</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0.78</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23.70K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208</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3615">
                <a:tc>
                  <a:txBody>
                    <a:bodyPr anchor="t" rtlCol="false"/>
                    <a:lstStyle/>
                    <a:p>
                      <a:pPr algn="ctr">
                        <a:lnSpc>
                          <a:spcPts val="2100"/>
                        </a:lnSpc>
                        <a:defRPr/>
                      </a:pPr>
                      <a:r>
                        <a:rPr lang="en-US" sz="1500">
                          <a:solidFill>
                            <a:srgbClr val="000000"/>
                          </a:solidFill>
                          <a:latin typeface="Poppins"/>
                          <a:ea typeface="Poppins"/>
                          <a:cs typeface="Poppins"/>
                          <a:sym typeface="Poppins"/>
                        </a:rPr>
                        <a:t>Bandung</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0.45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18.81</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24.18</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4.96K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FFF"/>
                          </a:solidFill>
                          <a:latin typeface="Poppins"/>
                          <a:ea typeface="Poppins"/>
                          <a:cs typeface="Poppins"/>
                          <a:sym typeface="Poppins"/>
                        </a:rPr>
                        <a:t>4.68</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0.19</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23.36K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205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3615">
                <a:tc>
                  <a:txBody>
                    <a:bodyPr anchor="t" rtlCol="false"/>
                    <a:lstStyle/>
                    <a:p>
                      <a:pPr algn="ctr">
                        <a:lnSpc>
                          <a:spcPts val="2100"/>
                        </a:lnSpc>
                        <a:defRPr/>
                      </a:pPr>
                      <a:r>
                        <a:rPr lang="en-US" sz="1500">
                          <a:solidFill>
                            <a:srgbClr val="000000"/>
                          </a:solidFill>
                          <a:latin typeface="Poppins"/>
                          <a:ea typeface="Poppins"/>
                          <a:cs typeface="Poppins"/>
                          <a:sym typeface="Poppins"/>
                        </a:rPr>
                        <a:t>Jakarta</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0.46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18.99</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24.37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5.46K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4.88</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1.56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25.53K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224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3615">
                <a:tc>
                  <a:txBody>
                    <a:bodyPr anchor="t" rtlCol="false"/>
                    <a:lstStyle/>
                    <a:p>
                      <a:pPr algn="ctr">
                        <a:lnSpc>
                          <a:spcPts val="2100"/>
                        </a:lnSpc>
                        <a:defRPr/>
                      </a:pPr>
                      <a:r>
                        <a:rPr lang="en-US" sz="1500">
                          <a:solidFill>
                            <a:srgbClr val="000000"/>
                          </a:solidFill>
                          <a:latin typeface="Poppins"/>
                          <a:ea typeface="Poppins"/>
                          <a:cs typeface="Poppins"/>
                          <a:sym typeface="Poppins"/>
                        </a:rPr>
                        <a:t>Makassar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FFF"/>
                          </a:solidFill>
                          <a:latin typeface="Poppins"/>
                          <a:ea typeface="Poppins"/>
                          <a:cs typeface="Poppins"/>
                          <a:sym typeface="Poppins"/>
                        </a:rPr>
                        <a:t>0.42</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18.13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25.30</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4.83K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5.13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1.50</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21.76K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191</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3615">
                <a:tc>
                  <a:txBody>
                    <a:bodyPr anchor="t" rtlCol="false"/>
                    <a:lstStyle/>
                    <a:p>
                      <a:pPr algn="ctr">
                        <a:lnSpc>
                          <a:spcPts val="2100"/>
                        </a:lnSpc>
                        <a:defRPr/>
                      </a:pPr>
                      <a:r>
                        <a:rPr lang="en-US" sz="1500">
                          <a:solidFill>
                            <a:srgbClr val="000000"/>
                          </a:solidFill>
                          <a:latin typeface="Poppins"/>
                          <a:ea typeface="Poppins"/>
                          <a:cs typeface="Poppins"/>
                          <a:sym typeface="Poppins"/>
                        </a:rPr>
                        <a:t>Medan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FFF"/>
                          </a:solidFill>
                          <a:latin typeface="Poppins"/>
                          <a:ea typeface="Poppins"/>
                          <a:cs typeface="Poppins"/>
                          <a:sym typeface="Poppins"/>
                        </a:rPr>
                        <a:t>0.42</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18.31</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23.70</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FFF"/>
                          </a:solidFill>
                          <a:latin typeface="Poppins"/>
                          <a:ea typeface="Poppins"/>
                          <a:cs typeface="Poppins"/>
                          <a:sym typeface="Poppins"/>
                        </a:rPr>
                        <a:t>4.29K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5.19</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1.39</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FFF"/>
                          </a:solidFill>
                          <a:latin typeface="Poppins"/>
                          <a:ea typeface="Poppins"/>
                          <a:cs typeface="Poppins"/>
                          <a:sym typeface="Poppins"/>
                        </a:rPr>
                        <a:t>20.67K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181</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r>
              <a:tr h="783615">
                <a:tc>
                  <a:txBody>
                    <a:bodyPr anchor="t" rtlCol="false"/>
                    <a:lstStyle/>
                    <a:p>
                      <a:pPr algn="ctr">
                        <a:lnSpc>
                          <a:spcPts val="2100"/>
                        </a:lnSpc>
                        <a:defRPr/>
                      </a:pPr>
                      <a:r>
                        <a:rPr lang="en-US" sz="1500">
                          <a:solidFill>
                            <a:srgbClr val="000000"/>
                          </a:solidFill>
                          <a:latin typeface="Poppins"/>
                          <a:ea typeface="Poppins"/>
                          <a:cs typeface="Poppins"/>
                          <a:sym typeface="Poppins"/>
                        </a:rPr>
                        <a:t>Palembang</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0.45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19.14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24.35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4.72K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5.12</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1.84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22.10K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194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2030568" y="2646053"/>
            <a:ext cx="6909666" cy="409612"/>
          </a:xfrm>
          <a:prstGeom prst="rect">
            <a:avLst/>
          </a:prstGeom>
        </p:spPr>
        <p:txBody>
          <a:bodyPr anchor="t" rtlCol="false" tIns="0" lIns="0" bIns="0" rIns="0">
            <a:spAutoFit/>
          </a:bodyPr>
          <a:lstStyle/>
          <a:p>
            <a:pPr algn="l">
              <a:lnSpc>
                <a:spcPts val="2999"/>
              </a:lnSpc>
            </a:pPr>
            <a:r>
              <a:rPr lang="en-US" sz="2999" b="true">
                <a:solidFill>
                  <a:srgbClr val="073E88"/>
                </a:solidFill>
                <a:latin typeface="Poppins Bold"/>
                <a:ea typeface="Poppins Bold"/>
                <a:cs typeface="Poppins Bold"/>
                <a:sym typeface="Poppins Bold"/>
              </a:rPr>
              <a:t>Deep Analysis - Location</a:t>
            </a:r>
          </a:p>
        </p:txBody>
      </p:sp>
      <p:grpSp>
        <p:nvGrpSpPr>
          <p:cNvPr name="Group 7" id="7"/>
          <p:cNvGrpSpPr/>
          <p:nvPr/>
        </p:nvGrpSpPr>
        <p:grpSpPr>
          <a:xfrm rot="0">
            <a:off x="1381446" y="2607953"/>
            <a:ext cx="423471" cy="423471"/>
            <a:chOff x="0" y="0"/>
            <a:chExt cx="564627" cy="564627"/>
          </a:xfrm>
        </p:grpSpPr>
        <p:grpSp>
          <p:nvGrpSpPr>
            <p:cNvPr name="Group 8" id="8"/>
            <p:cNvGrpSpPr/>
            <p:nvPr/>
          </p:nvGrpSpPr>
          <p:grpSpPr>
            <a:xfrm rot="0">
              <a:off x="0" y="0"/>
              <a:ext cx="564627" cy="56462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10" id="10"/>
              <p:cNvSpPr txBox="true"/>
              <p:nvPr/>
            </p:nvSpPr>
            <p:spPr>
              <a:xfrm>
                <a:off x="76200" y="38100"/>
                <a:ext cx="660400" cy="698500"/>
              </a:xfrm>
              <a:prstGeom prst="rect">
                <a:avLst/>
              </a:prstGeom>
            </p:spPr>
            <p:txBody>
              <a:bodyPr anchor="ctr" rtlCol="false" tIns="19805" lIns="19805" bIns="19805" rIns="19805"/>
              <a:lstStyle/>
              <a:p>
                <a:pPr algn="ctr">
                  <a:lnSpc>
                    <a:spcPts val="2659"/>
                  </a:lnSpc>
                </a:pPr>
              </a:p>
            </p:txBody>
          </p:sp>
        </p:grpSp>
        <p:sp>
          <p:nvSpPr>
            <p:cNvPr name="TextBox 11" id="11"/>
            <p:cNvSpPr txBox="true"/>
            <p:nvPr/>
          </p:nvSpPr>
          <p:spPr>
            <a:xfrm rot="0">
              <a:off x="76649" y="131828"/>
              <a:ext cx="411329" cy="310496"/>
            </a:xfrm>
            <a:prstGeom prst="rect">
              <a:avLst/>
            </a:prstGeom>
          </p:spPr>
          <p:txBody>
            <a:bodyPr anchor="t" rtlCol="false" tIns="0" lIns="0" bIns="0" rIns="0">
              <a:spAutoFit/>
            </a:bodyPr>
            <a:lstStyle/>
            <a:p>
              <a:pPr algn="ctr">
                <a:lnSpc>
                  <a:spcPts val="1614"/>
                </a:lnSpc>
              </a:pPr>
              <a:r>
                <a:rPr lang="en-US" b="true" sz="1614">
                  <a:solidFill>
                    <a:srgbClr val="FFFFFF"/>
                  </a:solidFill>
                  <a:latin typeface="Poppins Bold"/>
                  <a:ea typeface="Poppins Bold"/>
                  <a:cs typeface="Poppins Bold"/>
                  <a:sym typeface="Poppins Bold"/>
                </a:rPr>
                <a:t>1</a:t>
              </a:r>
            </a:p>
          </p:txBody>
        </p:sp>
      </p:grpSp>
      <p:sp>
        <p:nvSpPr>
          <p:cNvPr name="TextBox 12" id="12"/>
          <p:cNvSpPr txBox="true"/>
          <p:nvPr/>
        </p:nvSpPr>
        <p:spPr>
          <a:xfrm rot="0">
            <a:off x="1381446" y="1159910"/>
            <a:ext cx="10825909" cy="1252632"/>
          </a:xfrm>
          <a:prstGeom prst="rect">
            <a:avLst/>
          </a:prstGeom>
        </p:spPr>
        <p:txBody>
          <a:bodyPr anchor="t" rtlCol="false" tIns="0" lIns="0" bIns="0" rIns="0">
            <a:spAutoFit/>
          </a:bodyPr>
          <a:lstStyle/>
          <a:p>
            <a:pPr algn="l">
              <a:lnSpc>
                <a:spcPts val="3200"/>
              </a:lnSpc>
            </a:pPr>
            <a:r>
              <a:rPr lang="en-US" sz="3200" b="true">
                <a:solidFill>
                  <a:srgbClr val="073E88"/>
                </a:solidFill>
                <a:latin typeface="Poppins Bold"/>
                <a:ea typeface="Poppins Bold"/>
                <a:cs typeface="Poppins Bold"/>
                <a:sym typeface="Poppins Bold"/>
              </a:rPr>
              <a:t>Q1: Which marketing factors or channels contributed most to the decline in Conversion Rate (CR)?</a:t>
            </a:r>
          </a:p>
        </p:txBody>
      </p:sp>
      <p:sp>
        <p:nvSpPr>
          <p:cNvPr name="Freeform 13" id="13"/>
          <p:cNvSpPr/>
          <p:nvPr/>
        </p:nvSpPr>
        <p:spPr>
          <a:xfrm flipH="false" flipV="false" rot="0">
            <a:off x="13465831" y="1028700"/>
            <a:ext cx="3383237" cy="2105358"/>
          </a:xfrm>
          <a:custGeom>
            <a:avLst/>
            <a:gdLst/>
            <a:ahLst/>
            <a:cxnLst/>
            <a:rect r="r" b="b" t="t" l="l"/>
            <a:pathLst>
              <a:path h="2105358" w="3383237">
                <a:moveTo>
                  <a:pt x="0" y="0"/>
                </a:moveTo>
                <a:lnTo>
                  <a:pt x="3383237" y="0"/>
                </a:lnTo>
                <a:lnTo>
                  <a:pt x="3383237" y="2105358"/>
                </a:lnTo>
                <a:lnTo>
                  <a:pt x="0" y="2105358"/>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grpSp>
        <p:nvGrpSpPr>
          <p:cNvPr name="Group 5" id="5"/>
          <p:cNvGrpSpPr/>
          <p:nvPr/>
        </p:nvGrpSpPr>
        <p:grpSpPr>
          <a:xfrm rot="0">
            <a:off x="1410189" y="5962705"/>
            <a:ext cx="15467622" cy="3295595"/>
            <a:chOff x="0" y="0"/>
            <a:chExt cx="4687626" cy="998765"/>
          </a:xfrm>
        </p:grpSpPr>
        <p:sp>
          <p:nvSpPr>
            <p:cNvPr name="Freeform 6" id="6"/>
            <p:cNvSpPr/>
            <p:nvPr/>
          </p:nvSpPr>
          <p:spPr>
            <a:xfrm flipH="false" flipV="false" rot="0">
              <a:off x="0" y="0"/>
              <a:ext cx="4687626" cy="998765"/>
            </a:xfrm>
            <a:custGeom>
              <a:avLst/>
              <a:gdLst/>
              <a:ahLst/>
              <a:cxnLst/>
              <a:rect r="r" b="b" t="t" l="l"/>
              <a:pathLst>
                <a:path h="998765" w="4687626">
                  <a:moveTo>
                    <a:pt x="15016" y="0"/>
                  </a:moveTo>
                  <a:lnTo>
                    <a:pt x="4672611" y="0"/>
                  </a:lnTo>
                  <a:cubicBezTo>
                    <a:pt x="4680903" y="0"/>
                    <a:pt x="4687626" y="6723"/>
                    <a:pt x="4687626" y="15016"/>
                  </a:cubicBezTo>
                  <a:lnTo>
                    <a:pt x="4687626" y="983749"/>
                  </a:lnTo>
                  <a:cubicBezTo>
                    <a:pt x="4687626" y="987732"/>
                    <a:pt x="4686044" y="991551"/>
                    <a:pt x="4683228" y="994367"/>
                  </a:cubicBezTo>
                  <a:cubicBezTo>
                    <a:pt x="4680412" y="997183"/>
                    <a:pt x="4676593" y="998765"/>
                    <a:pt x="4672611" y="998765"/>
                  </a:cubicBezTo>
                  <a:lnTo>
                    <a:pt x="15016" y="998765"/>
                  </a:lnTo>
                  <a:cubicBezTo>
                    <a:pt x="6723" y="998765"/>
                    <a:pt x="0" y="992042"/>
                    <a:pt x="0" y="983749"/>
                  </a:cubicBezTo>
                  <a:lnTo>
                    <a:pt x="0" y="15016"/>
                  </a:lnTo>
                  <a:cubicBezTo>
                    <a:pt x="0" y="6723"/>
                    <a:pt x="6723" y="0"/>
                    <a:pt x="15016" y="0"/>
                  </a:cubicBezTo>
                  <a:close/>
                </a:path>
              </a:pathLst>
            </a:custGeom>
            <a:solidFill>
              <a:srgbClr val="F5F7F7"/>
            </a:solidFill>
            <a:ln w="28575" cap="rnd">
              <a:solidFill>
                <a:srgbClr val="000000"/>
              </a:solidFill>
              <a:prstDash val="solid"/>
              <a:round/>
            </a:ln>
          </p:spPr>
        </p:sp>
        <p:sp>
          <p:nvSpPr>
            <p:cNvPr name="TextBox 7" id="7"/>
            <p:cNvSpPr txBox="true"/>
            <p:nvPr/>
          </p:nvSpPr>
          <p:spPr>
            <a:xfrm>
              <a:off x="0" y="-76200"/>
              <a:ext cx="4687626" cy="1074965"/>
            </a:xfrm>
            <a:prstGeom prst="rect">
              <a:avLst/>
            </a:prstGeom>
          </p:spPr>
          <p:txBody>
            <a:bodyPr anchor="ctr" rtlCol="false" tIns="50800" lIns="50800" bIns="50800" rIns="50800"/>
            <a:lstStyle/>
            <a:p>
              <a:pPr algn="ctr">
                <a:lnSpc>
                  <a:spcPts val="3123"/>
                </a:lnSpc>
              </a:pPr>
            </a:p>
            <a:p>
              <a:pPr algn="ctr">
                <a:lnSpc>
                  <a:spcPts val="3123"/>
                </a:lnSpc>
              </a:pPr>
            </a:p>
          </p:txBody>
        </p:sp>
      </p:grpSp>
      <p:graphicFrame>
        <p:nvGraphicFramePr>
          <p:cNvPr name="Table 8" id="8"/>
          <p:cNvGraphicFramePr>
            <a:graphicFrameLocks noGrp="true"/>
          </p:cNvGraphicFramePr>
          <p:nvPr/>
        </p:nvGraphicFramePr>
        <p:xfrm>
          <a:off x="1412795" y="1353671"/>
          <a:ext cx="15467622" cy="4191000"/>
        </p:xfrm>
        <a:graphic>
          <a:graphicData uri="http://schemas.openxmlformats.org/drawingml/2006/table">
            <a:tbl>
              <a:tblPr/>
              <a:tblGrid>
                <a:gridCol w="2214373"/>
                <a:gridCol w="1677504"/>
                <a:gridCol w="1656497"/>
                <a:gridCol w="1620742"/>
                <a:gridCol w="1657029"/>
                <a:gridCol w="1620484"/>
                <a:gridCol w="1699371"/>
                <a:gridCol w="1676610"/>
                <a:gridCol w="1645012"/>
              </a:tblGrid>
              <a:tr h="1052534">
                <a:tc>
                  <a:txBody>
                    <a:bodyPr anchor="t" rtlCol="false"/>
                    <a:lstStyle/>
                    <a:p>
                      <a:pPr algn="ctr">
                        <a:lnSpc>
                          <a:spcPts val="2100"/>
                        </a:lnSpc>
                        <a:defRPr/>
                      </a:pPr>
                      <a:r>
                        <a:rPr lang="en-US" sz="1500" b="true">
                          <a:solidFill>
                            <a:srgbClr val="FFFFFF"/>
                          </a:solidFill>
                          <a:latin typeface="Poppins Bold"/>
                          <a:ea typeface="Poppins Bold"/>
                          <a:cs typeface="Poppins Bold"/>
                          <a:sym typeface="Poppins Bold"/>
                        </a:rPr>
                        <a:t>Location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100"/>
                        </a:lnSpc>
                        <a:defRPr/>
                      </a:pPr>
                      <a:r>
                        <a:rPr lang="en-US" sz="1500" b="true">
                          <a:solidFill>
                            <a:srgbClr val="FFFFFF"/>
                          </a:solidFill>
                          <a:latin typeface="Poppins Bold"/>
                          <a:ea typeface="Poppins Bold"/>
                          <a:cs typeface="Poppins Bold"/>
                          <a:sym typeface="Poppins Bold"/>
                        </a:rPr>
                        <a:t>Reach </a:t>
                      </a:r>
                      <a:endParaRPr lang="en-US" sz="1100"/>
                    </a:p>
                    <a:p>
                      <a:pPr algn="ctr">
                        <a:lnSpc>
                          <a:spcPts val="2100"/>
                        </a:lnSpc>
                      </a:pPr>
                      <a:r>
                        <a:rPr lang="en-US" sz="1500" b="true">
                          <a:solidFill>
                            <a:srgbClr val="FFFFFF"/>
                          </a:solidFill>
                          <a:latin typeface="Poppins Bold"/>
                          <a:ea typeface="Poppins Bold"/>
                          <a:cs typeface="Poppins Bold"/>
                          <a:sym typeface="Poppins Bold"/>
                        </a:rPr>
                        <a:t>Rate</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100"/>
                        </a:lnSpc>
                        <a:defRPr/>
                      </a:pPr>
                      <a:r>
                        <a:rPr lang="en-US" sz="1500" b="true">
                          <a:solidFill>
                            <a:srgbClr val="FFFFFF"/>
                          </a:solidFill>
                          <a:latin typeface="Poppins Bold"/>
                          <a:ea typeface="Poppins Bold"/>
                          <a:cs typeface="Poppins Bold"/>
                          <a:sym typeface="Poppins Bold"/>
                        </a:rPr>
                        <a:t>CTR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100"/>
                        </a:lnSpc>
                        <a:defRPr/>
                      </a:pPr>
                      <a:r>
                        <a:rPr lang="en-US" sz="1500" b="true">
                          <a:solidFill>
                            <a:srgbClr val="FFFFFF"/>
                          </a:solidFill>
                          <a:latin typeface="Poppins Bold"/>
                          <a:ea typeface="Poppins Bold"/>
                          <a:cs typeface="Poppins Bold"/>
                          <a:sym typeface="Poppins Bold"/>
                        </a:rPr>
                        <a:t>Engage-</a:t>
                      </a:r>
                      <a:endParaRPr lang="en-US" sz="1100"/>
                    </a:p>
                    <a:p>
                      <a:pPr algn="ctr">
                        <a:lnSpc>
                          <a:spcPts val="2100"/>
                        </a:lnSpc>
                      </a:pPr>
                      <a:r>
                        <a:rPr lang="en-US" sz="1500" b="true">
                          <a:solidFill>
                            <a:srgbClr val="FFFFFF"/>
                          </a:solidFill>
                          <a:latin typeface="Poppins Bold"/>
                          <a:ea typeface="Poppins Bold"/>
                          <a:cs typeface="Poppins Bold"/>
                          <a:sym typeface="Poppins Bold"/>
                        </a:rPr>
                        <a:t>ment</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100"/>
                        </a:lnSpc>
                        <a:defRPr/>
                      </a:pPr>
                      <a:r>
                        <a:rPr lang="en-US" sz="1500" b="true">
                          <a:solidFill>
                            <a:srgbClr val="FFFFFF"/>
                          </a:solidFill>
                          <a:latin typeface="Poppins Bold"/>
                          <a:ea typeface="Poppins Bold"/>
                          <a:cs typeface="Poppins Bold"/>
                          <a:sym typeface="Poppins Bold"/>
                        </a:rPr>
                        <a:t>Impres-</a:t>
                      </a:r>
                      <a:endParaRPr lang="en-US" sz="1100"/>
                    </a:p>
                    <a:p>
                      <a:pPr algn="ctr">
                        <a:lnSpc>
                          <a:spcPts val="2100"/>
                        </a:lnSpc>
                      </a:pPr>
                      <a:r>
                        <a:rPr lang="en-US" sz="1500" b="true">
                          <a:solidFill>
                            <a:srgbClr val="FFFFFF"/>
                          </a:solidFill>
                          <a:latin typeface="Poppins Bold"/>
                          <a:ea typeface="Poppins Bold"/>
                          <a:cs typeface="Poppins Bold"/>
                          <a:sym typeface="Poppins Bold"/>
                        </a:rPr>
                        <a:t>sion</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100"/>
                        </a:lnSpc>
                        <a:defRPr/>
                      </a:pPr>
                      <a:r>
                        <a:rPr lang="en-US" sz="1500" b="true">
                          <a:solidFill>
                            <a:srgbClr val="FFFFFF"/>
                          </a:solidFill>
                          <a:latin typeface="Poppins Bold"/>
                          <a:ea typeface="Poppins Bold"/>
                          <a:cs typeface="Poppins Bold"/>
                          <a:sym typeface="Poppins Bold"/>
                        </a:rPr>
                        <a:t>Product </a:t>
                      </a:r>
                      <a:endParaRPr lang="en-US" sz="1100"/>
                    </a:p>
                    <a:p>
                      <a:pPr algn="ctr">
                        <a:lnSpc>
                          <a:spcPts val="2100"/>
                        </a:lnSpc>
                      </a:pPr>
                      <a:r>
                        <a:rPr lang="en-US" sz="1500" b="true">
                          <a:solidFill>
                            <a:srgbClr val="FFFFFF"/>
                          </a:solidFill>
                          <a:latin typeface="Poppins Bold"/>
                          <a:ea typeface="Poppins Bold"/>
                          <a:cs typeface="Poppins Bold"/>
                          <a:sym typeface="Poppins Bold"/>
                        </a:rPr>
                        <a:t>Page View</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100"/>
                        </a:lnSpc>
                        <a:defRPr/>
                      </a:pPr>
                      <a:r>
                        <a:rPr lang="en-US" sz="1500" b="true">
                          <a:solidFill>
                            <a:srgbClr val="FFFFFF"/>
                          </a:solidFill>
                          <a:latin typeface="Poppins Bold"/>
                          <a:ea typeface="Poppins Bold"/>
                          <a:cs typeface="Poppins Bold"/>
                          <a:sym typeface="Poppins Bold"/>
                        </a:rPr>
                        <a:t>Conver.</a:t>
                      </a:r>
                      <a:endParaRPr lang="en-US" sz="1100"/>
                    </a:p>
                    <a:p>
                      <a:pPr algn="ctr">
                        <a:lnSpc>
                          <a:spcPts val="2100"/>
                        </a:lnSpc>
                      </a:pPr>
                      <a:r>
                        <a:rPr lang="en-US" sz="1500" b="true">
                          <a:solidFill>
                            <a:srgbClr val="FFFFFF"/>
                          </a:solidFill>
                          <a:latin typeface="Poppins Bold"/>
                          <a:ea typeface="Poppins Bold"/>
                          <a:cs typeface="Poppins Bold"/>
                          <a:sym typeface="Poppins Bold"/>
                        </a:rPr>
                        <a:t>Rate</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100"/>
                        </a:lnSpc>
                        <a:defRPr/>
                      </a:pPr>
                      <a:r>
                        <a:rPr lang="en-US" sz="1500" b="true">
                          <a:solidFill>
                            <a:srgbClr val="FFFFFF"/>
                          </a:solidFill>
                          <a:latin typeface="Poppins Bold"/>
                          <a:ea typeface="Poppins Bold"/>
                          <a:cs typeface="Poppins Bold"/>
                          <a:sym typeface="Poppins Bold"/>
                        </a:rPr>
                        <a:t>AOV</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100"/>
                        </a:lnSpc>
                        <a:defRPr/>
                      </a:pPr>
                      <a:r>
                        <a:rPr lang="en-US" sz="1500" b="true">
                          <a:solidFill>
                            <a:srgbClr val="FFFFFF"/>
                          </a:solidFill>
                          <a:latin typeface="Poppins Bold"/>
                          <a:ea typeface="Poppins Bold"/>
                          <a:cs typeface="Poppins Bold"/>
                          <a:sym typeface="Poppins Bold"/>
                        </a:rPr>
                        <a:t>Purchase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r>
              <a:tr h="784616">
                <a:tc>
                  <a:txBody>
                    <a:bodyPr anchor="t" rtlCol="false"/>
                    <a:lstStyle/>
                    <a:p>
                      <a:pPr algn="ctr">
                        <a:lnSpc>
                          <a:spcPts val="2100"/>
                        </a:lnSpc>
                        <a:defRPr/>
                      </a:pPr>
                      <a:r>
                        <a:rPr lang="en-US" sz="1500">
                          <a:solidFill>
                            <a:srgbClr val="000000"/>
                          </a:solidFill>
                          <a:latin typeface="Poppins"/>
                          <a:ea typeface="Poppins"/>
                          <a:cs typeface="Poppins"/>
                          <a:sym typeface="Poppins"/>
                        </a:rPr>
                        <a:t>Semarang</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0.49</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18.47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26.15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5.44K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5.16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FFF"/>
                          </a:solidFill>
                          <a:latin typeface="Poppins"/>
                          <a:ea typeface="Poppins"/>
                          <a:cs typeface="Poppins"/>
                          <a:sym typeface="Poppins"/>
                        </a:rPr>
                        <a:t>0.57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23.70K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208</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4616">
                <a:tc>
                  <a:txBody>
                    <a:bodyPr anchor="t" rtlCol="false"/>
                    <a:lstStyle/>
                    <a:p>
                      <a:pPr algn="ctr">
                        <a:lnSpc>
                          <a:spcPts val="2100"/>
                        </a:lnSpc>
                        <a:defRPr/>
                      </a:pPr>
                      <a:r>
                        <a:rPr lang="en-US" sz="1500">
                          <a:solidFill>
                            <a:srgbClr val="000000"/>
                          </a:solidFill>
                          <a:latin typeface="Poppins"/>
                          <a:ea typeface="Poppins"/>
                          <a:cs typeface="Poppins"/>
                          <a:sym typeface="Poppins"/>
                        </a:rPr>
                        <a:t>Surabaya</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0.46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19.22</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25.23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4.95K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5.11</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2.17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22.33K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196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4616">
                <a:tc>
                  <a:txBody>
                    <a:bodyPr anchor="t" rtlCol="false"/>
                    <a:lstStyle/>
                    <a:p>
                      <a:pPr algn="ctr">
                        <a:lnSpc>
                          <a:spcPts val="2100"/>
                        </a:lnSpc>
                        <a:defRPr/>
                      </a:pPr>
                      <a:r>
                        <a:rPr lang="en-US" sz="1500">
                          <a:solidFill>
                            <a:srgbClr val="000000"/>
                          </a:solidFill>
                          <a:latin typeface="Poppins"/>
                          <a:ea typeface="Poppins"/>
                          <a:cs typeface="Poppins"/>
                          <a:sym typeface="Poppins"/>
                        </a:rPr>
                        <a:t>Yogyakarta</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0.47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18.66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24.24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4.68K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FFF"/>
                          </a:solidFill>
                          <a:latin typeface="Poppins"/>
                          <a:ea typeface="Poppins"/>
                          <a:cs typeface="Poppins"/>
                          <a:sym typeface="Poppins"/>
                        </a:rPr>
                        <a:t>4.70</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1.25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21.99K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193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4616">
                <a:tc>
                  <a:txBody>
                    <a:bodyPr anchor="t" rtlCol="false"/>
                    <a:lstStyle/>
                    <a:p>
                      <a:pPr algn="ctr">
                        <a:lnSpc>
                          <a:spcPts val="2100"/>
                        </a:lnSpc>
                        <a:defRPr/>
                      </a:pPr>
                      <a:r>
                        <a:rPr lang="en-US" sz="1500">
                          <a:solidFill>
                            <a:srgbClr val="000000"/>
                          </a:solidFill>
                          <a:latin typeface="Poppins"/>
                          <a:ea typeface="Poppins"/>
                          <a:cs typeface="Poppins"/>
                          <a:sym typeface="Poppins"/>
                        </a:rPr>
                        <a:t>Denpasar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FFF"/>
                          </a:solidFill>
                          <a:latin typeface="Poppins"/>
                          <a:ea typeface="Poppins"/>
                          <a:cs typeface="Poppins"/>
                          <a:sym typeface="Poppins"/>
                        </a:rPr>
                        <a:t>0.43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17.69</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22.82</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4.56K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5.04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BF7"/>
                          </a:solidFill>
                          <a:latin typeface="Poppins"/>
                          <a:ea typeface="Poppins"/>
                          <a:cs typeface="Poppins"/>
                          <a:sym typeface="Poppins"/>
                        </a:rPr>
                        <a:t>0.77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22.79K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200</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9" id="9"/>
          <p:cNvSpPr txBox="true"/>
          <p:nvPr/>
        </p:nvSpPr>
        <p:spPr>
          <a:xfrm rot="0">
            <a:off x="1773905" y="6454167"/>
            <a:ext cx="7244654" cy="2026920"/>
          </a:xfrm>
          <a:prstGeom prst="rect">
            <a:avLst/>
          </a:prstGeom>
        </p:spPr>
        <p:txBody>
          <a:bodyPr anchor="t" rtlCol="false" tIns="0" lIns="0" bIns="0" rIns="0">
            <a:spAutoFit/>
          </a:bodyPr>
          <a:lstStyle/>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Reach Rate</a:t>
            </a:r>
            <a:r>
              <a:rPr lang="en-US" sz="2100">
                <a:solidFill>
                  <a:srgbClr val="101419"/>
                </a:solidFill>
                <a:latin typeface="Poppins"/>
                <a:ea typeface="Poppins"/>
                <a:cs typeface="Poppins"/>
                <a:sym typeface="Poppins"/>
              </a:rPr>
              <a:t>: The averages in Denpasar (0.43), Makassar (0.42), and Medan (0.42) are the lowest.</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Engagement</a:t>
            </a:r>
            <a:r>
              <a:rPr lang="en-US" sz="2100">
                <a:solidFill>
                  <a:srgbClr val="101419"/>
                </a:solidFill>
                <a:latin typeface="Poppins"/>
                <a:ea typeface="Poppins"/>
                <a:cs typeface="Poppins"/>
                <a:sym typeface="Poppins"/>
              </a:rPr>
              <a:t>: Denpasar’s average (22.82) is the lowest compared to the other cities (24).</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CTR</a:t>
            </a:r>
            <a:r>
              <a:rPr lang="en-US" sz="2100">
                <a:solidFill>
                  <a:srgbClr val="101419"/>
                </a:solidFill>
                <a:latin typeface="Poppins"/>
                <a:ea typeface="Poppins"/>
                <a:cs typeface="Poppins"/>
                <a:sym typeface="Poppins"/>
              </a:rPr>
              <a:t>: The averages in Balikpapan (17.95%) and Denpasar (17.69%) are the lowest.</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Impression</a:t>
            </a:r>
            <a:r>
              <a:rPr lang="en-US" sz="2100">
                <a:solidFill>
                  <a:srgbClr val="101419"/>
                </a:solidFill>
                <a:latin typeface="Poppins"/>
                <a:ea typeface="Poppins"/>
                <a:cs typeface="Poppins"/>
                <a:sym typeface="Poppins"/>
              </a:rPr>
              <a:t>: Medan (4.29k) has the lowest number</a:t>
            </a:r>
          </a:p>
        </p:txBody>
      </p:sp>
      <p:sp>
        <p:nvSpPr>
          <p:cNvPr name="TextBox 10" id="10"/>
          <p:cNvSpPr txBox="true"/>
          <p:nvPr/>
        </p:nvSpPr>
        <p:spPr>
          <a:xfrm rot="0">
            <a:off x="9269441" y="6444642"/>
            <a:ext cx="7244654" cy="2312670"/>
          </a:xfrm>
          <a:prstGeom prst="rect">
            <a:avLst/>
          </a:prstGeom>
        </p:spPr>
        <p:txBody>
          <a:bodyPr anchor="t" rtlCol="false" tIns="0" lIns="0" bIns="0" rIns="0">
            <a:spAutoFit/>
          </a:bodyPr>
          <a:lstStyle/>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Product Page View</a:t>
            </a:r>
            <a:r>
              <a:rPr lang="en-US" sz="2100">
                <a:solidFill>
                  <a:srgbClr val="101419"/>
                </a:solidFill>
                <a:latin typeface="Poppins"/>
                <a:ea typeface="Poppins"/>
                <a:cs typeface="Poppins"/>
                <a:sym typeface="Poppins"/>
              </a:rPr>
              <a:t>: The averages in Yogyakarta (4.70), Balikpapan (4.68), and Bandung (4.68) are the lowest.</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Purchase</a:t>
            </a:r>
            <a:r>
              <a:rPr lang="en-US" sz="2100">
                <a:solidFill>
                  <a:srgbClr val="101419"/>
                </a:solidFill>
                <a:latin typeface="Poppins"/>
                <a:ea typeface="Poppins"/>
                <a:cs typeface="Poppins"/>
                <a:sym typeface="Poppins"/>
              </a:rPr>
              <a:t>: Medan (181) has the lowest number.</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AOV</a:t>
            </a:r>
            <a:r>
              <a:rPr lang="en-US" sz="2100">
                <a:solidFill>
                  <a:srgbClr val="101419"/>
                </a:solidFill>
                <a:latin typeface="Poppins"/>
                <a:ea typeface="Poppins"/>
                <a:cs typeface="Poppins"/>
                <a:sym typeface="Poppins"/>
              </a:rPr>
              <a:t>: Medan (20.67K) is the lowest.</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Conversion Rate</a:t>
            </a:r>
            <a:r>
              <a:rPr lang="en-US" sz="2100">
                <a:solidFill>
                  <a:srgbClr val="101419"/>
                </a:solidFill>
                <a:latin typeface="Poppins"/>
                <a:ea typeface="Poppins"/>
                <a:cs typeface="Poppins"/>
                <a:sym typeface="Poppins"/>
              </a:rPr>
              <a:t>: The averages in Balikpapan (0.78%), Denpasar (0.77%), Semarang (0.57%), and Bandung (0.19%) are the lowest.</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grpSp>
        <p:nvGrpSpPr>
          <p:cNvPr name="Group 5" id="5"/>
          <p:cNvGrpSpPr/>
          <p:nvPr/>
        </p:nvGrpSpPr>
        <p:grpSpPr>
          <a:xfrm rot="0">
            <a:off x="1410189" y="3591738"/>
            <a:ext cx="15467622" cy="3426664"/>
            <a:chOff x="0" y="0"/>
            <a:chExt cx="4687626" cy="1038487"/>
          </a:xfrm>
        </p:grpSpPr>
        <p:sp>
          <p:nvSpPr>
            <p:cNvPr name="Freeform 6" id="6"/>
            <p:cNvSpPr/>
            <p:nvPr/>
          </p:nvSpPr>
          <p:spPr>
            <a:xfrm flipH="false" flipV="false" rot="0">
              <a:off x="0" y="0"/>
              <a:ext cx="4687626" cy="1038487"/>
            </a:xfrm>
            <a:custGeom>
              <a:avLst/>
              <a:gdLst/>
              <a:ahLst/>
              <a:cxnLst/>
              <a:rect r="r" b="b" t="t" l="l"/>
              <a:pathLst>
                <a:path h="1038487" w="4687626">
                  <a:moveTo>
                    <a:pt x="15016" y="0"/>
                  </a:moveTo>
                  <a:lnTo>
                    <a:pt x="4672611" y="0"/>
                  </a:lnTo>
                  <a:cubicBezTo>
                    <a:pt x="4680903" y="0"/>
                    <a:pt x="4687626" y="6723"/>
                    <a:pt x="4687626" y="15016"/>
                  </a:cubicBezTo>
                  <a:lnTo>
                    <a:pt x="4687626" y="1023471"/>
                  </a:lnTo>
                  <a:cubicBezTo>
                    <a:pt x="4687626" y="1031764"/>
                    <a:pt x="4680903" y="1038487"/>
                    <a:pt x="4672611" y="1038487"/>
                  </a:cubicBezTo>
                  <a:lnTo>
                    <a:pt x="15016" y="1038487"/>
                  </a:lnTo>
                  <a:cubicBezTo>
                    <a:pt x="6723" y="1038487"/>
                    <a:pt x="0" y="1031764"/>
                    <a:pt x="0" y="1023471"/>
                  </a:cubicBezTo>
                  <a:lnTo>
                    <a:pt x="0" y="15016"/>
                  </a:lnTo>
                  <a:cubicBezTo>
                    <a:pt x="0" y="6723"/>
                    <a:pt x="6723" y="0"/>
                    <a:pt x="15016" y="0"/>
                  </a:cubicBezTo>
                  <a:close/>
                </a:path>
              </a:pathLst>
            </a:custGeom>
            <a:solidFill>
              <a:srgbClr val="F5F7F7"/>
            </a:solidFill>
            <a:ln w="28575" cap="rnd">
              <a:solidFill>
                <a:srgbClr val="000000"/>
              </a:solidFill>
              <a:prstDash val="solid"/>
              <a:round/>
            </a:ln>
          </p:spPr>
        </p:sp>
        <p:sp>
          <p:nvSpPr>
            <p:cNvPr name="TextBox 7" id="7"/>
            <p:cNvSpPr txBox="true"/>
            <p:nvPr/>
          </p:nvSpPr>
          <p:spPr>
            <a:xfrm>
              <a:off x="0" y="-76200"/>
              <a:ext cx="4687626" cy="1114687"/>
            </a:xfrm>
            <a:prstGeom prst="rect">
              <a:avLst/>
            </a:prstGeom>
          </p:spPr>
          <p:txBody>
            <a:bodyPr anchor="ctr" rtlCol="false" tIns="50800" lIns="50800" bIns="50800" rIns="50800"/>
            <a:lstStyle/>
            <a:p>
              <a:pPr algn="ctr">
                <a:lnSpc>
                  <a:spcPts val="3123"/>
                </a:lnSpc>
              </a:pPr>
            </a:p>
            <a:p>
              <a:pPr algn="ctr">
                <a:lnSpc>
                  <a:spcPts val="3123"/>
                </a:lnSpc>
              </a:pPr>
            </a:p>
          </p:txBody>
        </p:sp>
      </p:grpSp>
      <p:sp>
        <p:nvSpPr>
          <p:cNvPr name="TextBox 8" id="8"/>
          <p:cNvSpPr txBox="true"/>
          <p:nvPr/>
        </p:nvSpPr>
        <p:spPr>
          <a:xfrm rot="0">
            <a:off x="1410189" y="1938119"/>
            <a:ext cx="15467622" cy="962248"/>
          </a:xfrm>
          <a:prstGeom prst="rect">
            <a:avLst/>
          </a:prstGeom>
        </p:spPr>
        <p:txBody>
          <a:bodyPr anchor="t" rtlCol="false" tIns="0" lIns="0" bIns="0" rIns="0">
            <a:spAutoFit/>
          </a:bodyPr>
          <a:lstStyle/>
          <a:p>
            <a:pPr algn="just">
              <a:lnSpc>
                <a:spcPts val="2520"/>
              </a:lnSpc>
            </a:pPr>
            <a:r>
              <a:rPr lang="en-US" sz="2100">
                <a:solidFill>
                  <a:srgbClr val="101419"/>
                </a:solidFill>
                <a:latin typeface="Poppins"/>
                <a:ea typeface="Poppins"/>
                <a:cs typeface="Poppins"/>
                <a:sym typeface="Poppins"/>
              </a:rPr>
              <a:t>Several cities show low performance across almost all metrics, particularly Medan (Reach Rate, Impressions, Purchase, and AOV) and Denpasar (Reach Rate, Engagement, CTR, and Conversion Rate). Other cities, such as Bandung and Balikpapan, also show low scores in Product Page Views and Conversion Rate.</a:t>
            </a:r>
          </a:p>
        </p:txBody>
      </p:sp>
      <p:sp>
        <p:nvSpPr>
          <p:cNvPr name="TextBox 9" id="9"/>
          <p:cNvSpPr txBox="true"/>
          <p:nvPr/>
        </p:nvSpPr>
        <p:spPr>
          <a:xfrm rot="0">
            <a:off x="1410189" y="1509457"/>
            <a:ext cx="6909666" cy="409612"/>
          </a:xfrm>
          <a:prstGeom prst="rect">
            <a:avLst/>
          </a:prstGeom>
        </p:spPr>
        <p:txBody>
          <a:bodyPr anchor="t" rtlCol="false" tIns="0" lIns="0" bIns="0" rIns="0">
            <a:spAutoFit/>
          </a:bodyPr>
          <a:lstStyle/>
          <a:p>
            <a:pPr algn="l">
              <a:lnSpc>
                <a:spcPts val="2999"/>
              </a:lnSpc>
            </a:pPr>
            <a:r>
              <a:rPr lang="en-US" sz="2999" b="true">
                <a:solidFill>
                  <a:srgbClr val="073E88"/>
                </a:solidFill>
                <a:latin typeface="Poppins Bold"/>
                <a:ea typeface="Poppins Bold"/>
                <a:cs typeface="Poppins Bold"/>
                <a:sym typeface="Poppins Bold"/>
              </a:rPr>
              <a:t>Summary</a:t>
            </a:r>
          </a:p>
        </p:txBody>
      </p:sp>
      <p:grpSp>
        <p:nvGrpSpPr>
          <p:cNvPr name="Group 10" id="10"/>
          <p:cNvGrpSpPr/>
          <p:nvPr/>
        </p:nvGrpSpPr>
        <p:grpSpPr>
          <a:xfrm rot="0">
            <a:off x="1790974" y="3272331"/>
            <a:ext cx="2795081" cy="656886"/>
            <a:chOff x="0" y="0"/>
            <a:chExt cx="1376317" cy="323455"/>
          </a:xfrm>
        </p:grpSpPr>
        <p:sp>
          <p:nvSpPr>
            <p:cNvPr name="Freeform 11" id="11"/>
            <p:cNvSpPr/>
            <p:nvPr/>
          </p:nvSpPr>
          <p:spPr>
            <a:xfrm flipH="false" flipV="false" rot="0">
              <a:off x="0" y="0"/>
              <a:ext cx="1376317" cy="323455"/>
            </a:xfrm>
            <a:custGeom>
              <a:avLst/>
              <a:gdLst/>
              <a:ahLst/>
              <a:cxnLst/>
              <a:rect r="r" b="b" t="t" l="l"/>
              <a:pathLst>
                <a:path h="323455" w="1376317">
                  <a:moveTo>
                    <a:pt x="41548" y="0"/>
                  </a:moveTo>
                  <a:lnTo>
                    <a:pt x="1334769" y="0"/>
                  </a:lnTo>
                  <a:cubicBezTo>
                    <a:pt x="1357715" y="0"/>
                    <a:pt x="1376317" y="18601"/>
                    <a:pt x="1376317" y="41548"/>
                  </a:cubicBezTo>
                  <a:lnTo>
                    <a:pt x="1376317" y="281907"/>
                  </a:lnTo>
                  <a:cubicBezTo>
                    <a:pt x="1376317" y="304853"/>
                    <a:pt x="1357715" y="323455"/>
                    <a:pt x="1334769" y="323455"/>
                  </a:cubicBezTo>
                  <a:lnTo>
                    <a:pt x="41548" y="323455"/>
                  </a:lnTo>
                  <a:cubicBezTo>
                    <a:pt x="18601" y="323455"/>
                    <a:pt x="0" y="304853"/>
                    <a:pt x="0" y="281907"/>
                  </a:cubicBezTo>
                  <a:lnTo>
                    <a:pt x="0" y="41548"/>
                  </a:lnTo>
                  <a:cubicBezTo>
                    <a:pt x="0" y="18601"/>
                    <a:pt x="18601" y="0"/>
                    <a:pt x="41548" y="0"/>
                  </a:cubicBezTo>
                  <a:close/>
                </a:path>
              </a:pathLst>
            </a:custGeom>
            <a:solidFill>
              <a:srgbClr val="073E88"/>
            </a:solidFill>
          </p:spPr>
        </p:sp>
        <p:sp>
          <p:nvSpPr>
            <p:cNvPr name="TextBox 12" id="12"/>
            <p:cNvSpPr txBox="true"/>
            <p:nvPr/>
          </p:nvSpPr>
          <p:spPr>
            <a:xfrm>
              <a:off x="0" y="-76200"/>
              <a:ext cx="1376317" cy="399655"/>
            </a:xfrm>
            <a:prstGeom prst="rect">
              <a:avLst/>
            </a:prstGeom>
          </p:spPr>
          <p:txBody>
            <a:bodyPr anchor="ctr" rtlCol="false" tIns="46707" lIns="46707" bIns="46707" rIns="46707"/>
            <a:lstStyle/>
            <a:p>
              <a:pPr algn="ctr">
                <a:lnSpc>
                  <a:spcPts val="3123"/>
                </a:lnSpc>
              </a:pPr>
            </a:p>
          </p:txBody>
        </p:sp>
      </p:grpSp>
      <p:sp>
        <p:nvSpPr>
          <p:cNvPr name="TextBox 13" id="13"/>
          <p:cNvSpPr txBox="true"/>
          <p:nvPr/>
        </p:nvSpPr>
        <p:spPr>
          <a:xfrm rot="0">
            <a:off x="1918732" y="3421520"/>
            <a:ext cx="2539565" cy="310432"/>
          </a:xfrm>
          <a:prstGeom prst="rect">
            <a:avLst/>
          </a:prstGeom>
        </p:spPr>
        <p:txBody>
          <a:bodyPr anchor="t" rtlCol="false" tIns="0" lIns="0" bIns="0" rIns="0">
            <a:spAutoFit/>
          </a:bodyPr>
          <a:lstStyle/>
          <a:p>
            <a:pPr algn="ctr">
              <a:lnSpc>
                <a:spcPts val="2272"/>
              </a:lnSpc>
            </a:pPr>
            <a:r>
              <a:rPr lang="en-US" b="true" sz="2065" spc="-82">
                <a:solidFill>
                  <a:srgbClr val="FFFFFF"/>
                </a:solidFill>
                <a:latin typeface="Poppins Bold"/>
                <a:ea typeface="Poppins Bold"/>
                <a:cs typeface="Poppins Bold"/>
                <a:sym typeface="Poppins Bold"/>
              </a:rPr>
              <a:t>Recommendation</a:t>
            </a:r>
          </a:p>
        </p:txBody>
      </p:sp>
      <p:sp>
        <p:nvSpPr>
          <p:cNvPr name="TextBox 14" id="14"/>
          <p:cNvSpPr txBox="true"/>
          <p:nvPr/>
        </p:nvSpPr>
        <p:spPr>
          <a:xfrm rot="0">
            <a:off x="1790974" y="4186392"/>
            <a:ext cx="14706053" cy="2312670"/>
          </a:xfrm>
          <a:prstGeom prst="rect">
            <a:avLst/>
          </a:prstGeom>
        </p:spPr>
        <p:txBody>
          <a:bodyPr anchor="t" rtlCol="false" tIns="0" lIns="0" bIns="0" rIns="0">
            <a:spAutoFit/>
          </a:bodyPr>
          <a:lstStyle/>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Makassar and Medan: </a:t>
            </a:r>
            <a:r>
              <a:rPr lang="en-US" sz="2100">
                <a:solidFill>
                  <a:srgbClr val="101419"/>
                </a:solidFill>
                <a:latin typeface="Poppins"/>
                <a:ea typeface="Poppins"/>
                <a:cs typeface="Poppins"/>
                <a:sym typeface="Poppins"/>
              </a:rPr>
              <a:t>Run bundling and discount offers to increase purchase intent, launch awareness campaigns to drive initial traffic, provide product education (such as short-form videos) to encourage clicks to product pages, and activate seasonal promotions to accelerate purchases.</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Denpasar</a:t>
            </a:r>
            <a:r>
              <a:rPr lang="en-US" sz="2100">
                <a:solidFill>
                  <a:srgbClr val="101419"/>
                </a:solidFill>
                <a:latin typeface="Poppins"/>
                <a:ea typeface="Poppins"/>
                <a:cs typeface="Poppins"/>
                <a:sym typeface="Poppins"/>
              </a:rPr>
              <a:t>: Increase engagement through creative content and loyalty programs. You may also implement bundling, discounts, and awareness campaigns to broaden traffic reach.</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Bandung</a:t>
            </a:r>
            <a:r>
              <a:rPr lang="en-US" sz="2100">
                <a:solidFill>
                  <a:srgbClr val="101419"/>
                </a:solidFill>
                <a:latin typeface="Poppins"/>
                <a:ea typeface="Poppins"/>
                <a:cs typeface="Poppins"/>
                <a:sym typeface="Poppins"/>
              </a:rPr>
              <a:t>, Balikpapan, Yogyakarta: Optimize product pages (images, descriptions, ratings, trust badges), offer limited-time promotions to encourage purchases, and enhance product recommendations.</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Balikpapan and Denpasar</a:t>
            </a:r>
            <a:r>
              <a:rPr lang="en-US" sz="2100">
                <a:solidFill>
                  <a:srgbClr val="101419"/>
                </a:solidFill>
                <a:latin typeface="Poppins"/>
                <a:ea typeface="Poppins"/>
                <a:cs typeface="Poppins"/>
                <a:sym typeface="Poppins"/>
              </a:rPr>
              <a:t>: Conduct retargeting and A/B testing on ads to improve CTR.</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graphicFrame>
        <p:nvGraphicFramePr>
          <p:cNvPr name="Table 5" id="5"/>
          <p:cNvGraphicFramePr>
            <a:graphicFrameLocks noGrp="true"/>
          </p:cNvGraphicFramePr>
          <p:nvPr/>
        </p:nvGraphicFramePr>
        <p:xfrm>
          <a:off x="1438932" y="3419808"/>
          <a:ext cx="15467622" cy="4257675"/>
        </p:xfrm>
        <a:graphic>
          <a:graphicData uri="http://schemas.openxmlformats.org/drawingml/2006/table">
            <a:tbl>
              <a:tblPr/>
              <a:tblGrid>
                <a:gridCol w="2216695"/>
                <a:gridCol w="1667926"/>
                <a:gridCol w="1659087"/>
                <a:gridCol w="1627459"/>
                <a:gridCol w="1637718"/>
                <a:gridCol w="1633557"/>
                <a:gridCol w="1668712"/>
                <a:gridCol w="1702120"/>
                <a:gridCol w="1654347"/>
              </a:tblGrid>
              <a:tr h="1119434">
                <a:tc>
                  <a:txBody>
                    <a:bodyPr anchor="t" rtlCol="false"/>
                    <a:lstStyle/>
                    <a:p>
                      <a:pPr algn="ctr">
                        <a:lnSpc>
                          <a:spcPts val="2379"/>
                        </a:lnSpc>
                        <a:defRPr/>
                      </a:pPr>
                      <a:r>
                        <a:rPr lang="en-US" sz="1699" b="true">
                          <a:solidFill>
                            <a:srgbClr val="FFFFFF"/>
                          </a:solidFill>
                          <a:latin typeface="Poppins Bold"/>
                          <a:ea typeface="Poppins Bold"/>
                          <a:cs typeface="Poppins Bold"/>
                          <a:sym typeface="Poppins Bold"/>
                        </a:rPr>
                        <a:t>Location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379"/>
                        </a:lnSpc>
                        <a:defRPr/>
                      </a:pPr>
                      <a:r>
                        <a:rPr lang="en-US" sz="1699" b="true">
                          <a:solidFill>
                            <a:srgbClr val="FFFFFF"/>
                          </a:solidFill>
                          <a:latin typeface="Poppins Bold"/>
                          <a:ea typeface="Poppins Bold"/>
                          <a:cs typeface="Poppins Bold"/>
                          <a:sym typeface="Poppins Bold"/>
                        </a:rPr>
                        <a:t>Reach </a:t>
                      </a:r>
                      <a:endParaRPr lang="en-US" sz="1100"/>
                    </a:p>
                    <a:p>
                      <a:pPr algn="ctr">
                        <a:lnSpc>
                          <a:spcPts val="2379"/>
                        </a:lnSpc>
                      </a:pPr>
                      <a:r>
                        <a:rPr lang="en-US" sz="1699" b="true">
                          <a:solidFill>
                            <a:srgbClr val="FFFFFF"/>
                          </a:solidFill>
                          <a:latin typeface="Poppins Bold"/>
                          <a:ea typeface="Poppins Bold"/>
                          <a:cs typeface="Poppins Bold"/>
                          <a:sym typeface="Poppins Bold"/>
                        </a:rPr>
                        <a:t>Rate</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379"/>
                        </a:lnSpc>
                        <a:defRPr/>
                      </a:pPr>
                      <a:r>
                        <a:rPr lang="en-US" sz="1699" b="true">
                          <a:solidFill>
                            <a:srgbClr val="FFFFFF"/>
                          </a:solidFill>
                          <a:latin typeface="Poppins Bold"/>
                          <a:ea typeface="Poppins Bold"/>
                          <a:cs typeface="Poppins Bold"/>
                          <a:sym typeface="Poppins Bold"/>
                        </a:rPr>
                        <a:t>CTR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100"/>
                        </a:lnSpc>
                        <a:defRPr/>
                      </a:pPr>
                      <a:r>
                        <a:rPr lang="en-US" sz="1500" b="true">
                          <a:solidFill>
                            <a:srgbClr val="FFFFFF"/>
                          </a:solidFill>
                          <a:latin typeface="Poppins Bold"/>
                          <a:ea typeface="Poppins Bold"/>
                          <a:cs typeface="Poppins Bold"/>
                          <a:sym typeface="Poppins Bold"/>
                        </a:rPr>
                        <a:t>Engage-</a:t>
                      </a:r>
                      <a:endParaRPr lang="en-US" sz="1100"/>
                    </a:p>
                    <a:p>
                      <a:pPr algn="ctr">
                        <a:lnSpc>
                          <a:spcPts val="2379"/>
                        </a:lnSpc>
                      </a:pPr>
                      <a:r>
                        <a:rPr lang="en-US" sz="1699" b="true">
                          <a:solidFill>
                            <a:srgbClr val="FFFFFF"/>
                          </a:solidFill>
                          <a:latin typeface="Poppins Bold"/>
                          <a:ea typeface="Poppins Bold"/>
                          <a:cs typeface="Poppins Bold"/>
                          <a:sym typeface="Poppins Bold"/>
                        </a:rPr>
                        <a:t>ment</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380"/>
                        </a:lnSpc>
                        <a:defRPr/>
                      </a:pPr>
                      <a:r>
                        <a:rPr lang="en-US" sz="1700" b="true">
                          <a:solidFill>
                            <a:srgbClr val="FFFFFF"/>
                          </a:solidFill>
                          <a:latin typeface="Poppins Bold"/>
                          <a:ea typeface="Poppins Bold"/>
                          <a:cs typeface="Poppins Bold"/>
                          <a:sym typeface="Poppins Bold"/>
                        </a:rPr>
                        <a:t>Impres-</a:t>
                      </a:r>
                      <a:endParaRPr lang="en-US" sz="1100"/>
                    </a:p>
                    <a:p>
                      <a:pPr algn="ctr">
                        <a:lnSpc>
                          <a:spcPts val="2380"/>
                        </a:lnSpc>
                      </a:pPr>
                      <a:r>
                        <a:rPr lang="en-US" sz="1700" b="true">
                          <a:solidFill>
                            <a:srgbClr val="FFFFFF"/>
                          </a:solidFill>
                          <a:latin typeface="Poppins Bold"/>
                          <a:ea typeface="Poppins Bold"/>
                          <a:cs typeface="Poppins Bold"/>
                          <a:sym typeface="Poppins Bold"/>
                        </a:rPr>
                        <a:t>sion</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379"/>
                        </a:lnSpc>
                        <a:defRPr/>
                      </a:pPr>
                      <a:r>
                        <a:rPr lang="en-US" sz="1699" b="true">
                          <a:solidFill>
                            <a:srgbClr val="FFFFFF"/>
                          </a:solidFill>
                          <a:latin typeface="Poppins Bold"/>
                          <a:ea typeface="Poppins Bold"/>
                          <a:cs typeface="Poppins Bold"/>
                          <a:sym typeface="Poppins Bold"/>
                        </a:rPr>
                        <a:t>Product </a:t>
                      </a:r>
                      <a:endParaRPr lang="en-US" sz="1100"/>
                    </a:p>
                    <a:p>
                      <a:pPr algn="ctr">
                        <a:lnSpc>
                          <a:spcPts val="2379"/>
                        </a:lnSpc>
                      </a:pPr>
                      <a:r>
                        <a:rPr lang="en-US" sz="1699" b="true">
                          <a:solidFill>
                            <a:srgbClr val="FFFFFF"/>
                          </a:solidFill>
                          <a:latin typeface="Poppins Bold"/>
                          <a:ea typeface="Poppins Bold"/>
                          <a:cs typeface="Poppins Bold"/>
                          <a:sym typeface="Poppins Bold"/>
                        </a:rPr>
                        <a:t>Page View</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379"/>
                        </a:lnSpc>
                        <a:defRPr/>
                      </a:pPr>
                      <a:r>
                        <a:rPr lang="en-US" sz="1699" b="true">
                          <a:solidFill>
                            <a:srgbClr val="FFFFFF"/>
                          </a:solidFill>
                          <a:latin typeface="Poppins Bold"/>
                          <a:ea typeface="Poppins Bold"/>
                          <a:cs typeface="Poppins Bold"/>
                          <a:sym typeface="Poppins Bold"/>
                        </a:rPr>
                        <a:t>Conver.</a:t>
                      </a:r>
                      <a:endParaRPr lang="en-US" sz="1100"/>
                    </a:p>
                    <a:p>
                      <a:pPr algn="ctr">
                        <a:lnSpc>
                          <a:spcPts val="2379"/>
                        </a:lnSpc>
                      </a:pPr>
                      <a:r>
                        <a:rPr lang="en-US" sz="1699" b="true">
                          <a:solidFill>
                            <a:srgbClr val="FFFFFF"/>
                          </a:solidFill>
                          <a:latin typeface="Poppins Bold"/>
                          <a:ea typeface="Poppins Bold"/>
                          <a:cs typeface="Poppins Bold"/>
                          <a:sym typeface="Poppins Bold"/>
                        </a:rPr>
                        <a:t>Rate</a:t>
                      </a:r>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379"/>
                        </a:lnSpc>
                        <a:defRPr/>
                      </a:pPr>
                      <a:r>
                        <a:rPr lang="en-US" sz="1699" b="true">
                          <a:solidFill>
                            <a:srgbClr val="FFFFFF"/>
                          </a:solidFill>
                          <a:latin typeface="Poppins Bold"/>
                          <a:ea typeface="Poppins Bold"/>
                          <a:cs typeface="Poppins Bold"/>
                          <a:sym typeface="Poppins Bold"/>
                        </a:rPr>
                        <a:t>AOV</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2379"/>
                        </a:lnSpc>
                        <a:defRPr/>
                      </a:pPr>
                      <a:r>
                        <a:rPr lang="en-US" sz="1699" b="true">
                          <a:solidFill>
                            <a:srgbClr val="FFFFFF"/>
                          </a:solidFill>
                          <a:latin typeface="Poppins Bold"/>
                          <a:ea typeface="Poppins Bold"/>
                          <a:cs typeface="Poppins Bold"/>
                          <a:sym typeface="Poppins Bold"/>
                        </a:rPr>
                        <a:t>Purchase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r>
              <a:tr h="784560">
                <a:tc>
                  <a:txBody>
                    <a:bodyPr anchor="t" rtlCol="false"/>
                    <a:lstStyle/>
                    <a:p>
                      <a:pPr algn="ctr">
                        <a:lnSpc>
                          <a:spcPts val="2100"/>
                        </a:lnSpc>
                        <a:defRPr/>
                      </a:pPr>
                      <a:r>
                        <a:rPr lang="en-US" sz="1500">
                          <a:solidFill>
                            <a:srgbClr val="000000"/>
                          </a:solidFill>
                          <a:latin typeface="Poppins"/>
                          <a:ea typeface="Poppins"/>
                          <a:cs typeface="Poppins"/>
                          <a:sym typeface="Poppins"/>
                        </a:rPr>
                        <a:t>Shoes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0.45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FFF"/>
                          </a:solidFill>
                          <a:latin typeface="Poppins"/>
                          <a:ea typeface="Poppins"/>
                          <a:cs typeface="Poppins"/>
                          <a:sym typeface="Poppins"/>
                        </a:rPr>
                        <a:t>18.14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24.27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12.74K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5.02</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5F7F7"/>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1.27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5F7F7"/>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59.83K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525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4560">
                <a:tc>
                  <a:txBody>
                    <a:bodyPr anchor="t" rtlCol="false"/>
                    <a:lstStyle/>
                    <a:p>
                      <a:pPr algn="ctr">
                        <a:lnSpc>
                          <a:spcPts val="2100"/>
                        </a:lnSpc>
                        <a:defRPr/>
                      </a:pPr>
                      <a:r>
                        <a:rPr lang="en-US" sz="1500">
                          <a:solidFill>
                            <a:srgbClr val="000000"/>
                          </a:solidFill>
                          <a:latin typeface="Poppins"/>
                          <a:ea typeface="Poppins"/>
                          <a:cs typeface="Poppins"/>
                          <a:sym typeface="Poppins"/>
                        </a:rPr>
                        <a:t>Pants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0.45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19.40</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5F7F7"/>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24.60</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12.23K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FFF"/>
                          </a:solidFill>
                          <a:latin typeface="Poppins"/>
                          <a:ea typeface="Poppins"/>
                          <a:cs typeface="Poppins"/>
                          <a:sym typeface="Poppins"/>
                        </a:rPr>
                        <a:t>4.90</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1.14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56.64K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497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4560">
                <a:tc>
                  <a:txBody>
                    <a:bodyPr anchor="t" rtlCol="false"/>
                    <a:lstStyle/>
                    <a:p>
                      <a:pPr algn="ctr">
                        <a:lnSpc>
                          <a:spcPts val="2100"/>
                        </a:lnSpc>
                        <a:defRPr/>
                      </a:pPr>
                      <a:r>
                        <a:rPr lang="en-US" sz="1500">
                          <a:solidFill>
                            <a:srgbClr val="000000"/>
                          </a:solidFill>
                          <a:latin typeface="Poppins"/>
                          <a:ea typeface="Poppins"/>
                          <a:cs typeface="Poppins"/>
                          <a:sym typeface="Poppins"/>
                        </a:rPr>
                        <a:t>Accessory</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FFF"/>
                          </a:solidFill>
                          <a:latin typeface="Poppins"/>
                          <a:ea typeface="Poppins"/>
                          <a:cs typeface="Poppins"/>
                          <a:sym typeface="Poppins"/>
                        </a:rPr>
                        <a:t>0.43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17.84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24.35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FFF"/>
                          </a:solidFill>
                          <a:latin typeface="Poppins"/>
                          <a:ea typeface="Poppins"/>
                          <a:cs typeface="Poppins"/>
                          <a:sym typeface="Poppins"/>
                        </a:rPr>
                        <a:t>11.98K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4.99</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5F7F7"/>
                    </a:solidFill>
                  </a:tcPr>
                </a:tc>
                <a:tc>
                  <a:txBody>
                    <a:bodyPr anchor="t" rtlCol="false"/>
                    <a:lstStyle/>
                    <a:p>
                      <a:pPr algn="ctr">
                        <a:lnSpc>
                          <a:spcPts val="2100"/>
                        </a:lnSpc>
                        <a:defRPr/>
                      </a:pPr>
                      <a:r>
                        <a:rPr lang="en-US" sz="1500">
                          <a:solidFill>
                            <a:srgbClr val="F5F7F7"/>
                          </a:solidFill>
                          <a:latin typeface="Poppins"/>
                          <a:ea typeface="Poppins"/>
                          <a:cs typeface="Poppins"/>
                          <a:sym typeface="Poppins"/>
                        </a:rPr>
                        <a:t>1.13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56.07K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5F7F7"/>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492</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4560">
                <a:tc>
                  <a:txBody>
                    <a:bodyPr anchor="t" rtlCol="false"/>
                    <a:lstStyle/>
                    <a:p>
                      <a:pPr algn="ctr">
                        <a:lnSpc>
                          <a:spcPts val="2100"/>
                        </a:lnSpc>
                        <a:defRPr/>
                      </a:pPr>
                      <a:r>
                        <a:rPr lang="en-US" sz="1500">
                          <a:solidFill>
                            <a:srgbClr val="000000"/>
                          </a:solidFill>
                          <a:latin typeface="Poppins"/>
                          <a:ea typeface="Poppins"/>
                          <a:cs typeface="Poppins"/>
                          <a:sym typeface="Poppins"/>
                        </a:rPr>
                        <a:t>Shirt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0.46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18.84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5F7F7"/>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24.69</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FFFFFF"/>
                          </a:solidFill>
                          <a:latin typeface="Poppins"/>
                          <a:ea typeface="Poppins"/>
                          <a:cs typeface="Poppins"/>
                          <a:sym typeface="Poppins"/>
                        </a:rPr>
                        <a:t>12.00K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4.93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1.24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5F7F7"/>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55.38K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486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78EBA"/>
                    </a:solidFill>
                  </a:tcPr>
                </a:tc>
              </a:tr>
            </a:tbl>
          </a:graphicData>
        </a:graphic>
      </p:graphicFrame>
      <p:grpSp>
        <p:nvGrpSpPr>
          <p:cNvPr name="Group 6" id="6"/>
          <p:cNvGrpSpPr/>
          <p:nvPr/>
        </p:nvGrpSpPr>
        <p:grpSpPr>
          <a:xfrm rot="0">
            <a:off x="1381446" y="2607953"/>
            <a:ext cx="423471" cy="42347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8" id="8"/>
            <p:cNvSpPr txBox="true"/>
            <p:nvPr/>
          </p:nvSpPr>
          <p:spPr>
            <a:xfrm>
              <a:off x="76200" y="38100"/>
              <a:ext cx="660400" cy="698500"/>
            </a:xfrm>
            <a:prstGeom prst="rect">
              <a:avLst/>
            </a:prstGeom>
          </p:spPr>
          <p:txBody>
            <a:bodyPr anchor="ctr" rtlCol="false" tIns="19805" lIns="19805" bIns="19805" rIns="19805"/>
            <a:lstStyle/>
            <a:p>
              <a:pPr algn="ctr">
                <a:lnSpc>
                  <a:spcPts val="2659"/>
                </a:lnSpc>
              </a:pPr>
            </a:p>
          </p:txBody>
        </p:sp>
      </p:grpSp>
      <p:sp>
        <p:nvSpPr>
          <p:cNvPr name="Freeform 9" id="9"/>
          <p:cNvSpPr/>
          <p:nvPr/>
        </p:nvSpPr>
        <p:spPr>
          <a:xfrm flipH="false" flipV="false" rot="0">
            <a:off x="13837936" y="1028700"/>
            <a:ext cx="3068618" cy="1910996"/>
          </a:xfrm>
          <a:custGeom>
            <a:avLst/>
            <a:gdLst/>
            <a:ahLst/>
            <a:cxnLst/>
            <a:rect r="r" b="b" t="t" l="l"/>
            <a:pathLst>
              <a:path h="1910996" w="3068618">
                <a:moveTo>
                  <a:pt x="0" y="0"/>
                </a:moveTo>
                <a:lnTo>
                  <a:pt x="3068618" y="0"/>
                </a:lnTo>
                <a:lnTo>
                  <a:pt x="3068618" y="1910996"/>
                </a:lnTo>
                <a:lnTo>
                  <a:pt x="0" y="1910996"/>
                </a:lnTo>
                <a:lnTo>
                  <a:pt x="0" y="0"/>
                </a:lnTo>
                <a:close/>
              </a:path>
            </a:pathLst>
          </a:custGeom>
          <a:blipFill>
            <a:blip r:embed="rId2"/>
            <a:stretch>
              <a:fillRect l="0" t="0" r="0" b="0"/>
            </a:stretch>
          </a:blipFill>
        </p:spPr>
      </p:sp>
      <p:sp>
        <p:nvSpPr>
          <p:cNvPr name="TextBox 10" id="10"/>
          <p:cNvSpPr txBox="true"/>
          <p:nvPr/>
        </p:nvSpPr>
        <p:spPr>
          <a:xfrm rot="0">
            <a:off x="2030568" y="2587234"/>
            <a:ext cx="6909666" cy="409612"/>
          </a:xfrm>
          <a:prstGeom prst="rect">
            <a:avLst/>
          </a:prstGeom>
        </p:spPr>
        <p:txBody>
          <a:bodyPr anchor="t" rtlCol="false" tIns="0" lIns="0" bIns="0" rIns="0">
            <a:spAutoFit/>
          </a:bodyPr>
          <a:lstStyle/>
          <a:p>
            <a:pPr algn="l">
              <a:lnSpc>
                <a:spcPts val="2999"/>
              </a:lnSpc>
            </a:pPr>
            <a:r>
              <a:rPr lang="en-US" sz="2999" b="true">
                <a:solidFill>
                  <a:srgbClr val="073E88"/>
                </a:solidFill>
                <a:latin typeface="Poppins Bold"/>
                <a:ea typeface="Poppins Bold"/>
                <a:cs typeface="Poppins Bold"/>
                <a:sym typeface="Poppins Bold"/>
              </a:rPr>
              <a:t>Deep Analysis - Product</a:t>
            </a:r>
          </a:p>
        </p:txBody>
      </p:sp>
      <p:sp>
        <p:nvSpPr>
          <p:cNvPr name="TextBox 11" id="11"/>
          <p:cNvSpPr txBox="true"/>
          <p:nvPr/>
        </p:nvSpPr>
        <p:spPr>
          <a:xfrm rot="0">
            <a:off x="1438932" y="2709205"/>
            <a:ext cx="308497" cy="230491"/>
          </a:xfrm>
          <a:prstGeom prst="rect">
            <a:avLst/>
          </a:prstGeom>
        </p:spPr>
        <p:txBody>
          <a:bodyPr anchor="t" rtlCol="false" tIns="0" lIns="0" bIns="0" rIns="0">
            <a:spAutoFit/>
          </a:bodyPr>
          <a:lstStyle/>
          <a:p>
            <a:pPr algn="ctr">
              <a:lnSpc>
                <a:spcPts val="1614"/>
              </a:lnSpc>
            </a:pPr>
            <a:r>
              <a:rPr lang="en-US" sz="1614" b="true">
                <a:solidFill>
                  <a:srgbClr val="FFFFFF"/>
                </a:solidFill>
                <a:latin typeface="Poppins Bold"/>
                <a:ea typeface="Poppins Bold"/>
                <a:cs typeface="Poppins Bold"/>
                <a:sym typeface="Poppins Bold"/>
              </a:rPr>
              <a:t>2</a:t>
            </a:r>
          </a:p>
        </p:txBody>
      </p:sp>
      <p:sp>
        <p:nvSpPr>
          <p:cNvPr name="TextBox 12" id="12"/>
          <p:cNvSpPr txBox="true"/>
          <p:nvPr/>
        </p:nvSpPr>
        <p:spPr>
          <a:xfrm rot="0">
            <a:off x="1381446" y="1159910"/>
            <a:ext cx="10825909" cy="1252632"/>
          </a:xfrm>
          <a:prstGeom prst="rect">
            <a:avLst/>
          </a:prstGeom>
        </p:spPr>
        <p:txBody>
          <a:bodyPr anchor="t" rtlCol="false" tIns="0" lIns="0" bIns="0" rIns="0">
            <a:spAutoFit/>
          </a:bodyPr>
          <a:lstStyle/>
          <a:p>
            <a:pPr algn="l">
              <a:lnSpc>
                <a:spcPts val="3200"/>
              </a:lnSpc>
            </a:pPr>
            <a:r>
              <a:rPr lang="en-US" sz="3200" b="true">
                <a:solidFill>
                  <a:srgbClr val="073E88"/>
                </a:solidFill>
                <a:latin typeface="Poppins Bold"/>
                <a:ea typeface="Poppins Bold"/>
                <a:cs typeface="Poppins Bold"/>
                <a:sym typeface="Poppins Bold"/>
              </a:rPr>
              <a:t>Q1: Which marketing factors or channels contributed most to the decline in Conversion Rate (CR)?</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grpSp>
        <p:nvGrpSpPr>
          <p:cNvPr name="Group 5" id="5"/>
          <p:cNvGrpSpPr/>
          <p:nvPr/>
        </p:nvGrpSpPr>
        <p:grpSpPr>
          <a:xfrm rot="0">
            <a:off x="1410189" y="905367"/>
            <a:ext cx="15467622" cy="2862560"/>
            <a:chOff x="0" y="0"/>
            <a:chExt cx="4687626" cy="867529"/>
          </a:xfrm>
        </p:grpSpPr>
        <p:sp>
          <p:nvSpPr>
            <p:cNvPr name="Freeform 6" id="6"/>
            <p:cNvSpPr/>
            <p:nvPr/>
          </p:nvSpPr>
          <p:spPr>
            <a:xfrm flipH="false" flipV="false" rot="0">
              <a:off x="0" y="0"/>
              <a:ext cx="4687626" cy="867529"/>
            </a:xfrm>
            <a:custGeom>
              <a:avLst/>
              <a:gdLst/>
              <a:ahLst/>
              <a:cxnLst/>
              <a:rect r="r" b="b" t="t" l="l"/>
              <a:pathLst>
                <a:path h="867529" w="4687626">
                  <a:moveTo>
                    <a:pt x="15016" y="0"/>
                  </a:moveTo>
                  <a:lnTo>
                    <a:pt x="4672611" y="0"/>
                  </a:lnTo>
                  <a:cubicBezTo>
                    <a:pt x="4680903" y="0"/>
                    <a:pt x="4687626" y="6723"/>
                    <a:pt x="4687626" y="15016"/>
                  </a:cubicBezTo>
                  <a:lnTo>
                    <a:pt x="4687626" y="852513"/>
                  </a:lnTo>
                  <a:cubicBezTo>
                    <a:pt x="4687626" y="856496"/>
                    <a:pt x="4686044" y="860315"/>
                    <a:pt x="4683228" y="863131"/>
                  </a:cubicBezTo>
                  <a:cubicBezTo>
                    <a:pt x="4680412" y="865947"/>
                    <a:pt x="4676593" y="867529"/>
                    <a:pt x="4672611" y="867529"/>
                  </a:cubicBezTo>
                  <a:lnTo>
                    <a:pt x="15016" y="867529"/>
                  </a:lnTo>
                  <a:cubicBezTo>
                    <a:pt x="6723" y="867529"/>
                    <a:pt x="0" y="860806"/>
                    <a:pt x="0" y="852513"/>
                  </a:cubicBezTo>
                  <a:lnTo>
                    <a:pt x="0" y="15016"/>
                  </a:lnTo>
                  <a:cubicBezTo>
                    <a:pt x="0" y="6723"/>
                    <a:pt x="6723" y="0"/>
                    <a:pt x="15016" y="0"/>
                  </a:cubicBezTo>
                  <a:close/>
                </a:path>
              </a:pathLst>
            </a:custGeom>
            <a:solidFill>
              <a:srgbClr val="F5F7F7"/>
            </a:solidFill>
            <a:ln w="28575" cap="rnd">
              <a:solidFill>
                <a:srgbClr val="000000"/>
              </a:solidFill>
              <a:prstDash val="solid"/>
              <a:round/>
            </a:ln>
          </p:spPr>
        </p:sp>
        <p:sp>
          <p:nvSpPr>
            <p:cNvPr name="TextBox 7" id="7"/>
            <p:cNvSpPr txBox="true"/>
            <p:nvPr/>
          </p:nvSpPr>
          <p:spPr>
            <a:xfrm>
              <a:off x="0" y="-76200"/>
              <a:ext cx="4687626" cy="943729"/>
            </a:xfrm>
            <a:prstGeom prst="rect">
              <a:avLst/>
            </a:prstGeom>
          </p:spPr>
          <p:txBody>
            <a:bodyPr anchor="ctr" rtlCol="false" tIns="50800" lIns="50800" bIns="50800" rIns="50800"/>
            <a:lstStyle/>
            <a:p>
              <a:pPr algn="ctr">
                <a:lnSpc>
                  <a:spcPts val="3123"/>
                </a:lnSpc>
              </a:pPr>
            </a:p>
            <a:p>
              <a:pPr algn="ctr">
                <a:lnSpc>
                  <a:spcPts val="3123"/>
                </a:lnSpc>
              </a:pPr>
            </a:p>
          </p:txBody>
        </p:sp>
      </p:grpSp>
      <p:sp>
        <p:nvSpPr>
          <p:cNvPr name="TextBox 8" id="8"/>
          <p:cNvSpPr txBox="true"/>
          <p:nvPr/>
        </p:nvSpPr>
        <p:spPr>
          <a:xfrm rot="0">
            <a:off x="1841771" y="1180312"/>
            <a:ext cx="7244654" cy="2312670"/>
          </a:xfrm>
          <a:prstGeom prst="rect">
            <a:avLst/>
          </a:prstGeom>
        </p:spPr>
        <p:txBody>
          <a:bodyPr anchor="t" rtlCol="false" tIns="0" lIns="0" bIns="0" rIns="0">
            <a:spAutoFit/>
          </a:bodyPr>
          <a:lstStyle/>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Reach Rate</a:t>
            </a:r>
            <a:r>
              <a:rPr lang="en-US" sz="2100">
                <a:solidFill>
                  <a:srgbClr val="101419"/>
                </a:solidFill>
                <a:latin typeface="Poppins"/>
                <a:ea typeface="Poppins"/>
                <a:cs typeface="Poppins"/>
                <a:sym typeface="Poppins"/>
              </a:rPr>
              <a:t>: Accessories have the lowest average (0.43).</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Engagement</a:t>
            </a:r>
            <a:r>
              <a:rPr lang="en-US" sz="2100">
                <a:solidFill>
                  <a:srgbClr val="101419"/>
                </a:solidFill>
                <a:latin typeface="Poppins"/>
                <a:ea typeface="Poppins"/>
                <a:cs typeface="Poppins"/>
                <a:sym typeface="Poppins"/>
              </a:rPr>
              <a:t>: Shoes have the lowest average (24.27).</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CTR</a:t>
            </a:r>
            <a:r>
              <a:rPr lang="en-US" sz="2100">
                <a:solidFill>
                  <a:srgbClr val="101419"/>
                </a:solidFill>
                <a:latin typeface="Poppins"/>
                <a:ea typeface="Poppins"/>
                <a:cs typeface="Poppins"/>
                <a:sym typeface="Poppins"/>
              </a:rPr>
              <a:t>: Accessories (17.84%) and Shoes (18.14%) show the lowest averages.</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Impression</a:t>
            </a:r>
            <a:r>
              <a:rPr lang="en-US" sz="2100">
                <a:solidFill>
                  <a:srgbClr val="101419"/>
                </a:solidFill>
                <a:latin typeface="Poppins"/>
                <a:ea typeface="Poppins"/>
                <a:cs typeface="Poppins"/>
                <a:sym typeface="Poppins"/>
              </a:rPr>
              <a:t>: Accessories (11.98K) and Shirts (12.00K) are the lowest.</a:t>
            </a:r>
          </a:p>
        </p:txBody>
      </p:sp>
      <p:sp>
        <p:nvSpPr>
          <p:cNvPr name="TextBox 9" id="9"/>
          <p:cNvSpPr txBox="true"/>
          <p:nvPr/>
        </p:nvSpPr>
        <p:spPr>
          <a:xfrm rot="0">
            <a:off x="9201575" y="1180312"/>
            <a:ext cx="7244654" cy="2312670"/>
          </a:xfrm>
          <a:prstGeom prst="rect">
            <a:avLst/>
          </a:prstGeom>
        </p:spPr>
        <p:txBody>
          <a:bodyPr anchor="t" rtlCol="false" tIns="0" lIns="0" bIns="0" rIns="0">
            <a:spAutoFit/>
          </a:bodyPr>
          <a:lstStyle/>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Product Page View</a:t>
            </a:r>
            <a:r>
              <a:rPr lang="en-US" sz="2100">
                <a:solidFill>
                  <a:srgbClr val="101419"/>
                </a:solidFill>
                <a:latin typeface="Poppins"/>
                <a:ea typeface="Poppins"/>
                <a:cs typeface="Poppins"/>
                <a:sym typeface="Poppins"/>
              </a:rPr>
              <a:t>: Shirts and Pants have the lowest average (4.9).</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Purchase</a:t>
            </a:r>
            <a:r>
              <a:rPr lang="en-US" sz="2100">
                <a:solidFill>
                  <a:srgbClr val="101419"/>
                </a:solidFill>
                <a:latin typeface="Poppins"/>
                <a:ea typeface="Poppins"/>
                <a:cs typeface="Poppins"/>
                <a:sym typeface="Poppins"/>
              </a:rPr>
              <a:t>: Shirts have the lowest purchase count (486).</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AOV</a:t>
            </a:r>
            <a:r>
              <a:rPr lang="en-US" sz="2100">
                <a:solidFill>
                  <a:srgbClr val="101419"/>
                </a:solidFill>
                <a:latin typeface="Poppins"/>
                <a:ea typeface="Poppins"/>
                <a:cs typeface="Poppins"/>
                <a:sym typeface="Poppins"/>
              </a:rPr>
              <a:t>: Shirts have the lowest average order value (55.38K).</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Conversion Rate</a:t>
            </a:r>
            <a:r>
              <a:rPr lang="en-US" sz="2100">
                <a:solidFill>
                  <a:srgbClr val="101419"/>
                </a:solidFill>
                <a:latin typeface="Poppins"/>
                <a:ea typeface="Poppins"/>
                <a:cs typeface="Poppins"/>
                <a:sym typeface="Poppins"/>
              </a:rPr>
              <a:t>: Pants (1.14%) and Accessories (1.13%) show the lowest averages.</a:t>
            </a:r>
          </a:p>
        </p:txBody>
      </p:sp>
      <p:sp>
        <p:nvSpPr>
          <p:cNvPr name="TextBox 10" id="10"/>
          <p:cNvSpPr txBox="true"/>
          <p:nvPr/>
        </p:nvSpPr>
        <p:spPr>
          <a:xfrm rot="0">
            <a:off x="1410189" y="4397088"/>
            <a:ext cx="15467622" cy="962248"/>
          </a:xfrm>
          <a:prstGeom prst="rect">
            <a:avLst/>
          </a:prstGeom>
        </p:spPr>
        <p:txBody>
          <a:bodyPr anchor="t" rtlCol="false" tIns="0" lIns="0" bIns="0" rIns="0">
            <a:spAutoFit/>
          </a:bodyPr>
          <a:lstStyle/>
          <a:p>
            <a:pPr algn="just">
              <a:lnSpc>
                <a:spcPts val="2520"/>
              </a:lnSpc>
            </a:pPr>
            <a:r>
              <a:rPr lang="en-US" sz="2100">
                <a:solidFill>
                  <a:srgbClr val="101419"/>
                </a:solidFill>
                <a:latin typeface="Poppins"/>
                <a:ea typeface="Poppins"/>
                <a:cs typeface="Poppins"/>
                <a:sym typeface="Poppins"/>
              </a:rPr>
              <a:t>Several product categories show low performance across multiple metrics. Accessories have low reach rate and CTR, Shoes have low engagement and CTR, Shirts have low impressions, product page views, purchases, and AOV, while Pants and Accessories have low conversion rates.</a:t>
            </a:r>
          </a:p>
        </p:txBody>
      </p:sp>
      <p:sp>
        <p:nvSpPr>
          <p:cNvPr name="TextBox 11" id="11"/>
          <p:cNvSpPr txBox="true"/>
          <p:nvPr/>
        </p:nvSpPr>
        <p:spPr>
          <a:xfrm rot="0">
            <a:off x="1410189" y="3968426"/>
            <a:ext cx="6909666" cy="409612"/>
          </a:xfrm>
          <a:prstGeom prst="rect">
            <a:avLst/>
          </a:prstGeom>
        </p:spPr>
        <p:txBody>
          <a:bodyPr anchor="t" rtlCol="false" tIns="0" lIns="0" bIns="0" rIns="0">
            <a:spAutoFit/>
          </a:bodyPr>
          <a:lstStyle/>
          <a:p>
            <a:pPr algn="l">
              <a:lnSpc>
                <a:spcPts val="2999"/>
              </a:lnSpc>
            </a:pPr>
            <a:r>
              <a:rPr lang="en-US" sz="2999" b="true">
                <a:solidFill>
                  <a:srgbClr val="073E88"/>
                </a:solidFill>
                <a:latin typeface="Poppins Bold"/>
                <a:ea typeface="Poppins Bold"/>
                <a:cs typeface="Poppins Bold"/>
                <a:sym typeface="Poppins Bold"/>
              </a:rPr>
              <a:t>Summary</a:t>
            </a:r>
          </a:p>
        </p:txBody>
      </p:sp>
      <p:grpSp>
        <p:nvGrpSpPr>
          <p:cNvPr name="Group 12" id="12"/>
          <p:cNvGrpSpPr/>
          <p:nvPr/>
        </p:nvGrpSpPr>
        <p:grpSpPr>
          <a:xfrm rot="0">
            <a:off x="1410189" y="5954968"/>
            <a:ext cx="15467622" cy="3426664"/>
            <a:chOff x="0" y="0"/>
            <a:chExt cx="4687626" cy="1038487"/>
          </a:xfrm>
        </p:grpSpPr>
        <p:sp>
          <p:nvSpPr>
            <p:cNvPr name="Freeform 13" id="13"/>
            <p:cNvSpPr/>
            <p:nvPr/>
          </p:nvSpPr>
          <p:spPr>
            <a:xfrm flipH="false" flipV="false" rot="0">
              <a:off x="0" y="0"/>
              <a:ext cx="4687626" cy="1038487"/>
            </a:xfrm>
            <a:custGeom>
              <a:avLst/>
              <a:gdLst/>
              <a:ahLst/>
              <a:cxnLst/>
              <a:rect r="r" b="b" t="t" l="l"/>
              <a:pathLst>
                <a:path h="1038487" w="4687626">
                  <a:moveTo>
                    <a:pt x="15016" y="0"/>
                  </a:moveTo>
                  <a:lnTo>
                    <a:pt x="4672611" y="0"/>
                  </a:lnTo>
                  <a:cubicBezTo>
                    <a:pt x="4680903" y="0"/>
                    <a:pt x="4687626" y="6723"/>
                    <a:pt x="4687626" y="15016"/>
                  </a:cubicBezTo>
                  <a:lnTo>
                    <a:pt x="4687626" y="1023471"/>
                  </a:lnTo>
                  <a:cubicBezTo>
                    <a:pt x="4687626" y="1031764"/>
                    <a:pt x="4680903" y="1038487"/>
                    <a:pt x="4672611" y="1038487"/>
                  </a:cubicBezTo>
                  <a:lnTo>
                    <a:pt x="15016" y="1038487"/>
                  </a:lnTo>
                  <a:cubicBezTo>
                    <a:pt x="6723" y="1038487"/>
                    <a:pt x="0" y="1031764"/>
                    <a:pt x="0" y="1023471"/>
                  </a:cubicBezTo>
                  <a:lnTo>
                    <a:pt x="0" y="15016"/>
                  </a:lnTo>
                  <a:cubicBezTo>
                    <a:pt x="0" y="6723"/>
                    <a:pt x="6723" y="0"/>
                    <a:pt x="15016" y="0"/>
                  </a:cubicBezTo>
                  <a:close/>
                </a:path>
              </a:pathLst>
            </a:custGeom>
            <a:solidFill>
              <a:srgbClr val="F5F7F7"/>
            </a:solidFill>
            <a:ln w="28575" cap="rnd">
              <a:solidFill>
                <a:srgbClr val="000000"/>
              </a:solidFill>
              <a:prstDash val="solid"/>
              <a:round/>
            </a:ln>
          </p:spPr>
        </p:sp>
        <p:sp>
          <p:nvSpPr>
            <p:cNvPr name="TextBox 14" id="14"/>
            <p:cNvSpPr txBox="true"/>
            <p:nvPr/>
          </p:nvSpPr>
          <p:spPr>
            <a:xfrm>
              <a:off x="0" y="-76200"/>
              <a:ext cx="4687626" cy="1114687"/>
            </a:xfrm>
            <a:prstGeom prst="rect">
              <a:avLst/>
            </a:prstGeom>
          </p:spPr>
          <p:txBody>
            <a:bodyPr anchor="ctr" rtlCol="false" tIns="50800" lIns="50800" bIns="50800" rIns="50800"/>
            <a:lstStyle/>
            <a:p>
              <a:pPr algn="ctr">
                <a:lnSpc>
                  <a:spcPts val="3123"/>
                </a:lnSpc>
              </a:pPr>
            </a:p>
            <a:p>
              <a:pPr algn="ctr">
                <a:lnSpc>
                  <a:spcPts val="3123"/>
                </a:lnSpc>
              </a:pPr>
            </a:p>
          </p:txBody>
        </p:sp>
      </p:grpSp>
      <p:grpSp>
        <p:nvGrpSpPr>
          <p:cNvPr name="Group 15" id="15"/>
          <p:cNvGrpSpPr/>
          <p:nvPr/>
        </p:nvGrpSpPr>
        <p:grpSpPr>
          <a:xfrm rot="0">
            <a:off x="1790974" y="5635561"/>
            <a:ext cx="2795081" cy="656886"/>
            <a:chOff x="0" y="0"/>
            <a:chExt cx="1376317" cy="323455"/>
          </a:xfrm>
        </p:grpSpPr>
        <p:sp>
          <p:nvSpPr>
            <p:cNvPr name="Freeform 16" id="16"/>
            <p:cNvSpPr/>
            <p:nvPr/>
          </p:nvSpPr>
          <p:spPr>
            <a:xfrm flipH="false" flipV="false" rot="0">
              <a:off x="0" y="0"/>
              <a:ext cx="1376317" cy="323455"/>
            </a:xfrm>
            <a:custGeom>
              <a:avLst/>
              <a:gdLst/>
              <a:ahLst/>
              <a:cxnLst/>
              <a:rect r="r" b="b" t="t" l="l"/>
              <a:pathLst>
                <a:path h="323455" w="1376317">
                  <a:moveTo>
                    <a:pt x="41548" y="0"/>
                  </a:moveTo>
                  <a:lnTo>
                    <a:pt x="1334769" y="0"/>
                  </a:lnTo>
                  <a:cubicBezTo>
                    <a:pt x="1357715" y="0"/>
                    <a:pt x="1376317" y="18601"/>
                    <a:pt x="1376317" y="41548"/>
                  </a:cubicBezTo>
                  <a:lnTo>
                    <a:pt x="1376317" y="281907"/>
                  </a:lnTo>
                  <a:cubicBezTo>
                    <a:pt x="1376317" y="304853"/>
                    <a:pt x="1357715" y="323455"/>
                    <a:pt x="1334769" y="323455"/>
                  </a:cubicBezTo>
                  <a:lnTo>
                    <a:pt x="41548" y="323455"/>
                  </a:lnTo>
                  <a:cubicBezTo>
                    <a:pt x="18601" y="323455"/>
                    <a:pt x="0" y="304853"/>
                    <a:pt x="0" y="281907"/>
                  </a:cubicBezTo>
                  <a:lnTo>
                    <a:pt x="0" y="41548"/>
                  </a:lnTo>
                  <a:cubicBezTo>
                    <a:pt x="0" y="18601"/>
                    <a:pt x="18601" y="0"/>
                    <a:pt x="41548" y="0"/>
                  </a:cubicBezTo>
                  <a:close/>
                </a:path>
              </a:pathLst>
            </a:custGeom>
            <a:solidFill>
              <a:srgbClr val="073E88"/>
            </a:solidFill>
          </p:spPr>
        </p:sp>
        <p:sp>
          <p:nvSpPr>
            <p:cNvPr name="TextBox 17" id="17"/>
            <p:cNvSpPr txBox="true"/>
            <p:nvPr/>
          </p:nvSpPr>
          <p:spPr>
            <a:xfrm>
              <a:off x="0" y="-76200"/>
              <a:ext cx="1376317" cy="399655"/>
            </a:xfrm>
            <a:prstGeom prst="rect">
              <a:avLst/>
            </a:prstGeom>
          </p:spPr>
          <p:txBody>
            <a:bodyPr anchor="ctr" rtlCol="false" tIns="46707" lIns="46707" bIns="46707" rIns="46707"/>
            <a:lstStyle/>
            <a:p>
              <a:pPr algn="ctr">
                <a:lnSpc>
                  <a:spcPts val="3123"/>
                </a:lnSpc>
              </a:pPr>
            </a:p>
          </p:txBody>
        </p:sp>
      </p:grpSp>
      <p:sp>
        <p:nvSpPr>
          <p:cNvPr name="TextBox 18" id="18"/>
          <p:cNvSpPr txBox="true"/>
          <p:nvPr/>
        </p:nvSpPr>
        <p:spPr>
          <a:xfrm rot="0">
            <a:off x="1918732" y="5784750"/>
            <a:ext cx="2539565" cy="310432"/>
          </a:xfrm>
          <a:prstGeom prst="rect">
            <a:avLst/>
          </a:prstGeom>
        </p:spPr>
        <p:txBody>
          <a:bodyPr anchor="t" rtlCol="false" tIns="0" lIns="0" bIns="0" rIns="0">
            <a:spAutoFit/>
          </a:bodyPr>
          <a:lstStyle/>
          <a:p>
            <a:pPr algn="ctr">
              <a:lnSpc>
                <a:spcPts val="2272"/>
              </a:lnSpc>
            </a:pPr>
            <a:r>
              <a:rPr lang="en-US" b="true" sz="2065" spc="-82">
                <a:solidFill>
                  <a:srgbClr val="FFFFFF"/>
                </a:solidFill>
                <a:latin typeface="Poppins Bold"/>
                <a:ea typeface="Poppins Bold"/>
                <a:cs typeface="Poppins Bold"/>
                <a:sym typeface="Poppins Bold"/>
              </a:rPr>
              <a:t>Recommendation</a:t>
            </a:r>
          </a:p>
        </p:txBody>
      </p:sp>
      <p:sp>
        <p:nvSpPr>
          <p:cNvPr name="TextBox 19" id="19"/>
          <p:cNvSpPr txBox="true"/>
          <p:nvPr/>
        </p:nvSpPr>
        <p:spPr>
          <a:xfrm rot="0">
            <a:off x="1790974" y="6454372"/>
            <a:ext cx="14706053" cy="2598420"/>
          </a:xfrm>
          <a:prstGeom prst="rect">
            <a:avLst/>
          </a:prstGeom>
        </p:spPr>
        <p:txBody>
          <a:bodyPr anchor="t" rtlCol="false" tIns="0" lIns="0" bIns="0" rIns="0">
            <a:spAutoFit/>
          </a:bodyPr>
          <a:lstStyle/>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Accessories</a:t>
            </a:r>
            <a:r>
              <a:rPr lang="en-US" sz="2100">
                <a:solidFill>
                  <a:srgbClr val="101419"/>
                </a:solidFill>
                <a:latin typeface="Poppins"/>
                <a:ea typeface="Poppins"/>
                <a:cs typeface="Poppins"/>
                <a:sym typeface="Poppins"/>
              </a:rPr>
              <a:t>: Run awareness campaigns to increase visibility, implement bunding or special discounts to attract initial interest, and improve CTR through retargeting and more compelling ad creatives.</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Shirts</a:t>
            </a:r>
            <a:r>
              <a:rPr lang="en-US" sz="2100">
                <a:solidFill>
                  <a:srgbClr val="101419"/>
                </a:solidFill>
                <a:latin typeface="Poppins"/>
                <a:ea typeface="Poppins"/>
                <a:cs typeface="Poppins"/>
                <a:sym typeface="Poppins"/>
              </a:rPr>
              <a:t>: Launch awareness campaigns and discount-based promotions to boost traffic, optimize product pages (images, description, ratings, trust elements), apply sales strategies such as upselling, cross-selling, or limited-time promotions to drive conversion.</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Shoes</a:t>
            </a:r>
            <a:r>
              <a:rPr lang="en-US" sz="2100">
                <a:solidFill>
                  <a:srgbClr val="101419"/>
                </a:solidFill>
                <a:latin typeface="Poppins"/>
                <a:ea typeface="Poppins"/>
                <a:cs typeface="Poppins"/>
                <a:sym typeface="Poppins"/>
              </a:rPr>
              <a:t>: Increase engagement through interactive content, user reviews, and loyalty programs, as well as retargeting and creative ad variations to reach more qualified audiences.</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Pants</a:t>
            </a:r>
            <a:r>
              <a:rPr lang="en-US" sz="2100">
                <a:solidFill>
                  <a:srgbClr val="101419"/>
                </a:solidFill>
                <a:latin typeface="Poppins"/>
                <a:ea typeface="Poppins"/>
                <a:cs typeface="Poppins"/>
                <a:sym typeface="Poppins"/>
              </a:rPr>
              <a:t>: Focus on product page optimization to address low conversion and apply sales-driving strategies such as limited-time offers, upselling, or product recommendations.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grpSp>
        <p:nvGrpSpPr>
          <p:cNvPr name="Group 5" id="5"/>
          <p:cNvGrpSpPr/>
          <p:nvPr/>
        </p:nvGrpSpPr>
        <p:grpSpPr>
          <a:xfrm rot="0">
            <a:off x="1381446" y="2607953"/>
            <a:ext cx="423471" cy="42347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7" id="7"/>
            <p:cNvSpPr txBox="true"/>
            <p:nvPr/>
          </p:nvSpPr>
          <p:spPr>
            <a:xfrm>
              <a:off x="76200" y="38100"/>
              <a:ext cx="660400" cy="698500"/>
            </a:xfrm>
            <a:prstGeom prst="rect">
              <a:avLst/>
            </a:prstGeom>
          </p:spPr>
          <p:txBody>
            <a:bodyPr anchor="ctr" rtlCol="false" tIns="19805" lIns="19805" bIns="19805" rIns="19805"/>
            <a:lstStyle/>
            <a:p>
              <a:pPr algn="ctr">
                <a:lnSpc>
                  <a:spcPts val="2659"/>
                </a:lnSpc>
              </a:pPr>
            </a:p>
          </p:txBody>
        </p:sp>
      </p:grpSp>
      <p:sp>
        <p:nvSpPr>
          <p:cNvPr name="TextBox 8" id="8"/>
          <p:cNvSpPr txBox="true"/>
          <p:nvPr/>
        </p:nvSpPr>
        <p:spPr>
          <a:xfrm rot="0">
            <a:off x="1438932" y="2709205"/>
            <a:ext cx="308497" cy="230491"/>
          </a:xfrm>
          <a:prstGeom prst="rect">
            <a:avLst/>
          </a:prstGeom>
        </p:spPr>
        <p:txBody>
          <a:bodyPr anchor="t" rtlCol="false" tIns="0" lIns="0" bIns="0" rIns="0">
            <a:spAutoFit/>
          </a:bodyPr>
          <a:lstStyle/>
          <a:p>
            <a:pPr algn="ctr">
              <a:lnSpc>
                <a:spcPts val="1614"/>
              </a:lnSpc>
            </a:pPr>
            <a:r>
              <a:rPr lang="en-US" sz="1614" b="true">
                <a:solidFill>
                  <a:srgbClr val="FFFFFF"/>
                </a:solidFill>
                <a:latin typeface="Poppins Bold"/>
                <a:ea typeface="Poppins Bold"/>
                <a:cs typeface="Poppins Bold"/>
                <a:sym typeface="Poppins Bold"/>
              </a:rPr>
              <a:t>3</a:t>
            </a:r>
          </a:p>
        </p:txBody>
      </p:sp>
      <p:sp>
        <p:nvSpPr>
          <p:cNvPr name="Freeform 9" id="9"/>
          <p:cNvSpPr/>
          <p:nvPr/>
        </p:nvSpPr>
        <p:spPr>
          <a:xfrm flipH="false" flipV="false" rot="0">
            <a:off x="13310266" y="1028700"/>
            <a:ext cx="3596288" cy="2002723"/>
          </a:xfrm>
          <a:custGeom>
            <a:avLst/>
            <a:gdLst/>
            <a:ahLst/>
            <a:cxnLst/>
            <a:rect r="r" b="b" t="t" l="l"/>
            <a:pathLst>
              <a:path h="2002723" w="3596288">
                <a:moveTo>
                  <a:pt x="0" y="0"/>
                </a:moveTo>
                <a:lnTo>
                  <a:pt x="3596288" y="0"/>
                </a:lnTo>
                <a:lnTo>
                  <a:pt x="3596288" y="2002723"/>
                </a:lnTo>
                <a:lnTo>
                  <a:pt x="0" y="2002723"/>
                </a:lnTo>
                <a:lnTo>
                  <a:pt x="0" y="0"/>
                </a:lnTo>
                <a:close/>
              </a:path>
            </a:pathLst>
          </a:custGeom>
          <a:blipFill>
            <a:blip r:embed="rId2"/>
            <a:stretch>
              <a:fillRect l="0" t="0" r="0" b="0"/>
            </a:stretch>
          </a:blipFill>
        </p:spPr>
      </p:sp>
      <p:sp>
        <p:nvSpPr>
          <p:cNvPr name="TextBox 10" id="10"/>
          <p:cNvSpPr txBox="true"/>
          <p:nvPr/>
        </p:nvSpPr>
        <p:spPr>
          <a:xfrm rot="0">
            <a:off x="2030568" y="2587234"/>
            <a:ext cx="6909666" cy="409612"/>
          </a:xfrm>
          <a:prstGeom prst="rect">
            <a:avLst/>
          </a:prstGeom>
        </p:spPr>
        <p:txBody>
          <a:bodyPr anchor="t" rtlCol="false" tIns="0" lIns="0" bIns="0" rIns="0">
            <a:spAutoFit/>
          </a:bodyPr>
          <a:lstStyle/>
          <a:p>
            <a:pPr algn="l">
              <a:lnSpc>
                <a:spcPts val="2999"/>
              </a:lnSpc>
            </a:pPr>
            <a:r>
              <a:rPr lang="en-US" sz="2999" b="true">
                <a:solidFill>
                  <a:srgbClr val="073E88"/>
                </a:solidFill>
                <a:latin typeface="Poppins Bold"/>
                <a:ea typeface="Poppins Bold"/>
                <a:cs typeface="Poppins Bold"/>
                <a:sym typeface="Poppins Bold"/>
              </a:rPr>
              <a:t>Deep Analysis - Ads</a:t>
            </a:r>
          </a:p>
        </p:txBody>
      </p:sp>
      <p:sp>
        <p:nvSpPr>
          <p:cNvPr name="TextBox 11" id="11"/>
          <p:cNvSpPr txBox="true"/>
          <p:nvPr/>
        </p:nvSpPr>
        <p:spPr>
          <a:xfrm rot="0">
            <a:off x="1381446" y="1159910"/>
            <a:ext cx="10825909" cy="1252632"/>
          </a:xfrm>
          <a:prstGeom prst="rect">
            <a:avLst/>
          </a:prstGeom>
        </p:spPr>
        <p:txBody>
          <a:bodyPr anchor="t" rtlCol="false" tIns="0" lIns="0" bIns="0" rIns="0">
            <a:spAutoFit/>
          </a:bodyPr>
          <a:lstStyle/>
          <a:p>
            <a:pPr algn="l">
              <a:lnSpc>
                <a:spcPts val="3200"/>
              </a:lnSpc>
            </a:pPr>
            <a:r>
              <a:rPr lang="en-US" sz="3200" b="true">
                <a:solidFill>
                  <a:srgbClr val="073E88"/>
                </a:solidFill>
                <a:latin typeface="Poppins Bold"/>
                <a:ea typeface="Poppins Bold"/>
                <a:cs typeface="Poppins Bold"/>
                <a:sym typeface="Poppins Bold"/>
              </a:rPr>
              <a:t>Q1: Which marketing factors or channels contributed most to the decline in Conversion Rate (CR)?</a:t>
            </a:r>
          </a:p>
        </p:txBody>
      </p:sp>
      <p:grpSp>
        <p:nvGrpSpPr>
          <p:cNvPr name="Group 12" id="12"/>
          <p:cNvGrpSpPr/>
          <p:nvPr/>
        </p:nvGrpSpPr>
        <p:grpSpPr>
          <a:xfrm rot="0">
            <a:off x="1381446" y="3470545"/>
            <a:ext cx="15525109" cy="5787755"/>
            <a:chOff x="0" y="0"/>
            <a:chExt cx="4705048" cy="1754040"/>
          </a:xfrm>
        </p:grpSpPr>
        <p:sp>
          <p:nvSpPr>
            <p:cNvPr name="Freeform 13" id="13"/>
            <p:cNvSpPr/>
            <p:nvPr/>
          </p:nvSpPr>
          <p:spPr>
            <a:xfrm flipH="false" flipV="false" rot="0">
              <a:off x="0" y="0"/>
              <a:ext cx="4705048" cy="1754040"/>
            </a:xfrm>
            <a:custGeom>
              <a:avLst/>
              <a:gdLst/>
              <a:ahLst/>
              <a:cxnLst/>
              <a:rect r="r" b="b" t="t" l="l"/>
              <a:pathLst>
                <a:path h="1754040" w="4705048">
                  <a:moveTo>
                    <a:pt x="14960" y="0"/>
                  </a:moveTo>
                  <a:lnTo>
                    <a:pt x="4690088" y="0"/>
                  </a:lnTo>
                  <a:cubicBezTo>
                    <a:pt x="4694056" y="0"/>
                    <a:pt x="4697861" y="1576"/>
                    <a:pt x="4700666" y="4382"/>
                  </a:cubicBezTo>
                  <a:cubicBezTo>
                    <a:pt x="4703472" y="7187"/>
                    <a:pt x="4705048" y="10992"/>
                    <a:pt x="4705048" y="14960"/>
                  </a:cubicBezTo>
                  <a:lnTo>
                    <a:pt x="4705048" y="1739080"/>
                  </a:lnTo>
                  <a:cubicBezTo>
                    <a:pt x="4705048" y="1747342"/>
                    <a:pt x="4698350" y="1754040"/>
                    <a:pt x="4690088" y="1754040"/>
                  </a:cubicBezTo>
                  <a:lnTo>
                    <a:pt x="14960" y="1754040"/>
                  </a:lnTo>
                  <a:cubicBezTo>
                    <a:pt x="10992" y="1754040"/>
                    <a:pt x="7187" y="1752464"/>
                    <a:pt x="4382" y="1749659"/>
                  </a:cubicBezTo>
                  <a:cubicBezTo>
                    <a:pt x="1576" y="1746853"/>
                    <a:pt x="0" y="1743048"/>
                    <a:pt x="0" y="1739080"/>
                  </a:cubicBezTo>
                  <a:lnTo>
                    <a:pt x="0" y="14960"/>
                  </a:lnTo>
                  <a:cubicBezTo>
                    <a:pt x="0" y="10992"/>
                    <a:pt x="1576" y="7187"/>
                    <a:pt x="4382" y="4382"/>
                  </a:cubicBezTo>
                  <a:cubicBezTo>
                    <a:pt x="7187" y="1576"/>
                    <a:pt x="10992" y="0"/>
                    <a:pt x="14960" y="0"/>
                  </a:cubicBezTo>
                  <a:close/>
                </a:path>
              </a:pathLst>
            </a:custGeom>
            <a:solidFill>
              <a:srgbClr val="F5F7F7"/>
            </a:solidFill>
            <a:ln w="28575" cap="rnd">
              <a:solidFill>
                <a:srgbClr val="000000"/>
              </a:solidFill>
              <a:prstDash val="solid"/>
              <a:round/>
            </a:ln>
          </p:spPr>
        </p:sp>
        <p:sp>
          <p:nvSpPr>
            <p:cNvPr name="TextBox 14" id="14"/>
            <p:cNvSpPr txBox="true"/>
            <p:nvPr/>
          </p:nvSpPr>
          <p:spPr>
            <a:xfrm>
              <a:off x="0" y="-76200"/>
              <a:ext cx="4705048" cy="1830240"/>
            </a:xfrm>
            <a:prstGeom prst="rect">
              <a:avLst/>
            </a:prstGeom>
          </p:spPr>
          <p:txBody>
            <a:bodyPr anchor="ctr" rtlCol="false" tIns="50800" lIns="50800" bIns="50800" rIns="50800"/>
            <a:lstStyle/>
            <a:p>
              <a:pPr algn="ctr">
                <a:lnSpc>
                  <a:spcPts val="3123"/>
                </a:lnSpc>
              </a:pPr>
            </a:p>
            <a:p>
              <a:pPr algn="ctr">
                <a:lnSpc>
                  <a:spcPts val="3123"/>
                </a:lnSpc>
              </a:pPr>
            </a:p>
          </p:txBody>
        </p:sp>
      </p:grpSp>
      <p:sp>
        <p:nvSpPr>
          <p:cNvPr name="TextBox 15" id="15"/>
          <p:cNvSpPr txBox="true"/>
          <p:nvPr/>
        </p:nvSpPr>
        <p:spPr>
          <a:xfrm rot="0">
            <a:off x="1805238" y="4220834"/>
            <a:ext cx="14677524" cy="638026"/>
          </a:xfrm>
          <a:prstGeom prst="rect">
            <a:avLst/>
          </a:prstGeom>
        </p:spPr>
        <p:txBody>
          <a:bodyPr anchor="t" rtlCol="false" tIns="0" lIns="0" bIns="0" rIns="0">
            <a:spAutoFit/>
          </a:bodyPr>
          <a:lstStyle/>
          <a:p>
            <a:pPr algn="just" marL="431801" indent="-215900" lvl="1">
              <a:lnSpc>
                <a:spcPts val="2400"/>
              </a:lnSpc>
              <a:buFont typeface="Arial"/>
              <a:buChar char="•"/>
            </a:pPr>
            <a:r>
              <a:rPr lang="en-US" b="true" sz="2000">
                <a:solidFill>
                  <a:srgbClr val="101419"/>
                </a:solidFill>
                <a:latin typeface="Poppins Bold"/>
                <a:ea typeface="Poppins Bold"/>
                <a:cs typeface="Poppins Bold"/>
                <a:sym typeface="Poppins Bold"/>
              </a:rPr>
              <a:t>CTR</a:t>
            </a:r>
            <a:r>
              <a:rPr lang="en-US" sz="2000">
                <a:solidFill>
                  <a:srgbClr val="101419"/>
                </a:solidFill>
                <a:latin typeface="Poppins"/>
                <a:ea typeface="Poppins"/>
                <a:cs typeface="Poppins"/>
                <a:sym typeface="Poppins"/>
              </a:rPr>
              <a:t>: Campaign A (32.08%) , Campaign B (36.4%), dan Campaign C (31.52%)</a:t>
            </a:r>
          </a:p>
          <a:p>
            <a:pPr algn="just" marL="431801" indent="-215900" lvl="1">
              <a:lnSpc>
                <a:spcPts val="2400"/>
              </a:lnSpc>
              <a:buFont typeface="Arial"/>
              <a:buChar char="•"/>
            </a:pPr>
            <a:r>
              <a:rPr lang="en-US" b="true" sz="2000">
                <a:solidFill>
                  <a:srgbClr val="101419"/>
                </a:solidFill>
                <a:latin typeface="Poppins Bold"/>
                <a:ea typeface="Poppins Bold"/>
                <a:cs typeface="Poppins Bold"/>
                <a:sym typeface="Poppins Bold"/>
              </a:rPr>
              <a:t>Rate Reach</a:t>
            </a:r>
            <a:r>
              <a:rPr lang="en-US" sz="2000">
                <a:solidFill>
                  <a:srgbClr val="101419"/>
                </a:solidFill>
                <a:latin typeface="Poppins"/>
                <a:ea typeface="Poppins"/>
                <a:cs typeface="Poppins"/>
                <a:sym typeface="Poppins"/>
              </a:rPr>
              <a:t>: Campaign A (33.94%) , Campaign B (33.41%), dan Campaign C (32.64%)</a:t>
            </a:r>
          </a:p>
        </p:txBody>
      </p:sp>
      <p:sp>
        <p:nvSpPr>
          <p:cNvPr name="TextBox 16" id="16"/>
          <p:cNvSpPr txBox="true"/>
          <p:nvPr/>
        </p:nvSpPr>
        <p:spPr>
          <a:xfrm rot="0">
            <a:off x="1805238" y="3863397"/>
            <a:ext cx="6556715" cy="349324"/>
          </a:xfrm>
          <a:prstGeom prst="rect">
            <a:avLst/>
          </a:prstGeom>
        </p:spPr>
        <p:txBody>
          <a:bodyPr anchor="t" rtlCol="false" tIns="0" lIns="0" bIns="0" rIns="0">
            <a:spAutoFit/>
          </a:bodyPr>
          <a:lstStyle/>
          <a:p>
            <a:pPr algn="l">
              <a:lnSpc>
                <a:spcPts val="2499"/>
              </a:lnSpc>
            </a:pPr>
            <a:r>
              <a:rPr lang="en-US" sz="2499" b="true">
                <a:solidFill>
                  <a:srgbClr val="073E88"/>
                </a:solidFill>
                <a:latin typeface="Poppins Bold"/>
                <a:ea typeface="Poppins Bold"/>
                <a:cs typeface="Poppins Bold"/>
                <a:sym typeface="Poppins Bold"/>
              </a:rPr>
              <a:t>Accessory</a:t>
            </a:r>
          </a:p>
        </p:txBody>
      </p:sp>
      <p:sp>
        <p:nvSpPr>
          <p:cNvPr name="TextBox 17" id="17"/>
          <p:cNvSpPr txBox="true"/>
          <p:nvPr/>
        </p:nvSpPr>
        <p:spPr>
          <a:xfrm rot="0">
            <a:off x="1777963" y="5565888"/>
            <a:ext cx="14677524" cy="638026"/>
          </a:xfrm>
          <a:prstGeom prst="rect">
            <a:avLst/>
          </a:prstGeom>
        </p:spPr>
        <p:txBody>
          <a:bodyPr anchor="t" rtlCol="false" tIns="0" lIns="0" bIns="0" rIns="0">
            <a:spAutoFit/>
          </a:bodyPr>
          <a:lstStyle/>
          <a:p>
            <a:pPr algn="just" marL="431801" indent="-215900" lvl="1">
              <a:lnSpc>
                <a:spcPts val="2400"/>
              </a:lnSpc>
              <a:buFont typeface="Arial"/>
              <a:buChar char="•"/>
            </a:pPr>
            <a:r>
              <a:rPr lang="en-US" b="true" sz="2000">
                <a:solidFill>
                  <a:srgbClr val="101419"/>
                </a:solidFill>
                <a:latin typeface="Poppins Bold"/>
                <a:ea typeface="Poppins Bold"/>
                <a:cs typeface="Poppins Bold"/>
                <a:sym typeface="Poppins Bold"/>
              </a:rPr>
              <a:t>CTR</a:t>
            </a:r>
            <a:r>
              <a:rPr lang="en-US" sz="2000">
                <a:solidFill>
                  <a:srgbClr val="101419"/>
                </a:solidFill>
                <a:latin typeface="Poppins"/>
                <a:ea typeface="Poppins"/>
                <a:cs typeface="Poppins"/>
                <a:sym typeface="Poppins"/>
              </a:rPr>
              <a:t>: Campaign A (34.91%) , Campaign B (34.15%), dan Campaign C (30.94%) </a:t>
            </a:r>
          </a:p>
          <a:p>
            <a:pPr algn="just" marL="431801" indent="-215900" lvl="1">
              <a:lnSpc>
                <a:spcPts val="2400"/>
              </a:lnSpc>
              <a:buFont typeface="Arial"/>
              <a:buChar char="•"/>
            </a:pPr>
            <a:r>
              <a:rPr lang="en-US" b="true" sz="2000">
                <a:solidFill>
                  <a:srgbClr val="101419"/>
                </a:solidFill>
                <a:latin typeface="Poppins Bold"/>
                <a:ea typeface="Poppins Bold"/>
                <a:cs typeface="Poppins Bold"/>
                <a:sym typeface="Poppins Bold"/>
              </a:rPr>
              <a:t>Rate Reach</a:t>
            </a:r>
            <a:r>
              <a:rPr lang="en-US" sz="2000">
                <a:solidFill>
                  <a:srgbClr val="101419"/>
                </a:solidFill>
                <a:latin typeface="Poppins"/>
                <a:ea typeface="Poppins"/>
                <a:cs typeface="Poppins"/>
                <a:sym typeface="Poppins"/>
              </a:rPr>
              <a:t>: Campaign A (35.99%) , Campaign B (33.41%), dan Campaign C (30.6%)</a:t>
            </a:r>
          </a:p>
        </p:txBody>
      </p:sp>
      <p:sp>
        <p:nvSpPr>
          <p:cNvPr name="TextBox 18" id="18"/>
          <p:cNvSpPr txBox="true"/>
          <p:nvPr/>
        </p:nvSpPr>
        <p:spPr>
          <a:xfrm rot="0">
            <a:off x="1777963" y="5208451"/>
            <a:ext cx="6556715" cy="349324"/>
          </a:xfrm>
          <a:prstGeom prst="rect">
            <a:avLst/>
          </a:prstGeom>
        </p:spPr>
        <p:txBody>
          <a:bodyPr anchor="t" rtlCol="false" tIns="0" lIns="0" bIns="0" rIns="0">
            <a:spAutoFit/>
          </a:bodyPr>
          <a:lstStyle/>
          <a:p>
            <a:pPr algn="l">
              <a:lnSpc>
                <a:spcPts val="2499"/>
              </a:lnSpc>
            </a:pPr>
            <a:r>
              <a:rPr lang="en-US" sz="2499" b="true">
                <a:solidFill>
                  <a:srgbClr val="073E88"/>
                </a:solidFill>
                <a:latin typeface="Poppins Bold"/>
                <a:ea typeface="Poppins Bold"/>
                <a:cs typeface="Poppins Bold"/>
                <a:sym typeface="Poppins Bold"/>
              </a:rPr>
              <a:t>Pants</a:t>
            </a:r>
          </a:p>
        </p:txBody>
      </p:sp>
      <p:sp>
        <p:nvSpPr>
          <p:cNvPr name="TextBox 19" id="19"/>
          <p:cNvSpPr txBox="true"/>
          <p:nvPr/>
        </p:nvSpPr>
        <p:spPr>
          <a:xfrm rot="0">
            <a:off x="1832513" y="6910943"/>
            <a:ext cx="14677524" cy="638026"/>
          </a:xfrm>
          <a:prstGeom prst="rect">
            <a:avLst/>
          </a:prstGeom>
        </p:spPr>
        <p:txBody>
          <a:bodyPr anchor="t" rtlCol="false" tIns="0" lIns="0" bIns="0" rIns="0">
            <a:spAutoFit/>
          </a:bodyPr>
          <a:lstStyle/>
          <a:p>
            <a:pPr algn="just" marL="431801" indent="-215900" lvl="1">
              <a:lnSpc>
                <a:spcPts val="2400"/>
              </a:lnSpc>
              <a:buFont typeface="Arial"/>
              <a:buChar char="•"/>
            </a:pPr>
            <a:r>
              <a:rPr lang="en-US" b="true" sz="2000">
                <a:solidFill>
                  <a:srgbClr val="101419"/>
                </a:solidFill>
                <a:latin typeface="Poppins Bold"/>
                <a:ea typeface="Poppins Bold"/>
                <a:cs typeface="Poppins Bold"/>
                <a:sym typeface="Poppins Bold"/>
              </a:rPr>
              <a:t>CTR</a:t>
            </a:r>
            <a:r>
              <a:rPr lang="en-US" sz="2000">
                <a:solidFill>
                  <a:srgbClr val="101419"/>
                </a:solidFill>
                <a:latin typeface="Poppins"/>
                <a:ea typeface="Poppins"/>
                <a:cs typeface="Poppins"/>
                <a:sym typeface="Poppins"/>
              </a:rPr>
              <a:t>: Campaign A (34.92%) , Campaign B (31.48%), dan Campaign C (33.61%)</a:t>
            </a:r>
          </a:p>
          <a:p>
            <a:pPr algn="just" marL="431801" indent="-215900" lvl="1">
              <a:lnSpc>
                <a:spcPts val="2400"/>
              </a:lnSpc>
              <a:buFont typeface="Arial"/>
              <a:buChar char="•"/>
            </a:pPr>
            <a:r>
              <a:rPr lang="en-US" b="true" sz="2000">
                <a:solidFill>
                  <a:srgbClr val="101419"/>
                </a:solidFill>
                <a:latin typeface="Poppins Bold"/>
                <a:ea typeface="Poppins Bold"/>
                <a:cs typeface="Poppins Bold"/>
                <a:sym typeface="Poppins Bold"/>
              </a:rPr>
              <a:t>Rate Reach</a:t>
            </a:r>
            <a:r>
              <a:rPr lang="en-US" sz="2000">
                <a:solidFill>
                  <a:srgbClr val="101419"/>
                </a:solidFill>
                <a:latin typeface="Poppins"/>
                <a:ea typeface="Poppins"/>
                <a:cs typeface="Poppins"/>
                <a:sym typeface="Poppins"/>
              </a:rPr>
              <a:t>:  Campaign A (33.06%) , Campaign B (34.3%), dan Campaign C (32.63%)</a:t>
            </a:r>
          </a:p>
        </p:txBody>
      </p:sp>
      <p:sp>
        <p:nvSpPr>
          <p:cNvPr name="TextBox 20" id="20"/>
          <p:cNvSpPr txBox="true"/>
          <p:nvPr/>
        </p:nvSpPr>
        <p:spPr>
          <a:xfrm rot="0">
            <a:off x="1832513" y="6553506"/>
            <a:ext cx="6556715" cy="349324"/>
          </a:xfrm>
          <a:prstGeom prst="rect">
            <a:avLst/>
          </a:prstGeom>
        </p:spPr>
        <p:txBody>
          <a:bodyPr anchor="t" rtlCol="false" tIns="0" lIns="0" bIns="0" rIns="0">
            <a:spAutoFit/>
          </a:bodyPr>
          <a:lstStyle/>
          <a:p>
            <a:pPr algn="l">
              <a:lnSpc>
                <a:spcPts val="2499"/>
              </a:lnSpc>
            </a:pPr>
            <a:r>
              <a:rPr lang="en-US" sz="2499" b="true">
                <a:solidFill>
                  <a:srgbClr val="073E88"/>
                </a:solidFill>
                <a:latin typeface="Poppins Bold"/>
                <a:ea typeface="Poppins Bold"/>
                <a:cs typeface="Poppins Bold"/>
                <a:sym typeface="Poppins Bold"/>
              </a:rPr>
              <a:t>Shirt</a:t>
            </a:r>
          </a:p>
        </p:txBody>
      </p:sp>
      <p:sp>
        <p:nvSpPr>
          <p:cNvPr name="TextBox 21" id="21"/>
          <p:cNvSpPr txBox="true"/>
          <p:nvPr/>
        </p:nvSpPr>
        <p:spPr>
          <a:xfrm rot="0">
            <a:off x="1832513" y="8255997"/>
            <a:ext cx="14677524" cy="638026"/>
          </a:xfrm>
          <a:prstGeom prst="rect">
            <a:avLst/>
          </a:prstGeom>
        </p:spPr>
        <p:txBody>
          <a:bodyPr anchor="t" rtlCol="false" tIns="0" lIns="0" bIns="0" rIns="0">
            <a:spAutoFit/>
          </a:bodyPr>
          <a:lstStyle/>
          <a:p>
            <a:pPr algn="just" marL="431801" indent="-215900" lvl="1">
              <a:lnSpc>
                <a:spcPts val="2400"/>
              </a:lnSpc>
              <a:buFont typeface="Arial"/>
              <a:buChar char="•"/>
            </a:pPr>
            <a:r>
              <a:rPr lang="en-US" b="true" sz="2000">
                <a:solidFill>
                  <a:srgbClr val="101419"/>
                </a:solidFill>
                <a:latin typeface="Poppins Bold"/>
                <a:ea typeface="Poppins Bold"/>
                <a:cs typeface="Poppins Bold"/>
                <a:sym typeface="Poppins Bold"/>
              </a:rPr>
              <a:t>CTR</a:t>
            </a:r>
            <a:r>
              <a:rPr lang="en-US" sz="2000">
                <a:solidFill>
                  <a:srgbClr val="101419"/>
                </a:solidFill>
                <a:latin typeface="Poppins"/>
                <a:ea typeface="Poppins"/>
                <a:cs typeface="Poppins"/>
                <a:sym typeface="Poppins"/>
              </a:rPr>
              <a:t>: Campaign A (32.5%) , Campaign B (33.54%), dan Campaign C (33.96%)</a:t>
            </a:r>
          </a:p>
          <a:p>
            <a:pPr algn="just" marL="431801" indent="-215900" lvl="1">
              <a:lnSpc>
                <a:spcPts val="2400"/>
              </a:lnSpc>
              <a:buFont typeface="Arial"/>
              <a:buChar char="•"/>
            </a:pPr>
            <a:r>
              <a:rPr lang="en-US" b="true" sz="2000">
                <a:solidFill>
                  <a:srgbClr val="101419"/>
                </a:solidFill>
                <a:latin typeface="Poppins Bold"/>
                <a:ea typeface="Poppins Bold"/>
                <a:cs typeface="Poppins Bold"/>
                <a:sym typeface="Poppins Bold"/>
              </a:rPr>
              <a:t>Rate Reach</a:t>
            </a:r>
            <a:r>
              <a:rPr lang="en-US" sz="2000">
                <a:solidFill>
                  <a:srgbClr val="101419"/>
                </a:solidFill>
                <a:latin typeface="Poppins"/>
                <a:ea typeface="Poppins"/>
                <a:cs typeface="Poppins"/>
                <a:sym typeface="Poppins"/>
              </a:rPr>
              <a:t>:  Campaign A (32.89%) , Campaign B (33.57%), dan Campaign C (33.54%)</a:t>
            </a:r>
          </a:p>
        </p:txBody>
      </p:sp>
      <p:sp>
        <p:nvSpPr>
          <p:cNvPr name="TextBox 22" id="22"/>
          <p:cNvSpPr txBox="true"/>
          <p:nvPr/>
        </p:nvSpPr>
        <p:spPr>
          <a:xfrm rot="0">
            <a:off x="1832513" y="7898560"/>
            <a:ext cx="6556715" cy="349324"/>
          </a:xfrm>
          <a:prstGeom prst="rect">
            <a:avLst/>
          </a:prstGeom>
        </p:spPr>
        <p:txBody>
          <a:bodyPr anchor="t" rtlCol="false" tIns="0" lIns="0" bIns="0" rIns="0">
            <a:spAutoFit/>
          </a:bodyPr>
          <a:lstStyle/>
          <a:p>
            <a:pPr algn="l">
              <a:lnSpc>
                <a:spcPts val="2499"/>
              </a:lnSpc>
            </a:pPr>
            <a:r>
              <a:rPr lang="en-US" sz="2499" b="true">
                <a:solidFill>
                  <a:srgbClr val="073E88"/>
                </a:solidFill>
                <a:latin typeface="Poppins Bold"/>
                <a:ea typeface="Poppins Bold"/>
                <a:cs typeface="Poppins Bold"/>
                <a:sym typeface="Poppins Bold"/>
              </a:rPr>
              <a:t>Shoes</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sp>
        <p:nvSpPr>
          <p:cNvPr name="TextBox 5" id="5"/>
          <p:cNvSpPr txBox="true"/>
          <p:nvPr/>
        </p:nvSpPr>
        <p:spPr>
          <a:xfrm rot="0">
            <a:off x="1410189" y="1844396"/>
            <a:ext cx="15467622" cy="962248"/>
          </a:xfrm>
          <a:prstGeom prst="rect">
            <a:avLst/>
          </a:prstGeom>
        </p:spPr>
        <p:txBody>
          <a:bodyPr anchor="t" rtlCol="false" tIns="0" lIns="0" bIns="0" rIns="0">
            <a:spAutoFit/>
          </a:bodyPr>
          <a:lstStyle/>
          <a:p>
            <a:pPr algn="just">
              <a:lnSpc>
                <a:spcPts val="2520"/>
              </a:lnSpc>
            </a:pPr>
            <a:r>
              <a:rPr lang="en-US" sz="2100">
                <a:solidFill>
                  <a:srgbClr val="101419"/>
                </a:solidFill>
                <a:latin typeface="Poppins"/>
                <a:ea typeface="Poppins"/>
                <a:cs typeface="Poppins"/>
                <a:sym typeface="Poppins"/>
              </a:rPr>
              <a:t>Overall, Campaigns B and C show lower CTR and Reach Rate compared to Campaign A in several categories. Campaign C performs the lowest in Accessories and Pants, while Campaign B underperforms in Shirts. Meanwhile, Shoes remain stable, indicating consistent ad performance.</a:t>
            </a:r>
          </a:p>
        </p:txBody>
      </p:sp>
      <p:sp>
        <p:nvSpPr>
          <p:cNvPr name="TextBox 6" id="6"/>
          <p:cNvSpPr txBox="true"/>
          <p:nvPr/>
        </p:nvSpPr>
        <p:spPr>
          <a:xfrm rot="0">
            <a:off x="1410189" y="1415734"/>
            <a:ext cx="6909666" cy="409612"/>
          </a:xfrm>
          <a:prstGeom prst="rect">
            <a:avLst/>
          </a:prstGeom>
        </p:spPr>
        <p:txBody>
          <a:bodyPr anchor="t" rtlCol="false" tIns="0" lIns="0" bIns="0" rIns="0">
            <a:spAutoFit/>
          </a:bodyPr>
          <a:lstStyle/>
          <a:p>
            <a:pPr algn="l">
              <a:lnSpc>
                <a:spcPts val="2999"/>
              </a:lnSpc>
            </a:pPr>
            <a:r>
              <a:rPr lang="en-US" sz="2999" b="true">
                <a:solidFill>
                  <a:srgbClr val="073E88"/>
                </a:solidFill>
                <a:latin typeface="Poppins Bold"/>
                <a:ea typeface="Poppins Bold"/>
                <a:cs typeface="Poppins Bold"/>
                <a:sym typeface="Poppins Bold"/>
              </a:rPr>
              <a:t>Summary</a:t>
            </a:r>
          </a:p>
        </p:txBody>
      </p:sp>
      <p:grpSp>
        <p:nvGrpSpPr>
          <p:cNvPr name="Group 7" id="7"/>
          <p:cNvGrpSpPr/>
          <p:nvPr/>
        </p:nvGrpSpPr>
        <p:grpSpPr>
          <a:xfrm rot="0">
            <a:off x="1410189" y="3619783"/>
            <a:ext cx="15467622" cy="2024949"/>
            <a:chOff x="0" y="0"/>
            <a:chExt cx="4687626" cy="613682"/>
          </a:xfrm>
        </p:grpSpPr>
        <p:sp>
          <p:nvSpPr>
            <p:cNvPr name="Freeform 8" id="8"/>
            <p:cNvSpPr/>
            <p:nvPr/>
          </p:nvSpPr>
          <p:spPr>
            <a:xfrm flipH="false" flipV="false" rot="0">
              <a:off x="0" y="0"/>
              <a:ext cx="4687626" cy="613682"/>
            </a:xfrm>
            <a:custGeom>
              <a:avLst/>
              <a:gdLst/>
              <a:ahLst/>
              <a:cxnLst/>
              <a:rect r="r" b="b" t="t" l="l"/>
              <a:pathLst>
                <a:path h="613682" w="4687626">
                  <a:moveTo>
                    <a:pt x="15016" y="0"/>
                  </a:moveTo>
                  <a:lnTo>
                    <a:pt x="4672611" y="0"/>
                  </a:lnTo>
                  <a:cubicBezTo>
                    <a:pt x="4680903" y="0"/>
                    <a:pt x="4687626" y="6723"/>
                    <a:pt x="4687626" y="15016"/>
                  </a:cubicBezTo>
                  <a:lnTo>
                    <a:pt x="4687626" y="598667"/>
                  </a:lnTo>
                  <a:cubicBezTo>
                    <a:pt x="4687626" y="602649"/>
                    <a:pt x="4686044" y="606468"/>
                    <a:pt x="4683228" y="609284"/>
                  </a:cubicBezTo>
                  <a:cubicBezTo>
                    <a:pt x="4680412" y="612100"/>
                    <a:pt x="4676593" y="613682"/>
                    <a:pt x="4672611" y="613682"/>
                  </a:cubicBezTo>
                  <a:lnTo>
                    <a:pt x="15016" y="613682"/>
                  </a:lnTo>
                  <a:cubicBezTo>
                    <a:pt x="6723" y="613682"/>
                    <a:pt x="0" y="606960"/>
                    <a:pt x="0" y="598667"/>
                  </a:cubicBezTo>
                  <a:lnTo>
                    <a:pt x="0" y="15016"/>
                  </a:lnTo>
                  <a:cubicBezTo>
                    <a:pt x="0" y="6723"/>
                    <a:pt x="6723" y="0"/>
                    <a:pt x="15016" y="0"/>
                  </a:cubicBezTo>
                  <a:close/>
                </a:path>
              </a:pathLst>
            </a:custGeom>
            <a:solidFill>
              <a:srgbClr val="F5F7F7"/>
            </a:solidFill>
            <a:ln w="28575" cap="rnd">
              <a:solidFill>
                <a:srgbClr val="000000"/>
              </a:solidFill>
              <a:prstDash val="solid"/>
              <a:round/>
            </a:ln>
          </p:spPr>
        </p:sp>
        <p:sp>
          <p:nvSpPr>
            <p:cNvPr name="TextBox 9" id="9"/>
            <p:cNvSpPr txBox="true"/>
            <p:nvPr/>
          </p:nvSpPr>
          <p:spPr>
            <a:xfrm>
              <a:off x="0" y="-76200"/>
              <a:ext cx="4687626" cy="689882"/>
            </a:xfrm>
            <a:prstGeom prst="rect">
              <a:avLst/>
            </a:prstGeom>
          </p:spPr>
          <p:txBody>
            <a:bodyPr anchor="ctr" rtlCol="false" tIns="50800" lIns="50800" bIns="50800" rIns="50800"/>
            <a:lstStyle/>
            <a:p>
              <a:pPr algn="ctr">
                <a:lnSpc>
                  <a:spcPts val="3123"/>
                </a:lnSpc>
              </a:pPr>
            </a:p>
            <a:p>
              <a:pPr algn="ctr">
                <a:lnSpc>
                  <a:spcPts val="3123"/>
                </a:lnSpc>
              </a:pPr>
            </a:p>
          </p:txBody>
        </p:sp>
      </p:grpSp>
      <p:grpSp>
        <p:nvGrpSpPr>
          <p:cNvPr name="Group 10" id="10"/>
          <p:cNvGrpSpPr/>
          <p:nvPr/>
        </p:nvGrpSpPr>
        <p:grpSpPr>
          <a:xfrm rot="0">
            <a:off x="1790974" y="3300376"/>
            <a:ext cx="2795081" cy="656886"/>
            <a:chOff x="0" y="0"/>
            <a:chExt cx="1376317" cy="323455"/>
          </a:xfrm>
        </p:grpSpPr>
        <p:sp>
          <p:nvSpPr>
            <p:cNvPr name="Freeform 11" id="11"/>
            <p:cNvSpPr/>
            <p:nvPr/>
          </p:nvSpPr>
          <p:spPr>
            <a:xfrm flipH="false" flipV="false" rot="0">
              <a:off x="0" y="0"/>
              <a:ext cx="1376317" cy="323455"/>
            </a:xfrm>
            <a:custGeom>
              <a:avLst/>
              <a:gdLst/>
              <a:ahLst/>
              <a:cxnLst/>
              <a:rect r="r" b="b" t="t" l="l"/>
              <a:pathLst>
                <a:path h="323455" w="1376317">
                  <a:moveTo>
                    <a:pt x="41548" y="0"/>
                  </a:moveTo>
                  <a:lnTo>
                    <a:pt x="1334769" y="0"/>
                  </a:lnTo>
                  <a:cubicBezTo>
                    <a:pt x="1357715" y="0"/>
                    <a:pt x="1376317" y="18601"/>
                    <a:pt x="1376317" y="41548"/>
                  </a:cubicBezTo>
                  <a:lnTo>
                    <a:pt x="1376317" y="281907"/>
                  </a:lnTo>
                  <a:cubicBezTo>
                    <a:pt x="1376317" y="304853"/>
                    <a:pt x="1357715" y="323455"/>
                    <a:pt x="1334769" y="323455"/>
                  </a:cubicBezTo>
                  <a:lnTo>
                    <a:pt x="41548" y="323455"/>
                  </a:lnTo>
                  <a:cubicBezTo>
                    <a:pt x="18601" y="323455"/>
                    <a:pt x="0" y="304853"/>
                    <a:pt x="0" y="281907"/>
                  </a:cubicBezTo>
                  <a:lnTo>
                    <a:pt x="0" y="41548"/>
                  </a:lnTo>
                  <a:cubicBezTo>
                    <a:pt x="0" y="18601"/>
                    <a:pt x="18601" y="0"/>
                    <a:pt x="41548" y="0"/>
                  </a:cubicBezTo>
                  <a:close/>
                </a:path>
              </a:pathLst>
            </a:custGeom>
            <a:solidFill>
              <a:srgbClr val="073E88"/>
            </a:solidFill>
          </p:spPr>
        </p:sp>
        <p:sp>
          <p:nvSpPr>
            <p:cNvPr name="TextBox 12" id="12"/>
            <p:cNvSpPr txBox="true"/>
            <p:nvPr/>
          </p:nvSpPr>
          <p:spPr>
            <a:xfrm>
              <a:off x="0" y="-76200"/>
              <a:ext cx="1376317" cy="399655"/>
            </a:xfrm>
            <a:prstGeom prst="rect">
              <a:avLst/>
            </a:prstGeom>
          </p:spPr>
          <p:txBody>
            <a:bodyPr anchor="ctr" rtlCol="false" tIns="46707" lIns="46707" bIns="46707" rIns="46707"/>
            <a:lstStyle/>
            <a:p>
              <a:pPr algn="ctr">
                <a:lnSpc>
                  <a:spcPts val="3123"/>
                </a:lnSpc>
              </a:pPr>
            </a:p>
          </p:txBody>
        </p:sp>
      </p:grpSp>
      <p:sp>
        <p:nvSpPr>
          <p:cNvPr name="TextBox 13" id="13"/>
          <p:cNvSpPr txBox="true"/>
          <p:nvPr/>
        </p:nvSpPr>
        <p:spPr>
          <a:xfrm rot="0">
            <a:off x="1918732" y="3449565"/>
            <a:ext cx="2539565" cy="310432"/>
          </a:xfrm>
          <a:prstGeom prst="rect">
            <a:avLst/>
          </a:prstGeom>
        </p:spPr>
        <p:txBody>
          <a:bodyPr anchor="t" rtlCol="false" tIns="0" lIns="0" bIns="0" rIns="0">
            <a:spAutoFit/>
          </a:bodyPr>
          <a:lstStyle/>
          <a:p>
            <a:pPr algn="ctr">
              <a:lnSpc>
                <a:spcPts val="2272"/>
              </a:lnSpc>
            </a:pPr>
            <a:r>
              <a:rPr lang="en-US" b="true" sz="2065" spc="-82">
                <a:solidFill>
                  <a:srgbClr val="FFFFFF"/>
                </a:solidFill>
                <a:latin typeface="Poppins Bold"/>
                <a:ea typeface="Poppins Bold"/>
                <a:cs typeface="Poppins Bold"/>
                <a:sym typeface="Poppins Bold"/>
              </a:rPr>
              <a:t>Recommendation</a:t>
            </a:r>
          </a:p>
        </p:txBody>
      </p:sp>
      <p:sp>
        <p:nvSpPr>
          <p:cNvPr name="TextBox 14" id="14"/>
          <p:cNvSpPr txBox="true"/>
          <p:nvPr/>
        </p:nvSpPr>
        <p:spPr>
          <a:xfrm rot="0">
            <a:off x="1790974" y="4114098"/>
            <a:ext cx="14706053" cy="1169670"/>
          </a:xfrm>
          <a:prstGeom prst="rect">
            <a:avLst/>
          </a:prstGeom>
        </p:spPr>
        <p:txBody>
          <a:bodyPr anchor="t" rtlCol="false" tIns="0" lIns="0" bIns="0" rIns="0">
            <a:spAutoFit/>
          </a:bodyPr>
          <a:lstStyle/>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Campaign C (Accessories &amp; Pants)</a:t>
            </a:r>
            <a:r>
              <a:rPr lang="en-US" sz="2100">
                <a:solidFill>
                  <a:srgbClr val="101419"/>
                </a:solidFill>
                <a:latin typeface="Poppins"/>
                <a:ea typeface="Poppins"/>
                <a:cs typeface="Poppins"/>
                <a:sym typeface="Poppins"/>
              </a:rPr>
              <a:t>: Implement bundling offers or flash sales to boost conversions.</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Campaign B (Shirts)</a:t>
            </a:r>
            <a:r>
              <a:rPr lang="en-US" sz="2100">
                <a:solidFill>
                  <a:srgbClr val="101419"/>
                </a:solidFill>
                <a:latin typeface="Poppins"/>
                <a:ea typeface="Poppins"/>
                <a:cs typeface="Poppins"/>
                <a:sym typeface="Poppins"/>
              </a:rPr>
              <a:t>: Strengthen targeting and enhance creative content.</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Campaign Shoes</a:t>
            </a:r>
            <a:r>
              <a:rPr lang="en-US" sz="2100">
                <a:solidFill>
                  <a:srgbClr val="101419"/>
                </a:solidFill>
                <a:latin typeface="Poppins"/>
                <a:ea typeface="Poppins"/>
                <a:cs typeface="Poppins"/>
                <a:sym typeface="Poppins"/>
              </a:rPr>
              <a:t>: Maintain the current strategy and focus on customer loyalty.</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Low CTR</a:t>
            </a:r>
            <a:r>
              <a:rPr lang="en-US" sz="2100">
                <a:solidFill>
                  <a:srgbClr val="101419"/>
                </a:solidFill>
                <a:latin typeface="Poppins"/>
                <a:ea typeface="Poppins"/>
                <a:cs typeface="Poppins"/>
                <a:sym typeface="Poppins"/>
              </a:rPr>
              <a:t>: Use exclusive promotions or apply retargeting strategies.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sp>
        <p:nvSpPr>
          <p:cNvPr name="Freeform 2" id="2"/>
          <p:cNvSpPr/>
          <p:nvPr/>
        </p:nvSpPr>
        <p:spPr>
          <a:xfrm flipH="false" flipV="false" rot="0">
            <a:off x="-504372" y="-1617761"/>
            <a:ext cx="24842526" cy="14536367"/>
          </a:xfrm>
          <a:custGeom>
            <a:avLst/>
            <a:gdLst/>
            <a:ahLst/>
            <a:cxnLst/>
            <a:rect r="r" b="b" t="t" l="l"/>
            <a:pathLst>
              <a:path h="14536367" w="24842526">
                <a:moveTo>
                  <a:pt x="0" y="0"/>
                </a:moveTo>
                <a:lnTo>
                  <a:pt x="24842526" y="0"/>
                </a:lnTo>
                <a:lnTo>
                  <a:pt x="24842526" y="14536367"/>
                </a:lnTo>
                <a:lnTo>
                  <a:pt x="0" y="14536367"/>
                </a:lnTo>
                <a:lnTo>
                  <a:pt x="0" y="0"/>
                </a:lnTo>
                <a:close/>
              </a:path>
            </a:pathLst>
          </a:custGeom>
          <a:blipFill>
            <a:blip r:embed="rId2"/>
            <a:stretch>
              <a:fillRect l="0" t="-4905" r="0" b="-9131"/>
            </a:stretch>
          </a:blipFill>
        </p:spPr>
      </p:sp>
      <p:grpSp>
        <p:nvGrpSpPr>
          <p:cNvPr name="Group 3" id="3"/>
          <p:cNvGrpSpPr/>
          <p:nvPr/>
        </p:nvGrpSpPr>
        <p:grpSpPr>
          <a:xfrm rot="0">
            <a:off x="-504372" y="-463166"/>
            <a:ext cx="18792372" cy="11213331"/>
            <a:chOff x="0" y="0"/>
            <a:chExt cx="4949431" cy="2953305"/>
          </a:xfrm>
        </p:grpSpPr>
        <p:sp>
          <p:nvSpPr>
            <p:cNvPr name="Freeform 4" id="4"/>
            <p:cNvSpPr/>
            <p:nvPr/>
          </p:nvSpPr>
          <p:spPr>
            <a:xfrm flipH="false" flipV="false" rot="0">
              <a:off x="0" y="0"/>
              <a:ext cx="4949431" cy="2953305"/>
            </a:xfrm>
            <a:custGeom>
              <a:avLst/>
              <a:gdLst/>
              <a:ahLst/>
              <a:cxnLst/>
              <a:rect r="r" b="b" t="t" l="l"/>
              <a:pathLst>
                <a:path h="2953305" w="4949431">
                  <a:moveTo>
                    <a:pt x="0" y="0"/>
                  </a:moveTo>
                  <a:lnTo>
                    <a:pt x="4949431" y="0"/>
                  </a:lnTo>
                  <a:lnTo>
                    <a:pt x="4949431" y="2953305"/>
                  </a:lnTo>
                  <a:lnTo>
                    <a:pt x="0" y="2953305"/>
                  </a:lnTo>
                  <a:close/>
                </a:path>
              </a:pathLst>
            </a:custGeom>
            <a:solidFill>
              <a:srgbClr val="073E88">
                <a:alpha val="60000"/>
              </a:srgbClr>
            </a:solidFill>
          </p:spPr>
        </p:sp>
        <p:sp>
          <p:nvSpPr>
            <p:cNvPr name="TextBox 5" id="5"/>
            <p:cNvSpPr txBox="true"/>
            <p:nvPr/>
          </p:nvSpPr>
          <p:spPr>
            <a:xfrm>
              <a:off x="0" y="-57150"/>
              <a:ext cx="4949431" cy="301045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4112895"/>
            <a:ext cx="16230600" cy="1394460"/>
          </a:xfrm>
          <a:prstGeom prst="rect">
            <a:avLst/>
          </a:prstGeom>
        </p:spPr>
        <p:txBody>
          <a:bodyPr anchor="t" rtlCol="false" tIns="0" lIns="0" bIns="0" rIns="0">
            <a:spAutoFit/>
          </a:bodyPr>
          <a:lstStyle/>
          <a:p>
            <a:pPr algn="l">
              <a:lnSpc>
                <a:spcPts val="5280"/>
              </a:lnSpc>
            </a:pPr>
            <a:r>
              <a:rPr lang="en-US" sz="4800" b="true">
                <a:solidFill>
                  <a:srgbClr val="FFFFFF"/>
                </a:solidFill>
                <a:latin typeface="Poppins Bold"/>
                <a:ea typeface="Poppins Bold"/>
                <a:cs typeface="Poppins Bold"/>
                <a:sym typeface="Poppins Bold"/>
              </a:rPr>
              <a:t>Q2: How does user behavior on the website and social media influence their purchase decisions?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graphicFrame>
        <p:nvGraphicFramePr>
          <p:cNvPr name="Table 5" id="5"/>
          <p:cNvGraphicFramePr>
            <a:graphicFrameLocks noGrp="true"/>
          </p:cNvGraphicFramePr>
          <p:nvPr/>
        </p:nvGraphicFramePr>
        <p:xfrm>
          <a:off x="1381446" y="3419808"/>
          <a:ext cx="15525109" cy="5676900"/>
        </p:xfrm>
        <a:graphic>
          <a:graphicData uri="http://schemas.openxmlformats.org/drawingml/2006/table">
            <a:tbl>
              <a:tblPr/>
              <a:tblGrid>
                <a:gridCol w="4838766"/>
                <a:gridCol w="3597564"/>
                <a:gridCol w="3578499"/>
                <a:gridCol w="3510280"/>
              </a:tblGrid>
              <a:tr h="974821">
                <a:tc>
                  <a:txBody>
                    <a:bodyPr anchor="t" rtlCol="false"/>
                    <a:lstStyle/>
                    <a:p>
                      <a:pPr algn="ctr">
                        <a:lnSpc>
                          <a:spcPts val="3219"/>
                        </a:lnSpc>
                        <a:defRPr/>
                      </a:pPr>
                      <a:r>
                        <a:rPr lang="en-US" sz="2299" b="true">
                          <a:solidFill>
                            <a:srgbClr val="FFFFFF"/>
                          </a:solidFill>
                          <a:latin typeface="Poppins Bold"/>
                          <a:ea typeface="Poppins Bold"/>
                          <a:cs typeface="Poppins Bold"/>
                          <a:sym typeface="Poppins Bold"/>
                        </a:rPr>
                        <a:t>Location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3219"/>
                        </a:lnSpc>
                        <a:defRPr/>
                      </a:pPr>
                      <a:r>
                        <a:rPr lang="en-US" sz="2299" b="true">
                          <a:solidFill>
                            <a:srgbClr val="FFFFFF"/>
                          </a:solidFill>
                          <a:latin typeface="Poppins Bold"/>
                          <a:ea typeface="Poppins Bold"/>
                          <a:cs typeface="Poppins Bold"/>
                          <a:sym typeface="Poppins Bold"/>
                        </a:rPr>
                        <a:t>CTR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3219"/>
                        </a:lnSpc>
                        <a:defRPr/>
                      </a:pPr>
                      <a:r>
                        <a:rPr lang="en-US" sz="2299" b="true">
                          <a:solidFill>
                            <a:srgbClr val="FFFFFF"/>
                          </a:solidFill>
                          <a:latin typeface="Poppins Bold"/>
                          <a:ea typeface="Poppins Bold"/>
                          <a:cs typeface="Poppins Bold"/>
                          <a:sym typeface="Poppins Bold"/>
                        </a:rPr>
                        <a:t>Purchase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3219"/>
                        </a:lnSpc>
                        <a:defRPr/>
                      </a:pPr>
                      <a:r>
                        <a:rPr lang="en-US" sz="2299" b="true">
                          <a:solidFill>
                            <a:srgbClr val="FFFFFF"/>
                          </a:solidFill>
                          <a:latin typeface="Poppins Bold"/>
                          <a:ea typeface="Poppins Bold"/>
                          <a:cs typeface="Poppins Bold"/>
                          <a:sym typeface="Poppins Bold"/>
                        </a:rPr>
                        <a:t>Product Page View</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r>
              <a:tr h="783680">
                <a:tc>
                  <a:txBody>
                    <a:bodyPr anchor="t" rtlCol="false"/>
                    <a:lstStyle/>
                    <a:p>
                      <a:pPr algn="ctr">
                        <a:lnSpc>
                          <a:spcPts val="2100"/>
                        </a:lnSpc>
                        <a:defRPr/>
                      </a:pPr>
                      <a:r>
                        <a:rPr lang="en-US" sz="1500">
                          <a:solidFill>
                            <a:srgbClr val="000000"/>
                          </a:solidFill>
                          <a:latin typeface="Poppins"/>
                          <a:ea typeface="Poppins"/>
                          <a:cs typeface="Poppins"/>
                          <a:sym typeface="Poppins"/>
                        </a:rPr>
                        <a:t>Balikpapan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Menurun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Flat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5F7F7"/>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Meningkat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3680">
                <a:tc>
                  <a:txBody>
                    <a:bodyPr anchor="t" rtlCol="false"/>
                    <a:lstStyle/>
                    <a:p>
                      <a:pPr algn="ctr">
                        <a:lnSpc>
                          <a:spcPts val="2100"/>
                        </a:lnSpc>
                        <a:defRPr/>
                      </a:pPr>
                      <a:r>
                        <a:rPr lang="en-US" sz="1500">
                          <a:solidFill>
                            <a:srgbClr val="000000"/>
                          </a:solidFill>
                          <a:latin typeface="Poppins"/>
                          <a:ea typeface="Poppins"/>
                          <a:cs typeface="Poppins"/>
                          <a:sym typeface="Poppins"/>
                        </a:rPr>
                        <a:t>Bandung</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Flat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Flat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Meningkat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3680">
                <a:tc>
                  <a:txBody>
                    <a:bodyPr anchor="t" rtlCol="false"/>
                    <a:lstStyle/>
                    <a:p>
                      <a:pPr algn="ctr">
                        <a:lnSpc>
                          <a:spcPts val="2100"/>
                        </a:lnSpc>
                        <a:defRPr/>
                      </a:pPr>
                      <a:r>
                        <a:rPr lang="en-US" sz="1500">
                          <a:solidFill>
                            <a:srgbClr val="000000"/>
                          </a:solidFill>
                          <a:latin typeface="Poppins"/>
                          <a:ea typeface="Poppins"/>
                          <a:cs typeface="Poppins"/>
                          <a:sym typeface="Poppins"/>
                        </a:rPr>
                        <a:t>Denpasar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Meningkat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Meningkat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Flat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3680">
                <a:tc>
                  <a:txBody>
                    <a:bodyPr anchor="t" rtlCol="false"/>
                    <a:lstStyle/>
                    <a:p>
                      <a:pPr algn="ctr">
                        <a:lnSpc>
                          <a:spcPts val="2100"/>
                        </a:lnSpc>
                        <a:defRPr/>
                      </a:pPr>
                      <a:r>
                        <a:rPr lang="en-US" sz="1500">
                          <a:solidFill>
                            <a:srgbClr val="000000"/>
                          </a:solidFill>
                          <a:latin typeface="Poppins"/>
                          <a:ea typeface="Poppins"/>
                          <a:cs typeface="Poppins"/>
                          <a:sym typeface="Poppins"/>
                        </a:rPr>
                        <a:t>Jakarta</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Meningkat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5F7F7"/>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Menurun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Meningkat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3680">
                <a:tc>
                  <a:txBody>
                    <a:bodyPr anchor="t" rtlCol="false"/>
                    <a:lstStyle/>
                    <a:p>
                      <a:pPr algn="ctr">
                        <a:lnSpc>
                          <a:spcPts val="2100"/>
                        </a:lnSpc>
                        <a:defRPr/>
                      </a:pPr>
                      <a:r>
                        <a:rPr lang="en-US" sz="1500">
                          <a:solidFill>
                            <a:srgbClr val="000000"/>
                          </a:solidFill>
                          <a:latin typeface="Poppins"/>
                          <a:ea typeface="Poppins"/>
                          <a:cs typeface="Poppins"/>
                          <a:sym typeface="Poppins"/>
                        </a:rPr>
                        <a:t>Makassar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Meningkat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5F7F7"/>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Flat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Menurun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3680">
                <a:tc>
                  <a:txBody>
                    <a:bodyPr anchor="t" rtlCol="false"/>
                    <a:lstStyle/>
                    <a:p>
                      <a:pPr algn="ctr">
                        <a:lnSpc>
                          <a:spcPts val="2100"/>
                        </a:lnSpc>
                        <a:defRPr/>
                      </a:pPr>
                      <a:r>
                        <a:rPr lang="en-US" sz="1500">
                          <a:solidFill>
                            <a:srgbClr val="000000"/>
                          </a:solidFill>
                          <a:latin typeface="Poppins"/>
                          <a:ea typeface="Poppins"/>
                          <a:cs typeface="Poppins"/>
                          <a:sym typeface="Poppins"/>
                        </a:rPr>
                        <a:t>Medan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Meningkat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Flat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Menurun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pSp>
        <p:nvGrpSpPr>
          <p:cNvPr name="Group 6" id="6"/>
          <p:cNvGrpSpPr/>
          <p:nvPr/>
        </p:nvGrpSpPr>
        <p:grpSpPr>
          <a:xfrm rot="0">
            <a:off x="1381446" y="2312855"/>
            <a:ext cx="423471" cy="42347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8" id="8"/>
            <p:cNvSpPr txBox="true"/>
            <p:nvPr/>
          </p:nvSpPr>
          <p:spPr>
            <a:xfrm>
              <a:off x="76200" y="38100"/>
              <a:ext cx="660400" cy="698500"/>
            </a:xfrm>
            <a:prstGeom prst="rect">
              <a:avLst/>
            </a:prstGeom>
          </p:spPr>
          <p:txBody>
            <a:bodyPr anchor="ctr" rtlCol="false" tIns="19805" lIns="19805" bIns="19805" rIns="19805"/>
            <a:lstStyle/>
            <a:p>
              <a:pPr algn="ctr">
                <a:lnSpc>
                  <a:spcPts val="2659"/>
                </a:lnSpc>
              </a:pPr>
            </a:p>
          </p:txBody>
        </p:sp>
      </p:grpSp>
      <p:sp>
        <p:nvSpPr>
          <p:cNvPr name="Freeform 9" id="9"/>
          <p:cNvSpPr/>
          <p:nvPr/>
        </p:nvSpPr>
        <p:spPr>
          <a:xfrm flipH="false" flipV="false" rot="0">
            <a:off x="13835589" y="1028700"/>
            <a:ext cx="3070965" cy="1791396"/>
          </a:xfrm>
          <a:custGeom>
            <a:avLst/>
            <a:gdLst/>
            <a:ahLst/>
            <a:cxnLst/>
            <a:rect r="r" b="b" t="t" l="l"/>
            <a:pathLst>
              <a:path h="1791396" w="3070965">
                <a:moveTo>
                  <a:pt x="0" y="0"/>
                </a:moveTo>
                <a:lnTo>
                  <a:pt x="3070965" y="0"/>
                </a:lnTo>
                <a:lnTo>
                  <a:pt x="3070965" y="1791396"/>
                </a:lnTo>
                <a:lnTo>
                  <a:pt x="0" y="1791396"/>
                </a:lnTo>
                <a:lnTo>
                  <a:pt x="0" y="0"/>
                </a:lnTo>
                <a:close/>
              </a:path>
            </a:pathLst>
          </a:custGeom>
          <a:blipFill>
            <a:blip r:embed="rId2"/>
            <a:stretch>
              <a:fillRect l="0" t="0" r="0" b="0"/>
            </a:stretch>
          </a:blipFill>
        </p:spPr>
      </p:sp>
      <p:sp>
        <p:nvSpPr>
          <p:cNvPr name="TextBox 10" id="10"/>
          <p:cNvSpPr txBox="true"/>
          <p:nvPr/>
        </p:nvSpPr>
        <p:spPr>
          <a:xfrm rot="0">
            <a:off x="2018636" y="2350955"/>
            <a:ext cx="6909666" cy="409612"/>
          </a:xfrm>
          <a:prstGeom prst="rect">
            <a:avLst/>
          </a:prstGeom>
        </p:spPr>
        <p:txBody>
          <a:bodyPr anchor="t" rtlCol="false" tIns="0" lIns="0" bIns="0" rIns="0">
            <a:spAutoFit/>
          </a:bodyPr>
          <a:lstStyle/>
          <a:p>
            <a:pPr algn="l">
              <a:lnSpc>
                <a:spcPts val="2999"/>
              </a:lnSpc>
            </a:pPr>
            <a:r>
              <a:rPr lang="en-US" sz="2999" b="true">
                <a:solidFill>
                  <a:srgbClr val="073E88"/>
                </a:solidFill>
                <a:latin typeface="Poppins Bold"/>
                <a:ea typeface="Poppins Bold"/>
                <a:cs typeface="Poppins Bold"/>
                <a:sym typeface="Poppins Bold"/>
              </a:rPr>
              <a:t>Deep Analysis - Trend Line</a:t>
            </a:r>
          </a:p>
        </p:txBody>
      </p:sp>
      <p:sp>
        <p:nvSpPr>
          <p:cNvPr name="TextBox 11" id="11"/>
          <p:cNvSpPr txBox="true"/>
          <p:nvPr/>
        </p:nvSpPr>
        <p:spPr>
          <a:xfrm rot="0">
            <a:off x="1438932" y="2414107"/>
            <a:ext cx="308497" cy="230491"/>
          </a:xfrm>
          <a:prstGeom prst="rect">
            <a:avLst/>
          </a:prstGeom>
        </p:spPr>
        <p:txBody>
          <a:bodyPr anchor="t" rtlCol="false" tIns="0" lIns="0" bIns="0" rIns="0">
            <a:spAutoFit/>
          </a:bodyPr>
          <a:lstStyle/>
          <a:p>
            <a:pPr algn="ctr">
              <a:lnSpc>
                <a:spcPts val="1614"/>
              </a:lnSpc>
            </a:pPr>
            <a:r>
              <a:rPr lang="en-US" sz="1614" b="true">
                <a:solidFill>
                  <a:srgbClr val="FFFFFF"/>
                </a:solidFill>
                <a:latin typeface="Poppins Bold"/>
                <a:ea typeface="Poppins Bold"/>
                <a:cs typeface="Poppins Bold"/>
                <a:sym typeface="Poppins Bold"/>
              </a:rPr>
              <a:t>4</a:t>
            </a:r>
          </a:p>
        </p:txBody>
      </p:sp>
      <p:sp>
        <p:nvSpPr>
          <p:cNvPr name="TextBox 12" id="12"/>
          <p:cNvSpPr txBox="true"/>
          <p:nvPr/>
        </p:nvSpPr>
        <p:spPr>
          <a:xfrm rot="0">
            <a:off x="1381446" y="1159910"/>
            <a:ext cx="10825909" cy="852656"/>
          </a:xfrm>
          <a:prstGeom prst="rect">
            <a:avLst/>
          </a:prstGeom>
        </p:spPr>
        <p:txBody>
          <a:bodyPr anchor="t" rtlCol="false" tIns="0" lIns="0" bIns="0" rIns="0">
            <a:spAutoFit/>
          </a:bodyPr>
          <a:lstStyle/>
          <a:p>
            <a:pPr algn="l">
              <a:lnSpc>
                <a:spcPts val="3200"/>
              </a:lnSpc>
            </a:pPr>
            <a:r>
              <a:rPr lang="en-US" sz="3200" b="true">
                <a:solidFill>
                  <a:srgbClr val="073E88"/>
                </a:solidFill>
                <a:latin typeface="Poppins Bold"/>
                <a:ea typeface="Poppins Bold"/>
                <a:cs typeface="Poppins Bold"/>
                <a:sym typeface="Poppins Bold"/>
              </a:rPr>
              <a:t>Q1: How does user behavior on the website and social media influence their purchase decisions?</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graphicFrame>
        <p:nvGraphicFramePr>
          <p:cNvPr name="Table 5" id="5"/>
          <p:cNvGraphicFramePr>
            <a:graphicFrameLocks noGrp="true"/>
          </p:cNvGraphicFramePr>
          <p:nvPr/>
        </p:nvGraphicFramePr>
        <p:xfrm>
          <a:off x="1381446" y="760310"/>
          <a:ext cx="15525109" cy="4114800"/>
        </p:xfrm>
        <a:graphic>
          <a:graphicData uri="http://schemas.openxmlformats.org/drawingml/2006/table">
            <a:tbl>
              <a:tblPr/>
              <a:tblGrid>
                <a:gridCol w="4838766"/>
                <a:gridCol w="3597564"/>
                <a:gridCol w="3578499"/>
                <a:gridCol w="3510280"/>
              </a:tblGrid>
              <a:tr h="976069">
                <a:tc>
                  <a:txBody>
                    <a:bodyPr anchor="t" rtlCol="false"/>
                    <a:lstStyle/>
                    <a:p>
                      <a:pPr algn="ctr">
                        <a:lnSpc>
                          <a:spcPts val="3219"/>
                        </a:lnSpc>
                        <a:defRPr/>
                      </a:pPr>
                      <a:r>
                        <a:rPr lang="en-US" sz="2299" b="true">
                          <a:solidFill>
                            <a:srgbClr val="FFFFFF"/>
                          </a:solidFill>
                          <a:latin typeface="Poppins Bold"/>
                          <a:ea typeface="Poppins Bold"/>
                          <a:cs typeface="Poppins Bold"/>
                          <a:sym typeface="Poppins Bold"/>
                        </a:rPr>
                        <a:t>Location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3219"/>
                        </a:lnSpc>
                        <a:defRPr/>
                      </a:pPr>
                      <a:r>
                        <a:rPr lang="en-US" sz="2299" b="true">
                          <a:solidFill>
                            <a:srgbClr val="FFFFFF"/>
                          </a:solidFill>
                          <a:latin typeface="Poppins Bold"/>
                          <a:ea typeface="Poppins Bold"/>
                          <a:cs typeface="Poppins Bold"/>
                          <a:sym typeface="Poppins Bold"/>
                        </a:rPr>
                        <a:t>CTR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3219"/>
                        </a:lnSpc>
                        <a:defRPr/>
                      </a:pPr>
                      <a:r>
                        <a:rPr lang="en-US" sz="2299" b="true">
                          <a:solidFill>
                            <a:srgbClr val="FFFFFF"/>
                          </a:solidFill>
                          <a:latin typeface="Poppins Bold"/>
                          <a:ea typeface="Poppins Bold"/>
                          <a:cs typeface="Poppins Bold"/>
                          <a:sym typeface="Poppins Bold"/>
                        </a:rPr>
                        <a:t>Purchase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c>
                  <a:txBody>
                    <a:bodyPr anchor="t" rtlCol="false"/>
                    <a:lstStyle/>
                    <a:p>
                      <a:pPr algn="ctr">
                        <a:lnSpc>
                          <a:spcPts val="3219"/>
                        </a:lnSpc>
                        <a:defRPr/>
                      </a:pPr>
                      <a:r>
                        <a:rPr lang="en-US" sz="2299" b="true">
                          <a:solidFill>
                            <a:srgbClr val="FFFFFF"/>
                          </a:solidFill>
                          <a:latin typeface="Poppins Bold"/>
                          <a:ea typeface="Poppins Bold"/>
                          <a:cs typeface="Poppins Bold"/>
                          <a:sym typeface="Poppins Bold"/>
                        </a:rPr>
                        <a:t>Product Page View</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73E88"/>
                    </a:solidFill>
                  </a:tcPr>
                </a:tc>
              </a:tr>
              <a:tr h="784683">
                <a:tc>
                  <a:txBody>
                    <a:bodyPr anchor="t" rtlCol="false"/>
                    <a:lstStyle/>
                    <a:p>
                      <a:pPr algn="ctr">
                        <a:lnSpc>
                          <a:spcPts val="2100"/>
                        </a:lnSpc>
                        <a:defRPr/>
                      </a:pPr>
                      <a:r>
                        <a:rPr lang="en-US" sz="1500">
                          <a:solidFill>
                            <a:srgbClr val="000000"/>
                          </a:solidFill>
                          <a:latin typeface="Poppins"/>
                          <a:ea typeface="Poppins"/>
                          <a:cs typeface="Poppins"/>
                          <a:sym typeface="Poppins"/>
                        </a:rPr>
                        <a:t>Palembang</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Menurun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Meningkat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5F7F7"/>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Meningkat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4683">
                <a:tc>
                  <a:txBody>
                    <a:bodyPr anchor="t" rtlCol="false"/>
                    <a:lstStyle/>
                    <a:p>
                      <a:pPr algn="ctr">
                        <a:lnSpc>
                          <a:spcPts val="2100"/>
                        </a:lnSpc>
                        <a:defRPr/>
                      </a:pPr>
                      <a:r>
                        <a:rPr lang="en-US" sz="1500">
                          <a:solidFill>
                            <a:srgbClr val="000000"/>
                          </a:solidFill>
                          <a:latin typeface="Poppins"/>
                          <a:ea typeface="Poppins"/>
                          <a:cs typeface="Poppins"/>
                          <a:sym typeface="Poppins"/>
                        </a:rPr>
                        <a:t>Semarang</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Menurun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Meningkat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Meningkat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4683">
                <a:tc>
                  <a:txBody>
                    <a:bodyPr anchor="t" rtlCol="false"/>
                    <a:lstStyle/>
                    <a:p>
                      <a:pPr algn="ctr">
                        <a:lnSpc>
                          <a:spcPts val="2100"/>
                        </a:lnSpc>
                        <a:defRPr/>
                      </a:pPr>
                      <a:r>
                        <a:rPr lang="en-US" sz="1500">
                          <a:solidFill>
                            <a:srgbClr val="000000"/>
                          </a:solidFill>
                          <a:latin typeface="Poppins"/>
                          <a:ea typeface="Poppins"/>
                          <a:cs typeface="Poppins"/>
                          <a:sym typeface="Poppins"/>
                        </a:rPr>
                        <a:t>Surabaya</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Flat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Menurun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Flat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84683">
                <a:tc>
                  <a:txBody>
                    <a:bodyPr anchor="t" rtlCol="false"/>
                    <a:lstStyle/>
                    <a:p>
                      <a:pPr algn="ctr">
                        <a:lnSpc>
                          <a:spcPts val="2100"/>
                        </a:lnSpc>
                        <a:defRPr/>
                      </a:pPr>
                      <a:r>
                        <a:rPr lang="en-US" sz="1500">
                          <a:solidFill>
                            <a:srgbClr val="000000"/>
                          </a:solidFill>
                          <a:latin typeface="Poppins"/>
                          <a:ea typeface="Poppins"/>
                          <a:cs typeface="Poppins"/>
                          <a:sym typeface="Poppins"/>
                        </a:rPr>
                        <a:t>Yogyakarta</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Meningkat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5F7F7"/>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Menurun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Menurun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1381446" y="5556963"/>
            <a:ext cx="15525109" cy="1591047"/>
          </a:xfrm>
          <a:prstGeom prst="rect">
            <a:avLst/>
          </a:prstGeom>
        </p:spPr>
        <p:txBody>
          <a:bodyPr anchor="t" rtlCol="false" tIns="0" lIns="0" bIns="0" rIns="0">
            <a:spAutoFit/>
          </a:bodyPr>
          <a:lstStyle/>
          <a:p>
            <a:pPr algn="just">
              <a:lnSpc>
                <a:spcPts val="2520"/>
              </a:lnSpc>
            </a:pPr>
            <a:r>
              <a:rPr lang="en-US" sz="2100">
                <a:solidFill>
                  <a:srgbClr val="101419"/>
                </a:solidFill>
                <a:latin typeface="Poppins"/>
                <a:ea typeface="Poppins"/>
                <a:cs typeface="Poppins"/>
                <a:sym typeface="Poppins"/>
              </a:rPr>
              <a:t>Based on the data by location, the trends vary across regions. Denpasar shows positive performance with increases in CTR and Purchases. In Jakarta, clicks and page views are rising, but Purchases are declining, indicating possible issues during checkout or pricing. Balikpapan and Bandung show high interest, yet Purchases remain stagnant. Makassar and Medan see an increase in clicks but a decrease in page views. Palembang and Semarang experience rising Purchases despite lower CTR, while Surabaya and Yogyakarta show a downward trend in Purchases.</a:t>
            </a:r>
          </a:p>
        </p:txBody>
      </p:sp>
      <p:sp>
        <p:nvSpPr>
          <p:cNvPr name="TextBox 7" id="7"/>
          <p:cNvSpPr txBox="true"/>
          <p:nvPr/>
        </p:nvSpPr>
        <p:spPr>
          <a:xfrm rot="0">
            <a:off x="1381446" y="5128301"/>
            <a:ext cx="6935347" cy="409612"/>
          </a:xfrm>
          <a:prstGeom prst="rect">
            <a:avLst/>
          </a:prstGeom>
        </p:spPr>
        <p:txBody>
          <a:bodyPr anchor="t" rtlCol="false" tIns="0" lIns="0" bIns="0" rIns="0">
            <a:spAutoFit/>
          </a:bodyPr>
          <a:lstStyle/>
          <a:p>
            <a:pPr algn="l">
              <a:lnSpc>
                <a:spcPts val="2999"/>
              </a:lnSpc>
            </a:pPr>
            <a:r>
              <a:rPr lang="en-US" sz="2999" b="true">
                <a:solidFill>
                  <a:srgbClr val="073E88"/>
                </a:solidFill>
                <a:latin typeface="Poppins Bold"/>
                <a:ea typeface="Poppins Bold"/>
                <a:cs typeface="Poppins Bold"/>
                <a:sym typeface="Poppins Bold"/>
              </a:rPr>
              <a:t>Summary</a:t>
            </a:r>
          </a:p>
        </p:txBody>
      </p:sp>
      <p:grpSp>
        <p:nvGrpSpPr>
          <p:cNvPr name="Group 8" id="8"/>
          <p:cNvGrpSpPr/>
          <p:nvPr/>
        </p:nvGrpSpPr>
        <p:grpSpPr>
          <a:xfrm rot="0">
            <a:off x="1381446" y="7647903"/>
            <a:ext cx="15525109" cy="1878787"/>
            <a:chOff x="0" y="0"/>
            <a:chExt cx="4705048" cy="569386"/>
          </a:xfrm>
        </p:grpSpPr>
        <p:sp>
          <p:nvSpPr>
            <p:cNvPr name="Freeform 9" id="9"/>
            <p:cNvSpPr/>
            <p:nvPr/>
          </p:nvSpPr>
          <p:spPr>
            <a:xfrm flipH="false" flipV="false" rot="0">
              <a:off x="0" y="0"/>
              <a:ext cx="4705048" cy="569386"/>
            </a:xfrm>
            <a:custGeom>
              <a:avLst/>
              <a:gdLst/>
              <a:ahLst/>
              <a:cxnLst/>
              <a:rect r="r" b="b" t="t" l="l"/>
              <a:pathLst>
                <a:path h="569386" w="4705048">
                  <a:moveTo>
                    <a:pt x="14960" y="0"/>
                  </a:moveTo>
                  <a:lnTo>
                    <a:pt x="4690088" y="0"/>
                  </a:lnTo>
                  <a:cubicBezTo>
                    <a:pt x="4694056" y="0"/>
                    <a:pt x="4697861" y="1576"/>
                    <a:pt x="4700666" y="4382"/>
                  </a:cubicBezTo>
                  <a:cubicBezTo>
                    <a:pt x="4703472" y="7187"/>
                    <a:pt x="4705048" y="10992"/>
                    <a:pt x="4705048" y="14960"/>
                  </a:cubicBezTo>
                  <a:lnTo>
                    <a:pt x="4705048" y="554426"/>
                  </a:lnTo>
                  <a:cubicBezTo>
                    <a:pt x="4705048" y="562689"/>
                    <a:pt x="4698350" y="569386"/>
                    <a:pt x="4690088" y="569386"/>
                  </a:cubicBezTo>
                  <a:lnTo>
                    <a:pt x="14960" y="569386"/>
                  </a:lnTo>
                  <a:cubicBezTo>
                    <a:pt x="10992" y="569386"/>
                    <a:pt x="7187" y="567810"/>
                    <a:pt x="4382" y="565005"/>
                  </a:cubicBezTo>
                  <a:cubicBezTo>
                    <a:pt x="1576" y="562199"/>
                    <a:pt x="0" y="558394"/>
                    <a:pt x="0" y="554426"/>
                  </a:cubicBezTo>
                  <a:lnTo>
                    <a:pt x="0" y="14960"/>
                  </a:lnTo>
                  <a:cubicBezTo>
                    <a:pt x="0" y="10992"/>
                    <a:pt x="1576" y="7187"/>
                    <a:pt x="4382" y="4382"/>
                  </a:cubicBezTo>
                  <a:cubicBezTo>
                    <a:pt x="7187" y="1576"/>
                    <a:pt x="10992" y="0"/>
                    <a:pt x="14960" y="0"/>
                  </a:cubicBezTo>
                  <a:close/>
                </a:path>
              </a:pathLst>
            </a:custGeom>
            <a:solidFill>
              <a:srgbClr val="F5F7F7"/>
            </a:solidFill>
            <a:ln w="28575" cap="rnd">
              <a:solidFill>
                <a:srgbClr val="000000"/>
              </a:solidFill>
              <a:prstDash val="solid"/>
              <a:round/>
            </a:ln>
          </p:spPr>
        </p:sp>
        <p:sp>
          <p:nvSpPr>
            <p:cNvPr name="TextBox 10" id="10"/>
            <p:cNvSpPr txBox="true"/>
            <p:nvPr/>
          </p:nvSpPr>
          <p:spPr>
            <a:xfrm>
              <a:off x="0" y="-76200"/>
              <a:ext cx="4705048" cy="645586"/>
            </a:xfrm>
            <a:prstGeom prst="rect">
              <a:avLst/>
            </a:prstGeom>
          </p:spPr>
          <p:txBody>
            <a:bodyPr anchor="ctr" rtlCol="false" tIns="50800" lIns="50800" bIns="50800" rIns="50800"/>
            <a:lstStyle/>
            <a:p>
              <a:pPr algn="ctr">
                <a:lnSpc>
                  <a:spcPts val="3123"/>
                </a:lnSpc>
              </a:pPr>
            </a:p>
            <a:p>
              <a:pPr algn="ctr">
                <a:lnSpc>
                  <a:spcPts val="3123"/>
                </a:lnSpc>
              </a:pPr>
            </a:p>
          </p:txBody>
        </p:sp>
      </p:grpSp>
      <p:grpSp>
        <p:nvGrpSpPr>
          <p:cNvPr name="Group 11" id="11"/>
          <p:cNvGrpSpPr/>
          <p:nvPr/>
        </p:nvGrpSpPr>
        <p:grpSpPr>
          <a:xfrm rot="0">
            <a:off x="1937782" y="7319460"/>
            <a:ext cx="2795081" cy="656886"/>
            <a:chOff x="0" y="0"/>
            <a:chExt cx="1376317" cy="323455"/>
          </a:xfrm>
        </p:grpSpPr>
        <p:sp>
          <p:nvSpPr>
            <p:cNvPr name="Freeform 12" id="12"/>
            <p:cNvSpPr/>
            <p:nvPr/>
          </p:nvSpPr>
          <p:spPr>
            <a:xfrm flipH="false" flipV="false" rot="0">
              <a:off x="0" y="0"/>
              <a:ext cx="1376317" cy="323455"/>
            </a:xfrm>
            <a:custGeom>
              <a:avLst/>
              <a:gdLst/>
              <a:ahLst/>
              <a:cxnLst/>
              <a:rect r="r" b="b" t="t" l="l"/>
              <a:pathLst>
                <a:path h="323455" w="1376317">
                  <a:moveTo>
                    <a:pt x="41548" y="0"/>
                  </a:moveTo>
                  <a:lnTo>
                    <a:pt x="1334769" y="0"/>
                  </a:lnTo>
                  <a:cubicBezTo>
                    <a:pt x="1357715" y="0"/>
                    <a:pt x="1376317" y="18601"/>
                    <a:pt x="1376317" y="41548"/>
                  </a:cubicBezTo>
                  <a:lnTo>
                    <a:pt x="1376317" y="281907"/>
                  </a:lnTo>
                  <a:cubicBezTo>
                    <a:pt x="1376317" y="304853"/>
                    <a:pt x="1357715" y="323455"/>
                    <a:pt x="1334769" y="323455"/>
                  </a:cubicBezTo>
                  <a:lnTo>
                    <a:pt x="41548" y="323455"/>
                  </a:lnTo>
                  <a:cubicBezTo>
                    <a:pt x="18601" y="323455"/>
                    <a:pt x="0" y="304853"/>
                    <a:pt x="0" y="281907"/>
                  </a:cubicBezTo>
                  <a:lnTo>
                    <a:pt x="0" y="41548"/>
                  </a:lnTo>
                  <a:cubicBezTo>
                    <a:pt x="0" y="18601"/>
                    <a:pt x="18601" y="0"/>
                    <a:pt x="41548" y="0"/>
                  </a:cubicBezTo>
                  <a:close/>
                </a:path>
              </a:pathLst>
            </a:custGeom>
            <a:solidFill>
              <a:srgbClr val="073E88"/>
            </a:solidFill>
          </p:spPr>
        </p:sp>
        <p:sp>
          <p:nvSpPr>
            <p:cNvPr name="TextBox 13" id="13"/>
            <p:cNvSpPr txBox="true"/>
            <p:nvPr/>
          </p:nvSpPr>
          <p:spPr>
            <a:xfrm>
              <a:off x="0" y="-76200"/>
              <a:ext cx="1376317" cy="399655"/>
            </a:xfrm>
            <a:prstGeom prst="rect">
              <a:avLst/>
            </a:prstGeom>
          </p:spPr>
          <p:txBody>
            <a:bodyPr anchor="ctr" rtlCol="false" tIns="46707" lIns="46707" bIns="46707" rIns="46707"/>
            <a:lstStyle/>
            <a:p>
              <a:pPr algn="ctr">
                <a:lnSpc>
                  <a:spcPts val="3123"/>
                </a:lnSpc>
              </a:pPr>
            </a:p>
          </p:txBody>
        </p:sp>
      </p:grpSp>
      <p:sp>
        <p:nvSpPr>
          <p:cNvPr name="TextBox 14" id="14"/>
          <p:cNvSpPr txBox="true"/>
          <p:nvPr/>
        </p:nvSpPr>
        <p:spPr>
          <a:xfrm rot="0">
            <a:off x="2065540" y="7468649"/>
            <a:ext cx="2539565" cy="310432"/>
          </a:xfrm>
          <a:prstGeom prst="rect">
            <a:avLst/>
          </a:prstGeom>
        </p:spPr>
        <p:txBody>
          <a:bodyPr anchor="t" rtlCol="false" tIns="0" lIns="0" bIns="0" rIns="0">
            <a:spAutoFit/>
          </a:bodyPr>
          <a:lstStyle/>
          <a:p>
            <a:pPr algn="ctr">
              <a:lnSpc>
                <a:spcPts val="2272"/>
              </a:lnSpc>
            </a:pPr>
            <a:r>
              <a:rPr lang="en-US" b="true" sz="2065" spc="-82">
                <a:solidFill>
                  <a:srgbClr val="FFFFFF"/>
                </a:solidFill>
                <a:latin typeface="Poppins Bold"/>
                <a:ea typeface="Poppins Bold"/>
                <a:cs typeface="Poppins Bold"/>
                <a:sym typeface="Poppins Bold"/>
              </a:rPr>
              <a:t>Recommendation</a:t>
            </a:r>
          </a:p>
        </p:txBody>
      </p:sp>
      <p:sp>
        <p:nvSpPr>
          <p:cNvPr name="TextBox 15" id="15"/>
          <p:cNvSpPr txBox="true"/>
          <p:nvPr/>
        </p:nvSpPr>
        <p:spPr>
          <a:xfrm rot="0">
            <a:off x="1661304" y="8126730"/>
            <a:ext cx="14965392" cy="1169670"/>
          </a:xfrm>
          <a:prstGeom prst="rect">
            <a:avLst/>
          </a:prstGeom>
        </p:spPr>
        <p:txBody>
          <a:bodyPr anchor="t" rtlCol="false" tIns="0" lIns="0" bIns="0" rIns="0">
            <a:spAutoFit/>
          </a:bodyPr>
          <a:lstStyle/>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Balikpapan, Bandung, Makassar, Medan</a:t>
            </a:r>
            <a:r>
              <a:rPr lang="en-US" sz="2100">
                <a:solidFill>
                  <a:srgbClr val="101419"/>
                </a:solidFill>
                <a:latin typeface="Poppins"/>
                <a:ea typeface="Poppins"/>
                <a:cs typeface="Poppins"/>
                <a:sym typeface="Poppins"/>
              </a:rPr>
              <a:t>: Improve conversion by optimizing the checkout process, offering product bundles, running limited-time promotions, and enhancing product page quality.</a:t>
            </a:r>
          </a:p>
          <a:p>
            <a:pPr algn="just" marL="453390" indent="-226695" lvl="1">
              <a:lnSpc>
                <a:spcPts val="2310"/>
              </a:lnSpc>
              <a:buFont typeface="Arial"/>
              <a:buChar char="•"/>
            </a:pPr>
            <a:r>
              <a:rPr lang="en-US" b="true" sz="2100">
                <a:solidFill>
                  <a:srgbClr val="101419"/>
                </a:solidFill>
                <a:latin typeface="Poppins Bold"/>
                <a:ea typeface="Poppins Bold"/>
                <a:cs typeface="Poppins Bold"/>
                <a:sym typeface="Poppins Bold"/>
              </a:rPr>
              <a:t>Jakarta</a:t>
            </a:r>
            <a:r>
              <a:rPr lang="en-US" sz="2100">
                <a:solidFill>
                  <a:srgbClr val="101419"/>
                </a:solidFill>
                <a:latin typeface="Poppins"/>
                <a:ea typeface="Poppins"/>
                <a:cs typeface="Poppins"/>
                <a:sym typeface="Poppins"/>
              </a:rPr>
              <a:t>: Review pricing, implement strategic discounts or time-limited promotions, and improve the user experience on the checkout page to turn clicks into purchases.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sp>
        <p:nvSpPr>
          <p:cNvPr name="Freeform 2" id="2"/>
          <p:cNvSpPr/>
          <p:nvPr/>
        </p:nvSpPr>
        <p:spPr>
          <a:xfrm flipH="false" flipV="false" rot="0">
            <a:off x="-504372" y="-1617761"/>
            <a:ext cx="24842526" cy="14536367"/>
          </a:xfrm>
          <a:custGeom>
            <a:avLst/>
            <a:gdLst/>
            <a:ahLst/>
            <a:cxnLst/>
            <a:rect r="r" b="b" t="t" l="l"/>
            <a:pathLst>
              <a:path h="14536367" w="24842526">
                <a:moveTo>
                  <a:pt x="0" y="0"/>
                </a:moveTo>
                <a:lnTo>
                  <a:pt x="24842526" y="0"/>
                </a:lnTo>
                <a:lnTo>
                  <a:pt x="24842526" y="14536367"/>
                </a:lnTo>
                <a:lnTo>
                  <a:pt x="0" y="14536367"/>
                </a:lnTo>
                <a:lnTo>
                  <a:pt x="0" y="0"/>
                </a:lnTo>
                <a:close/>
              </a:path>
            </a:pathLst>
          </a:custGeom>
          <a:blipFill>
            <a:blip r:embed="rId2"/>
            <a:stretch>
              <a:fillRect l="0" t="-4905" r="0" b="-9131"/>
            </a:stretch>
          </a:blipFill>
        </p:spPr>
      </p:sp>
      <p:grpSp>
        <p:nvGrpSpPr>
          <p:cNvPr name="Group 3" id="3"/>
          <p:cNvGrpSpPr/>
          <p:nvPr/>
        </p:nvGrpSpPr>
        <p:grpSpPr>
          <a:xfrm rot="0">
            <a:off x="-504372" y="-463166"/>
            <a:ext cx="18792372" cy="11213331"/>
            <a:chOff x="0" y="0"/>
            <a:chExt cx="4949431" cy="2953305"/>
          </a:xfrm>
        </p:grpSpPr>
        <p:sp>
          <p:nvSpPr>
            <p:cNvPr name="Freeform 4" id="4"/>
            <p:cNvSpPr/>
            <p:nvPr/>
          </p:nvSpPr>
          <p:spPr>
            <a:xfrm flipH="false" flipV="false" rot="0">
              <a:off x="0" y="0"/>
              <a:ext cx="4949431" cy="2953305"/>
            </a:xfrm>
            <a:custGeom>
              <a:avLst/>
              <a:gdLst/>
              <a:ahLst/>
              <a:cxnLst/>
              <a:rect r="r" b="b" t="t" l="l"/>
              <a:pathLst>
                <a:path h="2953305" w="4949431">
                  <a:moveTo>
                    <a:pt x="0" y="0"/>
                  </a:moveTo>
                  <a:lnTo>
                    <a:pt x="4949431" y="0"/>
                  </a:lnTo>
                  <a:lnTo>
                    <a:pt x="4949431" y="2953305"/>
                  </a:lnTo>
                  <a:lnTo>
                    <a:pt x="0" y="2953305"/>
                  </a:lnTo>
                  <a:close/>
                </a:path>
              </a:pathLst>
            </a:custGeom>
            <a:solidFill>
              <a:srgbClr val="073E88">
                <a:alpha val="60000"/>
              </a:srgbClr>
            </a:solidFill>
          </p:spPr>
        </p:sp>
        <p:sp>
          <p:nvSpPr>
            <p:cNvPr name="TextBox 5" id="5"/>
            <p:cNvSpPr txBox="true"/>
            <p:nvPr/>
          </p:nvSpPr>
          <p:spPr>
            <a:xfrm>
              <a:off x="0" y="-57150"/>
              <a:ext cx="4949431" cy="301045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4112895"/>
            <a:ext cx="16230600" cy="2061210"/>
          </a:xfrm>
          <a:prstGeom prst="rect">
            <a:avLst/>
          </a:prstGeom>
        </p:spPr>
        <p:txBody>
          <a:bodyPr anchor="t" rtlCol="false" tIns="0" lIns="0" bIns="0" rIns="0">
            <a:spAutoFit/>
          </a:bodyPr>
          <a:lstStyle/>
          <a:p>
            <a:pPr algn="l">
              <a:lnSpc>
                <a:spcPts val="5280"/>
              </a:lnSpc>
            </a:pPr>
            <a:r>
              <a:rPr lang="en-US" sz="4800" b="true">
                <a:solidFill>
                  <a:srgbClr val="FFFFFF"/>
                </a:solidFill>
                <a:latin typeface="Poppins Bold"/>
                <a:ea typeface="Poppins Bold"/>
                <a:cs typeface="Poppins Bold"/>
                <a:sym typeface="Poppins Bold"/>
              </a:rPr>
              <a:t>Q3: What strategies or optimizations can be implemented to increase the CR in the next three months?</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sp>
        <p:nvSpPr>
          <p:cNvPr name="TextBox 5" id="5"/>
          <p:cNvSpPr txBox="true"/>
          <p:nvPr/>
        </p:nvSpPr>
        <p:spPr>
          <a:xfrm rot="0">
            <a:off x="1176300" y="965005"/>
            <a:ext cx="15640198" cy="852656"/>
          </a:xfrm>
          <a:prstGeom prst="rect">
            <a:avLst/>
          </a:prstGeom>
        </p:spPr>
        <p:txBody>
          <a:bodyPr anchor="t" rtlCol="false" tIns="0" lIns="0" bIns="0" rIns="0">
            <a:spAutoFit/>
          </a:bodyPr>
          <a:lstStyle/>
          <a:p>
            <a:pPr algn="just">
              <a:lnSpc>
                <a:spcPts val="3200"/>
              </a:lnSpc>
            </a:pPr>
            <a:r>
              <a:rPr lang="en-US" b="true" sz="3200">
                <a:solidFill>
                  <a:srgbClr val="073E88"/>
                </a:solidFill>
                <a:latin typeface="Poppins Bold"/>
                <a:ea typeface="Poppins Bold"/>
                <a:cs typeface="Poppins Bold"/>
                <a:sym typeface="Poppins Bold"/>
              </a:rPr>
              <a:t>Q3: What strategies or optimizations can be implemented to increase the CR in the next three months?</a:t>
            </a:r>
          </a:p>
        </p:txBody>
      </p:sp>
      <p:sp>
        <p:nvSpPr>
          <p:cNvPr name="TextBox 6" id="6"/>
          <p:cNvSpPr txBox="true"/>
          <p:nvPr/>
        </p:nvSpPr>
        <p:spPr>
          <a:xfrm rot="0">
            <a:off x="1176300" y="2388052"/>
            <a:ext cx="15640198" cy="521896"/>
          </a:xfrm>
          <a:prstGeom prst="rect">
            <a:avLst/>
          </a:prstGeom>
        </p:spPr>
        <p:txBody>
          <a:bodyPr anchor="t" rtlCol="false" tIns="0" lIns="0" bIns="0" rIns="0">
            <a:spAutoFit/>
          </a:bodyPr>
          <a:lstStyle/>
          <a:p>
            <a:pPr algn="just">
              <a:lnSpc>
                <a:spcPts val="1995"/>
              </a:lnSpc>
            </a:pPr>
            <a:r>
              <a:rPr lang="en-US" sz="1900">
                <a:solidFill>
                  <a:srgbClr val="101419"/>
                </a:solidFill>
                <a:latin typeface="Poppins"/>
                <a:ea typeface="Poppins"/>
                <a:cs typeface="Poppins"/>
                <a:sym typeface="Poppins"/>
              </a:rPr>
              <a:t>The app</a:t>
            </a:r>
            <a:r>
              <a:rPr lang="en-US" sz="1900">
                <a:solidFill>
                  <a:srgbClr val="101419"/>
                </a:solidFill>
                <a:latin typeface="Poppins"/>
                <a:ea typeface="Poppins"/>
                <a:cs typeface="Poppins"/>
                <a:sym typeface="Poppins"/>
              </a:rPr>
              <a:t>roach combines technical funnel improvements, segmented marketing campaigns, and A/B testing experiments, with strategies prioritized based on effort versus impact.</a:t>
            </a:r>
          </a:p>
        </p:txBody>
      </p:sp>
      <p:sp>
        <p:nvSpPr>
          <p:cNvPr name="TextBox 7" id="7"/>
          <p:cNvSpPr txBox="true"/>
          <p:nvPr/>
        </p:nvSpPr>
        <p:spPr>
          <a:xfrm rot="0">
            <a:off x="1176300" y="2037532"/>
            <a:ext cx="15640198" cy="312420"/>
          </a:xfrm>
          <a:prstGeom prst="rect">
            <a:avLst/>
          </a:prstGeom>
        </p:spPr>
        <p:txBody>
          <a:bodyPr anchor="t" rtlCol="false" tIns="0" lIns="0" bIns="0" rIns="0">
            <a:spAutoFit/>
          </a:bodyPr>
          <a:lstStyle/>
          <a:p>
            <a:pPr algn="l">
              <a:lnSpc>
                <a:spcPts val="2310"/>
              </a:lnSpc>
            </a:pPr>
            <a:r>
              <a:rPr lang="en-US" sz="2100" spc="-84" b="true">
                <a:solidFill>
                  <a:srgbClr val="073E88"/>
                </a:solidFill>
                <a:latin typeface="Poppins Bold"/>
                <a:ea typeface="Poppins Bold"/>
                <a:cs typeface="Poppins Bold"/>
                <a:sym typeface="Poppins Bold"/>
              </a:rPr>
              <a:t>Target: Increase the conversion rate by +3% (e.g., from 2% to 5%)</a:t>
            </a:r>
          </a:p>
        </p:txBody>
      </p:sp>
      <p:sp>
        <p:nvSpPr>
          <p:cNvPr name="TextBox 8" id="8"/>
          <p:cNvSpPr txBox="true"/>
          <p:nvPr/>
        </p:nvSpPr>
        <p:spPr>
          <a:xfrm rot="0">
            <a:off x="1176300" y="3438585"/>
            <a:ext cx="15935399" cy="385519"/>
          </a:xfrm>
          <a:prstGeom prst="rect">
            <a:avLst/>
          </a:prstGeom>
        </p:spPr>
        <p:txBody>
          <a:bodyPr anchor="t" rtlCol="false" tIns="0" lIns="0" bIns="0" rIns="0">
            <a:spAutoFit/>
          </a:bodyPr>
          <a:lstStyle/>
          <a:p>
            <a:pPr algn="l">
              <a:lnSpc>
                <a:spcPts val="2859"/>
              </a:lnSpc>
            </a:pPr>
            <a:r>
              <a:rPr lang="en-US" sz="2599" spc="-103" b="true">
                <a:solidFill>
                  <a:srgbClr val="073E88"/>
                </a:solidFill>
                <a:latin typeface="Poppins Bold"/>
                <a:ea typeface="Poppins Bold"/>
                <a:cs typeface="Poppins Bold"/>
                <a:sym typeface="Poppins Bold"/>
              </a:rPr>
              <a:t>Priority Actions</a:t>
            </a:r>
          </a:p>
        </p:txBody>
      </p:sp>
      <p:sp>
        <p:nvSpPr>
          <p:cNvPr name="AutoShape 9" id="9"/>
          <p:cNvSpPr/>
          <p:nvPr/>
        </p:nvSpPr>
        <p:spPr>
          <a:xfrm>
            <a:off x="1176300" y="3114735"/>
            <a:ext cx="15640198" cy="0"/>
          </a:xfrm>
          <a:prstGeom prst="line">
            <a:avLst/>
          </a:prstGeom>
          <a:ln cap="flat" w="28575">
            <a:solidFill>
              <a:srgbClr val="073E88"/>
            </a:solidFill>
            <a:prstDash val="solid"/>
            <a:headEnd type="none" len="sm" w="sm"/>
            <a:tailEnd type="none" len="sm" w="sm"/>
          </a:ln>
        </p:spPr>
      </p:sp>
      <p:sp>
        <p:nvSpPr>
          <p:cNvPr name="TextBox 10" id="10"/>
          <p:cNvSpPr txBox="true"/>
          <p:nvPr/>
        </p:nvSpPr>
        <p:spPr>
          <a:xfrm rot="0">
            <a:off x="1176300" y="4571743"/>
            <a:ext cx="7524898" cy="1402938"/>
          </a:xfrm>
          <a:prstGeom prst="rect">
            <a:avLst/>
          </a:prstGeom>
        </p:spPr>
        <p:txBody>
          <a:bodyPr anchor="t" rtlCol="false" tIns="0" lIns="0" bIns="0" rIns="0">
            <a:spAutoFit/>
          </a:bodyPr>
          <a:lstStyle/>
          <a:p>
            <a:pPr algn="just">
              <a:lnSpc>
                <a:spcPts val="1870"/>
              </a:lnSpc>
            </a:pPr>
            <a:r>
              <a:rPr lang="en-US" sz="1700">
                <a:solidFill>
                  <a:srgbClr val="101419"/>
                </a:solidFill>
                <a:latin typeface="Poppins"/>
                <a:ea typeface="Poppins"/>
                <a:cs typeface="Poppins"/>
                <a:sym typeface="Poppins"/>
              </a:rPr>
              <a:t>Focus on </a:t>
            </a:r>
            <a:r>
              <a:rPr lang="en-US" sz="1700" b="true">
                <a:solidFill>
                  <a:srgbClr val="101419"/>
                </a:solidFill>
                <a:latin typeface="Poppins Bold"/>
                <a:ea typeface="Poppins Bold"/>
                <a:cs typeface="Poppins Bold"/>
                <a:sym typeface="Poppins Bold"/>
              </a:rPr>
              <a:t>Shirt, Pants, and Accessory</a:t>
            </a:r>
            <a:r>
              <a:rPr lang="en-US" sz="1700">
                <a:solidFill>
                  <a:srgbClr val="101419"/>
                </a:solidFill>
                <a:latin typeface="Poppins"/>
                <a:ea typeface="Poppins"/>
                <a:cs typeface="Poppins"/>
                <a:sym typeface="Poppins"/>
              </a:rPr>
              <a:t> pr</a:t>
            </a:r>
            <a:r>
              <a:rPr lang="en-US" sz="1700">
                <a:solidFill>
                  <a:srgbClr val="101419"/>
                </a:solidFill>
                <a:latin typeface="Poppins"/>
                <a:ea typeface="Poppins"/>
                <a:cs typeface="Poppins"/>
                <a:sym typeface="Poppins"/>
              </a:rPr>
              <a:t>oducts. Improvements include </a:t>
            </a:r>
            <a:r>
              <a:rPr lang="en-US" b="true" sz="1700">
                <a:solidFill>
                  <a:srgbClr val="101419"/>
                </a:solidFill>
                <a:latin typeface="Poppins Bold"/>
                <a:ea typeface="Poppins Bold"/>
                <a:cs typeface="Poppins Bold"/>
                <a:sym typeface="Poppins Bold"/>
              </a:rPr>
              <a:t>larger product photos, bullet-point benefits, customer reviews, stock/limited-time urgency cues, clear purchase buttons, and cross-sell modules</a:t>
            </a:r>
            <a:r>
              <a:rPr lang="en-US" sz="1700">
                <a:solidFill>
                  <a:srgbClr val="101419"/>
                </a:solidFill>
                <a:latin typeface="Poppins"/>
                <a:ea typeface="Poppins"/>
                <a:cs typeface="Poppins"/>
                <a:sym typeface="Poppins"/>
              </a:rPr>
              <a:t>. </a:t>
            </a:r>
            <a:r>
              <a:rPr lang="en-US" b="true" sz="1700">
                <a:solidFill>
                  <a:srgbClr val="101419"/>
                </a:solidFill>
                <a:latin typeface="Poppins Bold"/>
                <a:ea typeface="Poppins Bold"/>
                <a:cs typeface="Poppins Bold"/>
                <a:sym typeface="Poppins Bold"/>
              </a:rPr>
              <a:t>Conduct A/B testing with trust badges and one-click</a:t>
            </a:r>
            <a:r>
              <a:rPr lang="en-US" sz="1700">
                <a:solidFill>
                  <a:srgbClr val="101419"/>
                </a:solidFill>
                <a:latin typeface="Poppins"/>
                <a:ea typeface="Poppins"/>
                <a:cs typeface="Poppins"/>
                <a:sym typeface="Poppins"/>
              </a:rPr>
              <a:t> buy to measure their effect on conversion from product page to checkout.</a:t>
            </a:r>
          </a:p>
        </p:txBody>
      </p:sp>
      <p:sp>
        <p:nvSpPr>
          <p:cNvPr name="TextBox 11" id="11"/>
          <p:cNvSpPr txBox="true"/>
          <p:nvPr/>
        </p:nvSpPr>
        <p:spPr>
          <a:xfrm rot="0">
            <a:off x="1620849" y="4095567"/>
            <a:ext cx="4969785" cy="333301"/>
          </a:xfrm>
          <a:prstGeom prst="rect">
            <a:avLst/>
          </a:prstGeom>
        </p:spPr>
        <p:txBody>
          <a:bodyPr anchor="t" rtlCol="false" tIns="0" lIns="0" bIns="0" rIns="0">
            <a:spAutoFit/>
          </a:bodyPr>
          <a:lstStyle/>
          <a:p>
            <a:pPr algn="l">
              <a:lnSpc>
                <a:spcPts val="2400"/>
              </a:lnSpc>
            </a:pPr>
            <a:r>
              <a:rPr lang="en-US" sz="2000" b="true">
                <a:solidFill>
                  <a:srgbClr val="073E88"/>
                </a:solidFill>
                <a:latin typeface="Poppins Bold"/>
                <a:ea typeface="Poppins Bold"/>
                <a:cs typeface="Poppins Bold"/>
                <a:sym typeface="Poppins Bold"/>
              </a:rPr>
              <a:t>Product Page Optimization (+1.0% CR)</a:t>
            </a:r>
          </a:p>
        </p:txBody>
      </p:sp>
      <p:grpSp>
        <p:nvGrpSpPr>
          <p:cNvPr name="Group 12" id="12"/>
          <p:cNvGrpSpPr/>
          <p:nvPr/>
        </p:nvGrpSpPr>
        <p:grpSpPr>
          <a:xfrm rot="0">
            <a:off x="1176300" y="4124142"/>
            <a:ext cx="304726" cy="30472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14" id="14"/>
            <p:cNvSpPr txBox="true"/>
            <p:nvPr/>
          </p:nvSpPr>
          <p:spPr>
            <a:xfrm>
              <a:off x="76200" y="38100"/>
              <a:ext cx="660400" cy="698500"/>
            </a:xfrm>
            <a:prstGeom prst="rect">
              <a:avLst/>
            </a:prstGeom>
          </p:spPr>
          <p:txBody>
            <a:bodyPr anchor="ctr" rtlCol="false" tIns="15224" lIns="15224" bIns="15224" rIns="15224"/>
            <a:lstStyle/>
            <a:p>
              <a:pPr algn="ctr">
                <a:lnSpc>
                  <a:spcPts val="2659"/>
                </a:lnSpc>
              </a:pPr>
            </a:p>
          </p:txBody>
        </p:sp>
      </p:grpSp>
      <p:sp>
        <p:nvSpPr>
          <p:cNvPr name="TextBox 15" id="15"/>
          <p:cNvSpPr txBox="true"/>
          <p:nvPr/>
        </p:nvSpPr>
        <p:spPr>
          <a:xfrm rot="0">
            <a:off x="1220492" y="4213705"/>
            <a:ext cx="237148" cy="165455"/>
          </a:xfrm>
          <a:prstGeom prst="rect">
            <a:avLst/>
          </a:prstGeom>
        </p:spPr>
        <p:txBody>
          <a:bodyPr anchor="t" rtlCol="false" tIns="0" lIns="0" bIns="0" rIns="0">
            <a:spAutoFit/>
          </a:bodyPr>
          <a:lstStyle/>
          <a:p>
            <a:pPr algn="ctr">
              <a:lnSpc>
                <a:spcPts val="1241"/>
              </a:lnSpc>
            </a:pPr>
            <a:r>
              <a:rPr lang="en-US" b="true" sz="1241">
                <a:solidFill>
                  <a:srgbClr val="FFFFFF"/>
                </a:solidFill>
                <a:latin typeface="Poppins Bold"/>
                <a:ea typeface="Poppins Bold"/>
                <a:cs typeface="Poppins Bold"/>
                <a:sym typeface="Poppins Bold"/>
              </a:rPr>
              <a:t>1</a:t>
            </a:r>
          </a:p>
        </p:txBody>
      </p:sp>
      <p:sp>
        <p:nvSpPr>
          <p:cNvPr name="TextBox 16" id="16"/>
          <p:cNvSpPr txBox="true"/>
          <p:nvPr/>
        </p:nvSpPr>
        <p:spPr>
          <a:xfrm rot="0">
            <a:off x="1220492" y="6811789"/>
            <a:ext cx="7480707" cy="1402938"/>
          </a:xfrm>
          <a:prstGeom prst="rect">
            <a:avLst/>
          </a:prstGeom>
        </p:spPr>
        <p:txBody>
          <a:bodyPr anchor="t" rtlCol="false" tIns="0" lIns="0" bIns="0" rIns="0">
            <a:spAutoFit/>
          </a:bodyPr>
          <a:lstStyle/>
          <a:p>
            <a:pPr algn="just">
              <a:lnSpc>
                <a:spcPts val="1870"/>
              </a:lnSpc>
            </a:pPr>
            <a:r>
              <a:rPr lang="en-US" sz="1700">
                <a:solidFill>
                  <a:srgbClr val="101419"/>
                </a:solidFill>
                <a:latin typeface="Poppins"/>
                <a:ea typeface="Poppins"/>
                <a:cs typeface="Poppins"/>
                <a:sym typeface="Poppins"/>
              </a:rPr>
              <a:t>Focus on </a:t>
            </a:r>
            <a:r>
              <a:rPr lang="en-US" sz="1700" b="true">
                <a:solidFill>
                  <a:srgbClr val="101419"/>
                </a:solidFill>
                <a:latin typeface="Poppins Bold"/>
                <a:ea typeface="Poppins Bold"/>
                <a:cs typeface="Poppins Bold"/>
                <a:sym typeface="Poppins Bold"/>
              </a:rPr>
              <a:t>Jakarta</a:t>
            </a:r>
            <a:r>
              <a:rPr lang="en-US" sz="1700">
                <a:solidFill>
                  <a:srgbClr val="101419"/>
                </a:solidFill>
                <a:latin typeface="Poppins"/>
                <a:ea typeface="Poppins"/>
                <a:cs typeface="Poppins"/>
                <a:sym typeface="Poppins"/>
              </a:rPr>
              <a:t>, where clicks are high but pur</a:t>
            </a:r>
            <a:r>
              <a:rPr lang="en-US" sz="1700">
                <a:solidFill>
                  <a:srgbClr val="101419"/>
                </a:solidFill>
                <a:latin typeface="Poppins"/>
                <a:ea typeface="Poppins"/>
                <a:cs typeface="Poppins"/>
                <a:sym typeface="Poppins"/>
              </a:rPr>
              <a:t>chases are declining. Improvements include </a:t>
            </a:r>
            <a:r>
              <a:rPr lang="en-US" b="true" sz="1700">
                <a:solidFill>
                  <a:srgbClr val="101419"/>
                </a:solidFill>
                <a:latin typeface="Poppins Bold"/>
                <a:ea typeface="Poppins Bold"/>
                <a:cs typeface="Poppins Bold"/>
                <a:sym typeface="Poppins Bold"/>
              </a:rPr>
              <a:t>simplifying forms, enabling guest checkout, adding a progress bar, auto-fill features, improved error messages, and real-time validation</a:t>
            </a:r>
            <a:r>
              <a:rPr lang="en-US" sz="1700">
                <a:solidFill>
                  <a:srgbClr val="101419"/>
                </a:solidFill>
                <a:latin typeface="Poppins"/>
                <a:ea typeface="Poppins"/>
                <a:cs typeface="Poppins"/>
                <a:sym typeface="Poppins"/>
              </a:rPr>
              <a:t>. </a:t>
            </a:r>
            <a:r>
              <a:rPr lang="en-US" b="true" sz="1700">
                <a:solidFill>
                  <a:srgbClr val="101419"/>
                </a:solidFill>
                <a:latin typeface="Poppins Bold"/>
                <a:ea typeface="Poppins Bold"/>
                <a:cs typeface="Poppins Bold"/>
                <a:sym typeface="Poppins Bold"/>
              </a:rPr>
              <a:t>Run A/B tests comparing the old checkout flow vs the optimized version. </a:t>
            </a:r>
            <a:r>
              <a:rPr lang="en-US" sz="1700" i="true">
                <a:solidFill>
                  <a:srgbClr val="101419"/>
                </a:solidFill>
                <a:latin typeface="Poppins Italics"/>
                <a:ea typeface="Poppins Italics"/>
                <a:cs typeface="Poppins Italics"/>
                <a:sym typeface="Poppins Italics"/>
              </a:rPr>
              <a:t>Key metrics: checkout conversion and cart abandonment rate.</a:t>
            </a:r>
          </a:p>
        </p:txBody>
      </p:sp>
      <p:sp>
        <p:nvSpPr>
          <p:cNvPr name="TextBox 17" id="17"/>
          <p:cNvSpPr txBox="true"/>
          <p:nvPr/>
        </p:nvSpPr>
        <p:spPr>
          <a:xfrm rot="0">
            <a:off x="1620849" y="6287988"/>
            <a:ext cx="6534086" cy="333301"/>
          </a:xfrm>
          <a:prstGeom prst="rect">
            <a:avLst/>
          </a:prstGeom>
        </p:spPr>
        <p:txBody>
          <a:bodyPr anchor="t" rtlCol="false" tIns="0" lIns="0" bIns="0" rIns="0">
            <a:spAutoFit/>
          </a:bodyPr>
          <a:lstStyle/>
          <a:p>
            <a:pPr algn="l">
              <a:lnSpc>
                <a:spcPts val="2400"/>
              </a:lnSpc>
            </a:pPr>
            <a:r>
              <a:rPr lang="en-US" sz="2000" b="true">
                <a:solidFill>
                  <a:srgbClr val="073E88"/>
                </a:solidFill>
                <a:latin typeface="Poppins Bold"/>
                <a:ea typeface="Poppins Bold"/>
                <a:cs typeface="Poppins Bold"/>
                <a:sym typeface="Poppins Bold"/>
              </a:rPr>
              <a:t>Checkout &amp; Friction Removal (+0.8% CR)</a:t>
            </a:r>
          </a:p>
        </p:txBody>
      </p:sp>
      <p:grpSp>
        <p:nvGrpSpPr>
          <p:cNvPr name="Group 18" id="18"/>
          <p:cNvGrpSpPr/>
          <p:nvPr/>
        </p:nvGrpSpPr>
        <p:grpSpPr>
          <a:xfrm rot="0">
            <a:off x="1176300" y="6306161"/>
            <a:ext cx="304726" cy="30472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20" id="20"/>
            <p:cNvSpPr txBox="true"/>
            <p:nvPr/>
          </p:nvSpPr>
          <p:spPr>
            <a:xfrm>
              <a:off x="76200" y="38100"/>
              <a:ext cx="660400" cy="698500"/>
            </a:xfrm>
            <a:prstGeom prst="rect">
              <a:avLst/>
            </a:prstGeom>
          </p:spPr>
          <p:txBody>
            <a:bodyPr anchor="ctr" rtlCol="false" tIns="15224" lIns="15224" bIns="15224" rIns="15224"/>
            <a:lstStyle/>
            <a:p>
              <a:pPr algn="ctr">
                <a:lnSpc>
                  <a:spcPts val="2659"/>
                </a:lnSpc>
              </a:pPr>
            </a:p>
          </p:txBody>
        </p:sp>
      </p:grpSp>
      <p:sp>
        <p:nvSpPr>
          <p:cNvPr name="TextBox 21" id="21"/>
          <p:cNvSpPr txBox="true"/>
          <p:nvPr/>
        </p:nvSpPr>
        <p:spPr>
          <a:xfrm rot="0">
            <a:off x="1220492" y="6395724"/>
            <a:ext cx="237148" cy="165455"/>
          </a:xfrm>
          <a:prstGeom prst="rect">
            <a:avLst/>
          </a:prstGeom>
        </p:spPr>
        <p:txBody>
          <a:bodyPr anchor="t" rtlCol="false" tIns="0" lIns="0" bIns="0" rIns="0">
            <a:spAutoFit/>
          </a:bodyPr>
          <a:lstStyle/>
          <a:p>
            <a:pPr algn="ctr">
              <a:lnSpc>
                <a:spcPts val="1241"/>
              </a:lnSpc>
            </a:pPr>
            <a:r>
              <a:rPr lang="en-US" sz="1241" b="true">
                <a:solidFill>
                  <a:srgbClr val="FFFFFF"/>
                </a:solidFill>
                <a:latin typeface="Poppins Bold"/>
                <a:ea typeface="Poppins Bold"/>
                <a:cs typeface="Poppins Bold"/>
                <a:sym typeface="Poppins Bold"/>
              </a:rPr>
              <a:t>2</a:t>
            </a:r>
          </a:p>
        </p:txBody>
      </p:sp>
      <p:sp>
        <p:nvSpPr>
          <p:cNvPr name="TextBox 22" id="22"/>
          <p:cNvSpPr txBox="true"/>
          <p:nvPr/>
        </p:nvSpPr>
        <p:spPr>
          <a:xfrm rot="0">
            <a:off x="9291600" y="4609843"/>
            <a:ext cx="7524898" cy="945664"/>
          </a:xfrm>
          <a:prstGeom prst="rect">
            <a:avLst/>
          </a:prstGeom>
        </p:spPr>
        <p:txBody>
          <a:bodyPr anchor="t" rtlCol="false" tIns="0" lIns="0" bIns="0" rIns="0">
            <a:spAutoFit/>
          </a:bodyPr>
          <a:lstStyle/>
          <a:p>
            <a:pPr algn="just">
              <a:lnSpc>
                <a:spcPts val="1870"/>
              </a:lnSpc>
            </a:pPr>
            <a:r>
              <a:rPr lang="en-US" sz="1700">
                <a:solidFill>
                  <a:srgbClr val="101419"/>
                </a:solidFill>
                <a:latin typeface="Poppins"/>
                <a:ea typeface="Poppins"/>
                <a:cs typeface="Poppins"/>
                <a:sym typeface="Poppins"/>
              </a:rPr>
              <a:t>Focus on </a:t>
            </a:r>
            <a:r>
              <a:rPr lang="en-US" sz="1700" b="true">
                <a:solidFill>
                  <a:srgbClr val="101419"/>
                </a:solidFill>
                <a:latin typeface="Poppins Bold"/>
                <a:ea typeface="Poppins Bold"/>
                <a:cs typeface="Poppins Bold"/>
                <a:sym typeface="Poppins Bold"/>
              </a:rPr>
              <a:t>Campaign B (Shirt) and Campaign C (Ac</a:t>
            </a:r>
            <a:r>
              <a:rPr lang="en-US" b="true" sz="1700">
                <a:solidFill>
                  <a:srgbClr val="101419"/>
                </a:solidFill>
                <a:latin typeface="Poppins Bold"/>
                <a:ea typeface="Poppins Bold"/>
                <a:cs typeface="Poppins Bold"/>
                <a:sym typeface="Poppins Bold"/>
              </a:rPr>
              <a:t>cessory &amp; Pants)</a:t>
            </a:r>
            <a:r>
              <a:rPr lang="en-US" sz="1700">
                <a:solidFill>
                  <a:srgbClr val="101419"/>
                </a:solidFill>
                <a:latin typeface="Poppins"/>
                <a:ea typeface="Poppins"/>
                <a:cs typeface="Poppins"/>
                <a:sym typeface="Poppins"/>
              </a:rPr>
              <a:t>. Use </a:t>
            </a:r>
            <a:r>
              <a:rPr lang="en-US" b="true" sz="1700">
                <a:solidFill>
                  <a:srgbClr val="101419"/>
                </a:solidFill>
                <a:latin typeface="Poppins Bold"/>
                <a:ea typeface="Poppins Bold"/>
                <a:cs typeface="Poppins Bold"/>
                <a:sym typeface="Poppins Bold"/>
              </a:rPr>
              <a:t>dynamic retargeting, creative testing (video vs carousel), tailored CTAs, and email nurture for abandoned carts</a:t>
            </a:r>
            <a:r>
              <a:rPr lang="en-US" sz="1700">
                <a:solidFill>
                  <a:srgbClr val="101419"/>
                </a:solidFill>
                <a:latin typeface="Poppins"/>
                <a:ea typeface="Poppins"/>
                <a:cs typeface="Poppins"/>
                <a:sym typeface="Poppins"/>
              </a:rPr>
              <a:t>. </a:t>
            </a:r>
            <a:r>
              <a:rPr lang="en-US" sz="1700" i="true">
                <a:solidFill>
                  <a:srgbClr val="101419"/>
                </a:solidFill>
                <a:latin typeface="Poppins Italics"/>
                <a:ea typeface="Poppins Italics"/>
                <a:cs typeface="Poppins Italics"/>
                <a:sym typeface="Poppins Italics"/>
              </a:rPr>
              <a:t>Key metric: conversion rate from retargeted traffic vs control.</a:t>
            </a:r>
          </a:p>
        </p:txBody>
      </p:sp>
      <p:sp>
        <p:nvSpPr>
          <p:cNvPr name="TextBox 23" id="23"/>
          <p:cNvSpPr txBox="true"/>
          <p:nvPr/>
        </p:nvSpPr>
        <p:spPr>
          <a:xfrm rot="0">
            <a:off x="9784838" y="4095567"/>
            <a:ext cx="6144816" cy="333301"/>
          </a:xfrm>
          <a:prstGeom prst="rect">
            <a:avLst/>
          </a:prstGeom>
        </p:spPr>
        <p:txBody>
          <a:bodyPr anchor="t" rtlCol="false" tIns="0" lIns="0" bIns="0" rIns="0">
            <a:spAutoFit/>
          </a:bodyPr>
          <a:lstStyle/>
          <a:p>
            <a:pPr algn="l">
              <a:lnSpc>
                <a:spcPts val="2400"/>
              </a:lnSpc>
            </a:pPr>
            <a:r>
              <a:rPr lang="en-US" sz="2000" b="true">
                <a:solidFill>
                  <a:srgbClr val="073E88"/>
                </a:solidFill>
                <a:latin typeface="Poppins Bold"/>
                <a:ea typeface="Poppins Bold"/>
                <a:cs typeface="Poppins Bold"/>
                <a:sym typeface="Poppins Bold"/>
              </a:rPr>
              <a:t>Retargeting &amp; Creative Ads (+0.5% CR)</a:t>
            </a:r>
          </a:p>
        </p:txBody>
      </p:sp>
      <p:grpSp>
        <p:nvGrpSpPr>
          <p:cNvPr name="Group 24" id="24"/>
          <p:cNvGrpSpPr/>
          <p:nvPr/>
        </p:nvGrpSpPr>
        <p:grpSpPr>
          <a:xfrm rot="0">
            <a:off x="9291600" y="4124142"/>
            <a:ext cx="304726" cy="304726"/>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26" id="26"/>
            <p:cNvSpPr txBox="true"/>
            <p:nvPr/>
          </p:nvSpPr>
          <p:spPr>
            <a:xfrm>
              <a:off x="76200" y="38100"/>
              <a:ext cx="660400" cy="698500"/>
            </a:xfrm>
            <a:prstGeom prst="rect">
              <a:avLst/>
            </a:prstGeom>
          </p:spPr>
          <p:txBody>
            <a:bodyPr anchor="ctr" rtlCol="false" tIns="15224" lIns="15224" bIns="15224" rIns="15224"/>
            <a:lstStyle/>
            <a:p>
              <a:pPr algn="ctr">
                <a:lnSpc>
                  <a:spcPts val="2659"/>
                </a:lnSpc>
              </a:pPr>
            </a:p>
          </p:txBody>
        </p:sp>
      </p:grpSp>
      <p:sp>
        <p:nvSpPr>
          <p:cNvPr name="TextBox 27" id="27"/>
          <p:cNvSpPr txBox="true"/>
          <p:nvPr/>
        </p:nvSpPr>
        <p:spPr>
          <a:xfrm rot="0">
            <a:off x="9335792" y="4213705"/>
            <a:ext cx="237148" cy="165455"/>
          </a:xfrm>
          <a:prstGeom prst="rect">
            <a:avLst/>
          </a:prstGeom>
        </p:spPr>
        <p:txBody>
          <a:bodyPr anchor="t" rtlCol="false" tIns="0" lIns="0" bIns="0" rIns="0">
            <a:spAutoFit/>
          </a:bodyPr>
          <a:lstStyle/>
          <a:p>
            <a:pPr algn="ctr">
              <a:lnSpc>
                <a:spcPts val="1241"/>
              </a:lnSpc>
            </a:pPr>
            <a:r>
              <a:rPr lang="en-US" sz="1241" b="true">
                <a:solidFill>
                  <a:srgbClr val="FFFFFF"/>
                </a:solidFill>
                <a:latin typeface="Poppins Bold"/>
                <a:ea typeface="Poppins Bold"/>
                <a:cs typeface="Poppins Bold"/>
                <a:sym typeface="Poppins Bold"/>
              </a:rPr>
              <a:t>3</a:t>
            </a:r>
          </a:p>
        </p:txBody>
      </p:sp>
      <p:sp>
        <p:nvSpPr>
          <p:cNvPr name="TextBox 28" id="28"/>
          <p:cNvSpPr txBox="true"/>
          <p:nvPr/>
        </p:nvSpPr>
        <p:spPr>
          <a:xfrm rot="0">
            <a:off x="9291600" y="6659216"/>
            <a:ext cx="7476522" cy="717027"/>
          </a:xfrm>
          <a:prstGeom prst="rect">
            <a:avLst/>
          </a:prstGeom>
        </p:spPr>
        <p:txBody>
          <a:bodyPr anchor="t" rtlCol="false" tIns="0" lIns="0" bIns="0" rIns="0">
            <a:spAutoFit/>
          </a:bodyPr>
          <a:lstStyle/>
          <a:p>
            <a:pPr algn="just">
              <a:lnSpc>
                <a:spcPts val="1870"/>
              </a:lnSpc>
            </a:pPr>
            <a:r>
              <a:rPr lang="en-US" sz="1700" b="true">
                <a:solidFill>
                  <a:srgbClr val="101419"/>
                </a:solidFill>
                <a:latin typeface="Poppins Bold"/>
                <a:ea typeface="Poppins Bold"/>
                <a:cs typeface="Poppins Bold"/>
                <a:sym typeface="Poppins Bold"/>
              </a:rPr>
              <a:t>Apply bundling for Ac</a:t>
            </a:r>
            <a:r>
              <a:rPr lang="en-US" b="true" sz="1700">
                <a:solidFill>
                  <a:srgbClr val="101419"/>
                </a:solidFill>
                <a:latin typeface="Poppins Bold"/>
                <a:ea typeface="Poppins Bold"/>
                <a:cs typeface="Poppins Bold"/>
                <a:sym typeface="Poppins Bold"/>
              </a:rPr>
              <a:t>cessories and Shirts, and run flash sales in Medan, Makassar, and Denpasa</a:t>
            </a:r>
            <a:r>
              <a:rPr lang="en-US" sz="1700">
                <a:solidFill>
                  <a:srgbClr val="101419"/>
                </a:solidFill>
                <a:latin typeface="Poppins"/>
                <a:ea typeface="Poppins"/>
                <a:cs typeface="Poppins"/>
                <a:sym typeface="Poppins"/>
              </a:rPr>
              <a:t>r.</a:t>
            </a:r>
            <a:r>
              <a:rPr lang="en-US" sz="1700">
                <a:solidFill>
                  <a:srgbClr val="101419"/>
                </a:solidFill>
                <a:latin typeface="Poppins"/>
                <a:ea typeface="Poppins"/>
                <a:cs typeface="Poppins"/>
                <a:sym typeface="Poppins"/>
              </a:rPr>
              <a:t> This strategy in</a:t>
            </a:r>
            <a:r>
              <a:rPr lang="en-US" sz="1700">
                <a:solidFill>
                  <a:srgbClr val="101419"/>
                </a:solidFill>
                <a:latin typeface="Poppins"/>
                <a:ea typeface="Poppins"/>
                <a:cs typeface="Poppins"/>
                <a:sym typeface="Poppins"/>
              </a:rPr>
              <a:t>c</a:t>
            </a:r>
            <a:r>
              <a:rPr lang="en-US" sz="1700">
                <a:solidFill>
                  <a:srgbClr val="101419"/>
                </a:solidFill>
                <a:latin typeface="Poppins"/>
                <a:ea typeface="Poppins"/>
                <a:cs typeface="Poppins"/>
                <a:sym typeface="Poppins"/>
              </a:rPr>
              <a:t>re</a:t>
            </a:r>
            <a:r>
              <a:rPr lang="en-US" sz="1700">
                <a:solidFill>
                  <a:srgbClr val="101419"/>
                </a:solidFill>
                <a:latin typeface="Poppins"/>
                <a:ea typeface="Poppins"/>
                <a:cs typeface="Poppins"/>
                <a:sym typeface="Poppins"/>
              </a:rPr>
              <a:t>ases</a:t>
            </a:r>
            <a:r>
              <a:rPr lang="en-US" sz="1700">
                <a:solidFill>
                  <a:srgbClr val="101419"/>
                </a:solidFill>
                <a:latin typeface="Poppins"/>
                <a:ea typeface="Poppins"/>
                <a:cs typeface="Poppins"/>
                <a:sym typeface="Poppins"/>
              </a:rPr>
              <a:t> </a:t>
            </a:r>
            <a:r>
              <a:rPr lang="en-US" sz="1700">
                <a:solidFill>
                  <a:srgbClr val="101419"/>
                </a:solidFill>
                <a:latin typeface="Poppins"/>
                <a:ea typeface="Poppins"/>
                <a:cs typeface="Poppins"/>
                <a:sym typeface="Poppins"/>
              </a:rPr>
              <a:t>AOV</a:t>
            </a:r>
            <a:r>
              <a:rPr lang="en-US" sz="1700">
                <a:solidFill>
                  <a:srgbClr val="101419"/>
                </a:solidFill>
                <a:latin typeface="Poppins"/>
                <a:ea typeface="Poppins"/>
                <a:cs typeface="Poppins"/>
                <a:sym typeface="Poppins"/>
              </a:rPr>
              <a:t> </a:t>
            </a:r>
            <a:r>
              <a:rPr lang="en-US" sz="1700">
                <a:solidFill>
                  <a:srgbClr val="101419"/>
                </a:solidFill>
                <a:latin typeface="Poppins"/>
                <a:ea typeface="Poppins"/>
                <a:cs typeface="Poppins"/>
                <a:sym typeface="Poppins"/>
              </a:rPr>
              <a:t>whil</a:t>
            </a:r>
            <a:r>
              <a:rPr lang="en-US" sz="1700">
                <a:solidFill>
                  <a:srgbClr val="101419"/>
                </a:solidFill>
                <a:latin typeface="Poppins"/>
                <a:ea typeface="Poppins"/>
                <a:cs typeface="Poppins"/>
                <a:sym typeface="Poppins"/>
              </a:rPr>
              <a:t>e simultane</a:t>
            </a:r>
            <a:r>
              <a:rPr lang="en-US" sz="1700">
                <a:solidFill>
                  <a:srgbClr val="101419"/>
                </a:solidFill>
                <a:latin typeface="Poppins"/>
                <a:ea typeface="Poppins"/>
                <a:cs typeface="Poppins"/>
                <a:sym typeface="Poppins"/>
              </a:rPr>
              <a:t>ously</a:t>
            </a:r>
            <a:r>
              <a:rPr lang="en-US" sz="1700">
                <a:solidFill>
                  <a:srgbClr val="101419"/>
                </a:solidFill>
                <a:latin typeface="Poppins"/>
                <a:ea typeface="Poppins"/>
                <a:cs typeface="Poppins"/>
                <a:sym typeface="Poppins"/>
              </a:rPr>
              <a:t> boo</a:t>
            </a:r>
            <a:r>
              <a:rPr lang="en-US" sz="1700">
                <a:solidFill>
                  <a:srgbClr val="101419"/>
                </a:solidFill>
                <a:latin typeface="Poppins"/>
                <a:ea typeface="Poppins"/>
                <a:cs typeface="Poppins"/>
                <a:sym typeface="Poppins"/>
              </a:rPr>
              <a:t>sting</a:t>
            </a:r>
            <a:r>
              <a:rPr lang="en-US" sz="1700">
                <a:solidFill>
                  <a:srgbClr val="101419"/>
                </a:solidFill>
                <a:latin typeface="Poppins"/>
                <a:ea typeface="Poppins"/>
                <a:cs typeface="Poppins"/>
                <a:sym typeface="Poppins"/>
              </a:rPr>
              <a:t> conversions by en</a:t>
            </a:r>
            <a:r>
              <a:rPr lang="en-US" sz="1700">
                <a:solidFill>
                  <a:srgbClr val="101419"/>
                </a:solidFill>
                <a:latin typeface="Poppins"/>
                <a:ea typeface="Poppins"/>
                <a:cs typeface="Poppins"/>
                <a:sym typeface="Poppins"/>
              </a:rPr>
              <a:t>hancing p</a:t>
            </a:r>
            <a:r>
              <a:rPr lang="en-US" sz="1700">
                <a:solidFill>
                  <a:srgbClr val="101419"/>
                </a:solidFill>
                <a:latin typeface="Poppins"/>
                <a:ea typeface="Poppins"/>
                <a:cs typeface="Poppins"/>
                <a:sym typeface="Poppins"/>
              </a:rPr>
              <a:t>er</a:t>
            </a:r>
            <a:r>
              <a:rPr lang="en-US" sz="1700">
                <a:solidFill>
                  <a:srgbClr val="101419"/>
                </a:solidFill>
                <a:latin typeface="Poppins"/>
                <a:ea typeface="Poppins"/>
                <a:cs typeface="Poppins"/>
                <a:sym typeface="Poppins"/>
              </a:rPr>
              <a:t>c</a:t>
            </a:r>
            <a:r>
              <a:rPr lang="en-US" sz="1700">
                <a:solidFill>
                  <a:srgbClr val="101419"/>
                </a:solidFill>
                <a:latin typeface="Poppins"/>
                <a:ea typeface="Poppins"/>
                <a:cs typeface="Poppins"/>
                <a:sym typeface="Poppins"/>
              </a:rPr>
              <a:t>e</a:t>
            </a:r>
            <a:r>
              <a:rPr lang="en-US" sz="1700">
                <a:solidFill>
                  <a:srgbClr val="101419"/>
                </a:solidFill>
                <a:latin typeface="Poppins"/>
                <a:ea typeface="Poppins"/>
                <a:cs typeface="Poppins"/>
                <a:sym typeface="Poppins"/>
              </a:rPr>
              <a:t>iv</a:t>
            </a:r>
            <a:r>
              <a:rPr lang="en-US" sz="1700">
                <a:solidFill>
                  <a:srgbClr val="101419"/>
                </a:solidFill>
                <a:latin typeface="Poppins"/>
                <a:ea typeface="Poppins"/>
                <a:cs typeface="Poppins"/>
                <a:sym typeface="Poppins"/>
              </a:rPr>
              <a:t>ed v</a:t>
            </a:r>
            <a:r>
              <a:rPr lang="en-US" sz="1700">
                <a:solidFill>
                  <a:srgbClr val="101419"/>
                </a:solidFill>
                <a:latin typeface="Poppins"/>
                <a:ea typeface="Poppins"/>
                <a:cs typeface="Poppins"/>
                <a:sym typeface="Poppins"/>
              </a:rPr>
              <a:t>a</a:t>
            </a:r>
            <a:r>
              <a:rPr lang="en-US" sz="1700">
                <a:solidFill>
                  <a:srgbClr val="101419"/>
                </a:solidFill>
                <a:latin typeface="Poppins"/>
                <a:ea typeface="Poppins"/>
                <a:cs typeface="Poppins"/>
                <a:sym typeface="Poppins"/>
              </a:rPr>
              <a:t>l</a:t>
            </a:r>
            <a:r>
              <a:rPr lang="en-US" sz="1700">
                <a:solidFill>
                  <a:srgbClr val="101419"/>
                </a:solidFill>
                <a:latin typeface="Poppins"/>
                <a:ea typeface="Poppins"/>
                <a:cs typeface="Poppins"/>
                <a:sym typeface="Poppins"/>
              </a:rPr>
              <a:t>ue</a:t>
            </a:r>
            <a:r>
              <a:rPr lang="en-US" sz="1700">
                <a:solidFill>
                  <a:srgbClr val="101419"/>
                </a:solidFill>
                <a:latin typeface="Poppins"/>
                <a:ea typeface="Poppins"/>
                <a:cs typeface="Poppins"/>
                <a:sym typeface="Poppins"/>
              </a:rPr>
              <a:t>.</a:t>
            </a:r>
          </a:p>
        </p:txBody>
      </p:sp>
      <p:sp>
        <p:nvSpPr>
          <p:cNvPr name="TextBox 29" id="29"/>
          <p:cNvSpPr txBox="true"/>
          <p:nvPr/>
        </p:nvSpPr>
        <p:spPr>
          <a:xfrm rot="0">
            <a:off x="9781667" y="5878315"/>
            <a:ext cx="7034831" cy="536501"/>
          </a:xfrm>
          <a:prstGeom prst="rect">
            <a:avLst/>
          </a:prstGeom>
        </p:spPr>
        <p:txBody>
          <a:bodyPr anchor="t" rtlCol="false" tIns="0" lIns="0" bIns="0" rIns="0">
            <a:spAutoFit/>
          </a:bodyPr>
          <a:lstStyle/>
          <a:p>
            <a:pPr algn="l">
              <a:lnSpc>
                <a:spcPts val="2000"/>
              </a:lnSpc>
            </a:pPr>
            <a:r>
              <a:rPr lang="en-US" sz="2000" b="true">
                <a:solidFill>
                  <a:srgbClr val="073E88"/>
                </a:solidFill>
                <a:latin typeface="Poppins Bold"/>
                <a:ea typeface="Poppins Bold"/>
                <a:cs typeface="Poppins Bold"/>
                <a:sym typeface="Poppins Bold"/>
              </a:rPr>
              <a:t>Bundling / Limited-Time Promos &amp; Flash Sales (+0.4% CR)</a:t>
            </a:r>
          </a:p>
        </p:txBody>
      </p:sp>
      <p:grpSp>
        <p:nvGrpSpPr>
          <p:cNvPr name="Group 30" id="30"/>
          <p:cNvGrpSpPr/>
          <p:nvPr/>
        </p:nvGrpSpPr>
        <p:grpSpPr>
          <a:xfrm rot="0">
            <a:off x="9291600" y="5928023"/>
            <a:ext cx="302767" cy="304726"/>
            <a:chOff x="0" y="0"/>
            <a:chExt cx="807575" cy="812800"/>
          </a:xfrm>
        </p:grpSpPr>
        <p:sp>
          <p:nvSpPr>
            <p:cNvPr name="Freeform 31" id="31"/>
            <p:cNvSpPr/>
            <p:nvPr/>
          </p:nvSpPr>
          <p:spPr>
            <a:xfrm flipH="false" flipV="false" rot="0">
              <a:off x="0" y="0"/>
              <a:ext cx="807575" cy="812800"/>
            </a:xfrm>
            <a:custGeom>
              <a:avLst/>
              <a:gdLst/>
              <a:ahLst/>
              <a:cxnLst/>
              <a:rect r="r" b="b" t="t" l="l"/>
              <a:pathLst>
                <a:path h="812800" w="807575">
                  <a:moveTo>
                    <a:pt x="403787" y="0"/>
                  </a:moveTo>
                  <a:cubicBezTo>
                    <a:pt x="180782" y="0"/>
                    <a:pt x="0" y="181951"/>
                    <a:pt x="0" y="406400"/>
                  </a:cubicBezTo>
                  <a:cubicBezTo>
                    <a:pt x="0" y="630849"/>
                    <a:pt x="180782" y="812800"/>
                    <a:pt x="403787" y="812800"/>
                  </a:cubicBezTo>
                  <a:cubicBezTo>
                    <a:pt x="626793" y="812800"/>
                    <a:pt x="807575" y="630849"/>
                    <a:pt x="807575" y="406400"/>
                  </a:cubicBezTo>
                  <a:cubicBezTo>
                    <a:pt x="807575" y="181951"/>
                    <a:pt x="626793" y="0"/>
                    <a:pt x="403787" y="0"/>
                  </a:cubicBezTo>
                  <a:close/>
                </a:path>
              </a:pathLst>
            </a:custGeom>
            <a:solidFill>
              <a:srgbClr val="073E88"/>
            </a:solidFill>
          </p:spPr>
        </p:sp>
        <p:sp>
          <p:nvSpPr>
            <p:cNvPr name="TextBox 32" id="32"/>
            <p:cNvSpPr txBox="true"/>
            <p:nvPr/>
          </p:nvSpPr>
          <p:spPr>
            <a:xfrm>
              <a:off x="75710" y="38100"/>
              <a:ext cx="656154" cy="698500"/>
            </a:xfrm>
            <a:prstGeom prst="rect">
              <a:avLst/>
            </a:prstGeom>
          </p:spPr>
          <p:txBody>
            <a:bodyPr anchor="ctr" rtlCol="false" tIns="15224" lIns="15224" bIns="15224" rIns="15224"/>
            <a:lstStyle/>
            <a:p>
              <a:pPr algn="ctr">
                <a:lnSpc>
                  <a:spcPts val="2659"/>
                </a:lnSpc>
              </a:pPr>
            </a:p>
          </p:txBody>
        </p:sp>
      </p:grpSp>
      <p:sp>
        <p:nvSpPr>
          <p:cNvPr name="TextBox 33" id="33"/>
          <p:cNvSpPr txBox="true"/>
          <p:nvPr/>
        </p:nvSpPr>
        <p:spPr>
          <a:xfrm rot="0">
            <a:off x="9335508" y="6017586"/>
            <a:ext cx="235623" cy="165455"/>
          </a:xfrm>
          <a:prstGeom prst="rect">
            <a:avLst/>
          </a:prstGeom>
        </p:spPr>
        <p:txBody>
          <a:bodyPr anchor="t" rtlCol="false" tIns="0" lIns="0" bIns="0" rIns="0">
            <a:spAutoFit/>
          </a:bodyPr>
          <a:lstStyle/>
          <a:p>
            <a:pPr algn="ctr">
              <a:lnSpc>
                <a:spcPts val="1241"/>
              </a:lnSpc>
            </a:pPr>
            <a:r>
              <a:rPr lang="en-US" sz="1241" b="true">
                <a:solidFill>
                  <a:srgbClr val="FFFFFF"/>
                </a:solidFill>
                <a:latin typeface="Poppins Bold"/>
                <a:ea typeface="Poppins Bold"/>
                <a:cs typeface="Poppins Bold"/>
                <a:sym typeface="Poppins Bold"/>
              </a:rPr>
              <a:t>4</a:t>
            </a:r>
          </a:p>
        </p:txBody>
      </p:sp>
      <p:sp>
        <p:nvSpPr>
          <p:cNvPr name="TextBox 34" id="34"/>
          <p:cNvSpPr txBox="true"/>
          <p:nvPr/>
        </p:nvSpPr>
        <p:spPr>
          <a:xfrm rot="0">
            <a:off x="9291600" y="8176269"/>
            <a:ext cx="7495437" cy="1174301"/>
          </a:xfrm>
          <a:prstGeom prst="rect">
            <a:avLst/>
          </a:prstGeom>
        </p:spPr>
        <p:txBody>
          <a:bodyPr anchor="t" rtlCol="false" tIns="0" lIns="0" bIns="0" rIns="0">
            <a:spAutoFit/>
          </a:bodyPr>
          <a:lstStyle/>
          <a:p>
            <a:pPr algn="just">
              <a:lnSpc>
                <a:spcPts val="1870"/>
              </a:lnSpc>
            </a:pPr>
            <a:r>
              <a:rPr lang="en-US" sz="1700">
                <a:solidFill>
                  <a:srgbClr val="101419"/>
                </a:solidFill>
                <a:latin typeface="Poppins"/>
                <a:ea typeface="Poppins"/>
                <a:cs typeface="Poppins"/>
                <a:sym typeface="Poppins"/>
              </a:rPr>
              <a:t>Focus on Den</a:t>
            </a:r>
            <a:r>
              <a:rPr lang="en-US" sz="1700">
                <a:solidFill>
                  <a:srgbClr val="101419"/>
                </a:solidFill>
                <a:latin typeface="Poppins"/>
                <a:ea typeface="Poppins"/>
                <a:cs typeface="Poppins"/>
                <a:sym typeface="Poppins"/>
              </a:rPr>
              <a:t>pa</a:t>
            </a:r>
            <a:r>
              <a:rPr lang="en-US" sz="1700">
                <a:solidFill>
                  <a:srgbClr val="101419"/>
                </a:solidFill>
                <a:latin typeface="Poppins"/>
                <a:ea typeface="Poppins"/>
                <a:cs typeface="Poppins"/>
                <a:sym typeface="Poppins"/>
              </a:rPr>
              <a:t>sa</a:t>
            </a:r>
            <a:r>
              <a:rPr lang="en-US" sz="1700">
                <a:solidFill>
                  <a:srgbClr val="101419"/>
                </a:solidFill>
                <a:latin typeface="Poppins"/>
                <a:ea typeface="Poppins"/>
                <a:cs typeface="Poppins"/>
                <a:sym typeface="Poppins"/>
              </a:rPr>
              <a:t>r and </a:t>
            </a:r>
            <a:r>
              <a:rPr lang="en-US" sz="1700">
                <a:solidFill>
                  <a:srgbClr val="101419"/>
                </a:solidFill>
                <a:latin typeface="Poppins"/>
                <a:ea typeface="Poppins"/>
                <a:cs typeface="Poppins"/>
                <a:sym typeface="Poppins"/>
              </a:rPr>
              <a:t>the</a:t>
            </a:r>
            <a:r>
              <a:rPr lang="en-US" sz="1700">
                <a:solidFill>
                  <a:srgbClr val="101419"/>
                </a:solidFill>
                <a:latin typeface="Poppins"/>
                <a:ea typeface="Poppins"/>
                <a:cs typeface="Poppins"/>
                <a:sym typeface="Poppins"/>
              </a:rPr>
              <a:t> </a:t>
            </a:r>
            <a:r>
              <a:rPr lang="en-US" sz="1700" b="true">
                <a:solidFill>
                  <a:srgbClr val="101419"/>
                </a:solidFill>
                <a:latin typeface="Poppins Bold"/>
                <a:ea typeface="Poppins Bold"/>
                <a:cs typeface="Poppins Bold"/>
                <a:sym typeface="Poppins Bold"/>
              </a:rPr>
              <a:t>Shoes</a:t>
            </a:r>
            <a:r>
              <a:rPr lang="en-US" sz="1700">
                <a:solidFill>
                  <a:srgbClr val="101419"/>
                </a:solidFill>
                <a:latin typeface="Poppins"/>
                <a:ea typeface="Poppins"/>
                <a:cs typeface="Poppins"/>
                <a:sym typeface="Poppins"/>
              </a:rPr>
              <a:t> c</a:t>
            </a:r>
            <a:r>
              <a:rPr lang="en-US" sz="1700">
                <a:solidFill>
                  <a:srgbClr val="101419"/>
                </a:solidFill>
                <a:latin typeface="Poppins"/>
                <a:ea typeface="Poppins"/>
                <a:cs typeface="Poppins"/>
                <a:sym typeface="Poppins"/>
              </a:rPr>
              <a:t>at</a:t>
            </a:r>
            <a:r>
              <a:rPr lang="en-US" sz="1700">
                <a:solidFill>
                  <a:srgbClr val="101419"/>
                </a:solidFill>
                <a:latin typeface="Poppins"/>
                <a:ea typeface="Poppins"/>
                <a:cs typeface="Poppins"/>
                <a:sym typeface="Poppins"/>
              </a:rPr>
              <a:t>e</a:t>
            </a:r>
            <a:r>
              <a:rPr lang="en-US" sz="1700">
                <a:solidFill>
                  <a:srgbClr val="101419"/>
                </a:solidFill>
                <a:latin typeface="Poppins"/>
                <a:ea typeface="Poppins"/>
                <a:cs typeface="Poppins"/>
                <a:sym typeface="Poppins"/>
              </a:rPr>
              <a:t>g</a:t>
            </a:r>
            <a:r>
              <a:rPr lang="en-US" sz="1700">
                <a:solidFill>
                  <a:srgbClr val="101419"/>
                </a:solidFill>
                <a:latin typeface="Poppins"/>
                <a:ea typeface="Poppins"/>
                <a:cs typeface="Poppins"/>
                <a:sym typeface="Poppins"/>
              </a:rPr>
              <a:t>ory</a:t>
            </a:r>
            <a:r>
              <a:rPr lang="en-US" sz="1700">
                <a:solidFill>
                  <a:srgbClr val="101419"/>
                </a:solidFill>
                <a:latin typeface="Poppins"/>
                <a:ea typeface="Poppins"/>
                <a:cs typeface="Poppins"/>
                <a:sym typeface="Poppins"/>
              </a:rPr>
              <a:t>. </a:t>
            </a:r>
            <a:r>
              <a:rPr lang="en-US" b="true" sz="1700">
                <a:solidFill>
                  <a:srgbClr val="101419"/>
                </a:solidFill>
                <a:latin typeface="Poppins Bold"/>
                <a:ea typeface="Poppins Bold"/>
                <a:cs typeface="Poppins Bold"/>
                <a:sym typeface="Poppins Bold"/>
              </a:rPr>
              <a:t>Create interactive content such as user-created posts and review videos, and offer loyalty perks.</a:t>
            </a:r>
            <a:r>
              <a:rPr lang="en-US" sz="1700">
                <a:solidFill>
                  <a:srgbClr val="101419"/>
                </a:solidFill>
                <a:latin typeface="Poppins"/>
                <a:ea typeface="Poppins"/>
                <a:cs typeface="Poppins"/>
                <a:sym typeface="Poppins"/>
              </a:rPr>
              <a:t> Thes</a:t>
            </a:r>
            <a:r>
              <a:rPr lang="en-US" sz="1700">
                <a:solidFill>
                  <a:srgbClr val="101419"/>
                </a:solidFill>
                <a:latin typeface="Poppins"/>
                <a:ea typeface="Poppins"/>
                <a:cs typeface="Poppins"/>
                <a:sym typeface="Poppins"/>
              </a:rPr>
              <a:t>e </a:t>
            </a:r>
            <a:r>
              <a:rPr lang="en-US" sz="1700">
                <a:solidFill>
                  <a:srgbClr val="101419"/>
                </a:solidFill>
                <a:latin typeface="Poppins"/>
                <a:ea typeface="Poppins"/>
                <a:cs typeface="Poppins"/>
                <a:sym typeface="Poppins"/>
              </a:rPr>
              <a:t>ef</a:t>
            </a:r>
            <a:r>
              <a:rPr lang="en-US" sz="1700">
                <a:solidFill>
                  <a:srgbClr val="101419"/>
                </a:solidFill>
                <a:latin typeface="Poppins"/>
                <a:ea typeface="Poppins"/>
                <a:cs typeface="Poppins"/>
                <a:sym typeface="Poppins"/>
              </a:rPr>
              <a:t>for</a:t>
            </a:r>
            <a:r>
              <a:rPr lang="en-US" sz="1700">
                <a:solidFill>
                  <a:srgbClr val="101419"/>
                </a:solidFill>
                <a:latin typeface="Poppins"/>
                <a:ea typeface="Poppins"/>
                <a:cs typeface="Poppins"/>
                <a:sym typeface="Poppins"/>
              </a:rPr>
              <a:t>ts</a:t>
            </a:r>
            <a:r>
              <a:rPr lang="en-US" sz="1700">
                <a:solidFill>
                  <a:srgbClr val="101419"/>
                </a:solidFill>
                <a:latin typeface="Poppins"/>
                <a:ea typeface="Poppins"/>
                <a:cs typeface="Poppins"/>
                <a:sym typeface="Poppins"/>
              </a:rPr>
              <a:t> a</a:t>
            </a:r>
            <a:r>
              <a:rPr lang="en-US" sz="1700">
                <a:solidFill>
                  <a:srgbClr val="101419"/>
                </a:solidFill>
                <a:latin typeface="Poppins"/>
                <a:ea typeface="Poppins"/>
                <a:cs typeface="Poppins"/>
                <a:sym typeface="Poppins"/>
              </a:rPr>
              <a:t>re expect</a:t>
            </a:r>
            <a:r>
              <a:rPr lang="en-US" sz="1700">
                <a:solidFill>
                  <a:srgbClr val="101419"/>
                </a:solidFill>
                <a:latin typeface="Poppins"/>
                <a:ea typeface="Poppins"/>
                <a:cs typeface="Poppins"/>
                <a:sym typeface="Poppins"/>
              </a:rPr>
              <a:t>ed </a:t>
            </a:r>
            <a:r>
              <a:rPr lang="en-US" sz="1700">
                <a:solidFill>
                  <a:srgbClr val="101419"/>
                </a:solidFill>
                <a:latin typeface="Poppins"/>
                <a:ea typeface="Poppins"/>
                <a:cs typeface="Poppins"/>
                <a:sym typeface="Poppins"/>
              </a:rPr>
              <a:t>to in</a:t>
            </a:r>
            <a:r>
              <a:rPr lang="en-US" sz="1700">
                <a:solidFill>
                  <a:srgbClr val="101419"/>
                </a:solidFill>
                <a:latin typeface="Poppins"/>
                <a:ea typeface="Poppins"/>
                <a:cs typeface="Poppins"/>
                <a:sym typeface="Poppins"/>
              </a:rPr>
              <a:t>cr</a:t>
            </a:r>
            <a:r>
              <a:rPr lang="en-US" sz="1700">
                <a:solidFill>
                  <a:srgbClr val="101419"/>
                </a:solidFill>
                <a:latin typeface="Poppins"/>
                <a:ea typeface="Poppins"/>
                <a:cs typeface="Poppins"/>
                <a:sym typeface="Poppins"/>
              </a:rPr>
              <a:t>ea</a:t>
            </a:r>
            <a:r>
              <a:rPr lang="en-US" sz="1700">
                <a:solidFill>
                  <a:srgbClr val="101419"/>
                </a:solidFill>
                <a:latin typeface="Poppins"/>
                <a:ea typeface="Poppins"/>
                <a:cs typeface="Poppins"/>
                <a:sym typeface="Poppins"/>
              </a:rPr>
              <a:t>s</a:t>
            </a:r>
            <a:r>
              <a:rPr lang="en-US" sz="1700">
                <a:solidFill>
                  <a:srgbClr val="101419"/>
                </a:solidFill>
                <a:latin typeface="Poppins"/>
                <a:ea typeface="Poppins"/>
                <a:cs typeface="Poppins"/>
                <a:sym typeface="Poppins"/>
              </a:rPr>
              <a:t>e engag</a:t>
            </a:r>
            <a:r>
              <a:rPr lang="en-US" sz="1700">
                <a:solidFill>
                  <a:srgbClr val="101419"/>
                </a:solidFill>
                <a:latin typeface="Poppins"/>
                <a:ea typeface="Poppins"/>
                <a:cs typeface="Poppins"/>
                <a:sym typeface="Poppins"/>
              </a:rPr>
              <a:t>eme</a:t>
            </a:r>
            <a:r>
              <a:rPr lang="en-US" sz="1700">
                <a:solidFill>
                  <a:srgbClr val="101419"/>
                </a:solidFill>
                <a:latin typeface="Poppins"/>
                <a:ea typeface="Poppins"/>
                <a:cs typeface="Poppins"/>
                <a:sym typeface="Poppins"/>
              </a:rPr>
              <a:t>n</a:t>
            </a:r>
            <a:r>
              <a:rPr lang="en-US" sz="1700">
                <a:solidFill>
                  <a:srgbClr val="101419"/>
                </a:solidFill>
                <a:latin typeface="Poppins"/>
                <a:ea typeface="Poppins"/>
                <a:cs typeface="Poppins"/>
                <a:sym typeface="Poppins"/>
              </a:rPr>
              <a:t>t</a:t>
            </a:r>
            <a:r>
              <a:rPr lang="en-US" sz="1700">
                <a:solidFill>
                  <a:srgbClr val="101419"/>
                </a:solidFill>
                <a:latin typeface="Poppins"/>
                <a:ea typeface="Poppins"/>
                <a:cs typeface="Poppins"/>
                <a:sym typeface="Poppins"/>
              </a:rPr>
              <a:t>,</a:t>
            </a:r>
            <a:r>
              <a:rPr lang="en-US" sz="1700">
                <a:solidFill>
                  <a:srgbClr val="101419"/>
                </a:solidFill>
                <a:latin typeface="Poppins"/>
                <a:ea typeface="Poppins"/>
                <a:cs typeface="Poppins"/>
                <a:sym typeface="Poppins"/>
              </a:rPr>
              <a:t> </a:t>
            </a:r>
            <a:r>
              <a:rPr lang="en-US" sz="1700">
                <a:solidFill>
                  <a:srgbClr val="101419"/>
                </a:solidFill>
                <a:latin typeface="Poppins"/>
                <a:ea typeface="Poppins"/>
                <a:cs typeface="Poppins"/>
                <a:sym typeface="Poppins"/>
              </a:rPr>
              <a:t>impr</a:t>
            </a:r>
            <a:r>
              <a:rPr lang="en-US" sz="1700">
                <a:solidFill>
                  <a:srgbClr val="101419"/>
                </a:solidFill>
                <a:latin typeface="Poppins"/>
                <a:ea typeface="Poppins"/>
                <a:cs typeface="Poppins"/>
                <a:sym typeface="Poppins"/>
              </a:rPr>
              <a:t>ove</a:t>
            </a:r>
            <a:r>
              <a:rPr lang="en-US" sz="1700">
                <a:solidFill>
                  <a:srgbClr val="101419"/>
                </a:solidFill>
                <a:latin typeface="Poppins"/>
                <a:ea typeface="Poppins"/>
                <a:cs typeface="Poppins"/>
                <a:sym typeface="Poppins"/>
              </a:rPr>
              <a:t> cl</a:t>
            </a:r>
            <a:r>
              <a:rPr lang="en-US" sz="1700">
                <a:solidFill>
                  <a:srgbClr val="101419"/>
                </a:solidFill>
                <a:latin typeface="Poppins"/>
                <a:ea typeface="Poppins"/>
                <a:cs typeface="Poppins"/>
                <a:sym typeface="Poppins"/>
              </a:rPr>
              <a:t>i</a:t>
            </a:r>
            <a:r>
              <a:rPr lang="en-US" sz="1700">
                <a:solidFill>
                  <a:srgbClr val="101419"/>
                </a:solidFill>
                <a:latin typeface="Poppins"/>
                <a:ea typeface="Poppins"/>
                <a:cs typeface="Poppins"/>
                <a:sym typeface="Poppins"/>
              </a:rPr>
              <a:t>ck-thr</a:t>
            </a:r>
            <a:r>
              <a:rPr lang="en-US" sz="1700">
                <a:solidFill>
                  <a:srgbClr val="101419"/>
                </a:solidFill>
                <a:latin typeface="Poppins"/>
                <a:ea typeface="Poppins"/>
                <a:cs typeface="Poppins"/>
                <a:sym typeface="Poppins"/>
              </a:rPr>
              <a:t>o</a:t>
            </a:r>
            <a:r>
              <a:rPr lang="en-US" sz="1700">
                <a:solidFill>
                  <a:srgbClr val="101419"/>
                </a:solidFill>
                <a:latin typeface="Poppins"/>
                <a:ea typeface="Poppins"/>
                <a:cs typeface="Poppins"/>
                <a:sym typeface="Poppins"/>
              </a:rPr>
              <a:t>ugh</a:t>
            </a:r>
            <a:r>
              <a:rPr lang="en-US" sz="1700">
                <a:solidFill>
                  <a:srgbClr val="101419"/>
                </a:solidFill>
                <a:latin typeface="Poppins"/>
                <a:ea typeface="Poppins"/>
                <a:cs typeface="Poppins"/>
                <a:sym typeface="Poppins"/>
              </a:rPr>
              <a:t> rate</a:t>
            </a:r>
            <a:r>
              <a:rPr lang="en-US" sz="1700">
                <a:solidFill>
                  <a:srgbClr val="101419"/>
                </a:solidFill>
                <a:latin typeface="Poppins"/>
                <a:ea typeface="Poppins"/>
                <a:cs typeface="Poppins"/>
                <a:sym typeface="Poppins"/>
              </a:rPr>
              <a:t>s,</a:t>
            </a:r>
            <a:r>
              <a:rPr lang="en-US" sz="1700">
                <a:solidFill>
                  <a:srgbClr val="101419"/>
                </a:solidFill>
                <a:latin typeface="Poppins"/>
                <a:ea typeface="Poppins"/>
                <a:cs typeface="Poppins"/>
                <a:sym typeface="Poppins"/>
              </a:rPr>
              <a:t> </a:t>
            </a:r>
            <a:r>
              <a:rPr lang="en-US" sz="1700">
                <a:solidFill>
                  <a:srgbClr val="101419"/>
                </a:solidFill>
                <a:latin typeface="Poppins"/>
                <a:ea typeface="Poppins"/>
                <a:cs typeface="Poppins"/>
                <a:sym typeface="Poppins"/>
              </a:rPr>
              <a:t>and</a:t>
            </a:r>
            <a:r>
              <a:rPr lang="en-US" sz="1700">
                <a:solidFill>
                  <a:srgbClr val="101419"/>
                </a:solidFill>
                <a:latin typeface="Poppins"/>
                <a:ea typeface="Poppins"/>
                <a:cs typeface="Poppins"/>
                <a:sym typeface="Poppins"/>
              </a:rPr>
              <a:t> </a:t>
            </a:r>
            <a:r>
              <a:rPr lang="en-US" sz="1700">
                <a:solidFill>
                  <a:srgbClr val="101419"/>
                </a:solidFill>
                <a:latin typeface="Poppins"/>
                <a:ea typeface="Poppins"/>
                <a:cs typeface="Poppins"/>
                <a:sym typeface="Poppins"/>
              </a:rPr>
              <a:t>ul</a:t>
            </a:r>
            <a:r>
              <a:rPr lang="en-US" sz="1700">
                <a:solidFill>
                  <a:srgbClr val="101419"/>
                </a:solidFill>
                <a:latin typeface="Poppins"/>
                <a:ea typeface="Poppins"/>
                <a:cs typeface="Poppins"/>
                <a:sym typeface="Poppins"/>
              </a:rPr>
              <a:t>t</a:t>
            </a:r>
            <a:r>
              <a:rPr lang="en-US" sz="1700">
                <a:solidFill>
                  <a:srgbClr val="101419"/>
                </a:solidFill>
                <a:latin typeface="Poppins"/>
                <a:ea typeface="Poppins"/>
                <a:cs typeface="Poppins"/>
                <a:sym typeface="Poppins"/>
              </a:rPr>
              <a:t>im</a:t>
            </a:r>
            <a:r>
              <a:rPr lang="en-US" sz="1700">
                <a:solidFill>
                  <a:srgbClr val="101419"/>
                </a:solidFill>
                <a:latin typeface="Poppins"/>
                <a:ea typeface="Poppins"/>
                <a:cs typeface="Poppins"/>
                <a:sym typeface="Poppins"/>
              </a:rPr>
              <a:t>ate</a:t>
            </a:r>
            <a:r>
              <a:rPr lang="en-US" sz="1700">
                <a:solidFill>
                  <a:srgbClr val="101419"/>
                </a:solidFill>
                <a:latin typeface="Poppins"/>
                <a:ea typeface="Poppins"/>
                <a:cs typeface="Poppins"/>
                <a:sym typeface="Poppins"/>
              </a:rPr>
              <a:t>ly</a:t>
            </a:r>
            <a:r>
              <a:rPr lang="en-US" sz="1700">
                <a:solidFill>
                  <a:srgbClr val="101419"/>
                </a:solidFill>
                <a:latin typeface="Poppins"/>
                <a:ea typeface="Poppins"/>
                <a:cs typeface="Poppins"/>
                <a:sym typeface="Poppins"/>
              </a:rPr>
              <a:t> </a:t>
            </a:r>
            <a:r>
              <a:rPr lang="en-US" sz="1700">
                <a:solidFill>
                  <a:srgbClr val="101419"/>
                </a:solidFill>
                <a:latin typeface="Poppins"/>
                <a:ea typeface="Poppins"/>
                <a:cs typeface="Poppins"/>
                <a:sym typeface="Poppins"/>
              </a:rPr>
              <a:t>con</a:t>
            </a:r>
            <a:r>
              <a:rPr lang="en-US" sz="1700">
                <a:solidFill>
                  <a:srgbClr val="101419"/>
                </a:solidFill>
                <a:latin typeface="Poppins"/>
                <a:ea typeface="Poppins"/>
                <a:cs typeface="Poppins"/>
                <a:sym typeface="Poppins"/>
              </a:rPr>
              <a:t>tri</a:t>
            </a:r>
            <a:r>
              <a:rPr lang="en-US" sz="1700">
                <a:solidFill>
                  <a:srgbClr val="101419"/>
                </a:solidFill>
                <a:latin typeface="Poppins"/>
                <a:ea typeface="Poppins"/>
                <a:cs typeface="Poppins"/>
                <a:sym typeface="Poppins"/>
              </a:rPr>
              <a:t>bute to</a:t>
            </a:r>
            <a:r>
              <a:rPr lang="en-US" sz="1700">
                <a:solidFill>
                  <a:srgbClr val="101419"/>
                </a:solidFill>
                <a:latin typeface="Poppins"/>
                <a:ea typeface="Poppins"/>
                <a:cs typeface="Poppins"/>
                <a:sym typeface="Poppins"/>
              </a:rPr>
              <a:t> </a:t>
            </a:r>
            <a:r>
              <a:rPr lang="en-US" sz="1700">
                <a:solidFill>
                  <a:srgbClr val="101419"/>
                </a:solidFill>
                <a:latin typeface="Poppins"/>
                <a:ea typeface="Poppins"/>
                <a:cs typeface="Poppins"/>
                <a:sym typeface="Poppins"/>
              </a:rPr>
              <a:t>higher</a:t>
            </a:r>
            <a:r>
              <a:rPr lang="en-US" sz="1700">
                <a:solidFill>
                  <a:srgbClr val="101419"/>
                </a:solidFill>
                <a:latin typeface="Poppins"/>
                <a:ea typeface="Poppins"/>
                <a:cs typeface="Poppins"/>
                <a:sym typeface="Poppins"/>
              </a:rPr>
              <a:t> con</a:t>
            </a:r>
            <a:r>
              <a:rPr lang="en-US" sz="1700">
                <a:solidFill>
                  <a:srgbClr val="101419"/>
                </a:solidFill>
                <a:latin typeface="Poppins"/>
                <a:ea typeface="Poppins"/>
                <a:cs typeface="Poppins"/>
                <a:sym typeface="Poppins"/>
              </a:rPr>
              <a:t>ve</a:t>
            </a:r>
            <a:r>
              <a:rPr lang="en-US" sz="1700">
                <a:solidFill>
                  <a:srgbClr val="101419"/>
                </a:solidFill>
                <a:latin typeface="Poppins"/>
                <a:ea typeface="Poppins"/>
                <a:cs typeface="Poppins"/>
                <a:sym typeface="Poppins"/>
              </a:rPr>
              <a:t>r</a:t>
            </a:r>
            <a:r>
              <a:rPr lang="en-US" sz="1700">
                <a:solidFill>
                  <a:srgbClr val="101419"/>
                </a:solidFill>
                <a:latin typeface="Poppins"/>
                <a:ea typeface="Poppins"/>
                <a:cs typeface="Poppins"/>
                <a:sym typeface="Poppins"/>
              </a:rPr>
              <a:t>si</a:t>
            </a:r>
            <a:r>
              <a:rPr lang="en-US" sz="1700">
                <a:solidFill>
                  <a:srgbClr val="101419"/>
                </a:solidFill>
                <a:latin typeface="Poppins"/>
                <a:ea typeface="Poppins"/>
                <a:cs typeface="Poppins"/>
                <a:sym typeface="Poppins"/>
              </a:rPr>
              <a:t>o</a:t>
            </a:r>
            <a:r>
              <a:rPr lang="en-US" sz="1700">
                <a:solidFill>
                  <a:srgbClr val="101419"/>
                </a:solidFill>
                <a:latin typeface="Poppins"/>
                <a:ea typeface="Poppins"/>
                <a:cs typeface="Poppins"/>
                <a:sym typeface="Poppins"/>
              </a:rPr>
              <a:t>ns</a:t>
            </a:r>
            <a:r>
              <a:rPr lang="en-US" sz="1700">
                <a:solidFill>
                  <a:srgbClr val="101419"/>
                </a:solidFill>
                <a:latin typeface="Poppins"/>
                <a:ea typeface="Poppins"/>
                <a:cs typeface="Poppins"/>
                <a:sym typeface="Poppins"/>
              </a:rPr>
              <a:t>.</a:t>
            </a:r>
          </a:p>
        </p:txBody>
      </p:sp>
      <p:sp>
        <p:nvSpPr>
          <p:cNvPr name="TextBox 35" id="35"/>
          <p:cNvSpPr txBox="true"/>
          <p:nvPr/>
        </p:nvSpPr>
        <p:spPr>
          <a:xfrm rot="0">
            <a:off x="9784838" y="7661993"/>
            <a:ext cx="6120759" cy="333301"/>
          </a:xfrm>
          <a:prstGeom prst="rect">
            <a:avLst/>
          </a:prstGeom>
        </p:spPr>
        <p:txBody>
          <a:bodyPr anchor="t" rtlCol="false" tIns="0" lIns="0" bIns="0" rIns="0">
            <a:spAutoFit/>
          </a:bodyPr>
          <a:lstStyle/>
          <a:p>
            <a:pPr algn="l">
              <a:lnSpc>
                <a:spcPts val="2400"/>
              </a:lnSpc>
            </a:pPr>
            <a:r>
              <a:rPr lang="en-US" sz="2000" b="true">
                <a:solidFill>
                  <a:srgbClr val="073E88"/>
                </a:solidFill>
                <a:latin typeface="Poppins Bold"/>
                <a:ea typeface="Poppins Bold"/>
                <a:cs typeface="Poppins Bold"/>
                <a:sym typeface="Poppins Bold"/>
              </a:rPr>
              <a:t>Content &amp; Social Engagement (+0.3% CR)</a:t>
            </a:r>
          </a:p>
        </p:txBody>
      </p:sp>
      <p:grpSp>
        <p:nvGrpSpPr>
          <p:cNvPr name="Group 36" id="36"/>
          <p:cNvGrpSpPr/>
          <p:nvPr/>
        </p:nvGrpSpPr>
        <p:grpSpPr>
          <a:xfrm rot="0">
            <a:off x="9291600" y="7690568"/>
            <a:ext cx="304726" cy="304726"/>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38" id="38"/>
            <p:cNvSpPr txBox="true"/>
            <p:nvPr/>
          </p:nvSpPr>
          <p:spPr>
            <a:xfrm>
              <a:off x="76200" y="38100"/>
              <a:ext cx="660400" cy="698500"/>
            </a:xfrm>
            <a:prstGeom prst="rect">
              <a:avLst/>
            </a:prstGeom>
          </p:spPr>
          <p:txBody>
            <a:bodyPr anchor="ctr" rtlCol="false" tIns="15224" lIns="15224" bIns="15224" rIns="15224"/>
            <a:lstStyle/>
            <a:p>
              <a:pPr algn="ctr">
                <a:lnSpc>
                  <a:spcPts val="2659"/>
                </a:lnSpc>
              </a:pPr>
            </a:p>
          </p:txBody>
        </p:sp>
      </p:grpSp>
      <p:sp>
        <p:nvSpPr>
          <p:cNvPr name="TextBox 39" id="39"/>
          <p:cNvSpPr txBox="true"/>
          <p:nvPr/>
        </p:nvSpPr>
        <p:spPr>
          <a:xfrm rot="0">
            <a:off x="9335792" y="7780131"/>
            <a:ext cx="236219" cy="165455"/>
          </a:xfrm>
          <a:prstGeom prst="rect">
            <a:avLst/>
          </a:prstGeom>
        </p:spPr>
        <p:txBody>
          <a:bodyPr anchor="t" rtlCol="false" tIns="0" lIns="0" bIns="0" rIns="0">
            <a:spAutoFit/>
          </a:bodyPr>
          <a:lstStyle/>
          <a:p>
            <a:pPr algn="ctr">
              <a:lnSpc>
                <a:spcPts val="1241"/>
              </a:lnSpc>
            </a:pPr>
            <a:r>
              <a:rPr lang="en-US" sz="1241" b="true">
                <a:solidFill>
                  <a:srgbClr val="FFFFFF"/>
                </a:solidFill>
                <a:latin typeface="Poppins Bold"/>
                <a:ea typeface="Poppins Bold"/>
                <a:cs typeface="Poppins Bold"/>
                <a:sym typeface="Poppins Bold"/>
              </a:rPr>
              <a:t>5</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grpSp>
        <p:nvGrpSpPr>
          <p:cNvPr name="Group 5" id="5"/>
          <p:cNvGrpSpPr/>
          <p:nvPr/>
        </p:nvGrpSpPr>
        <p:grpSpPr>
          <a:xfrm rot="0">
            <a:off x="1323901" y="1340099"/>
            <a:ext cx="15640198" cy="7606802"/>
            <a:chOff x="0" y="0"/>
            <a:chExt cx="20853598" cy="10142403"/>
          </a:xfrm>
        </p:grpSpPr>
        <p:sp>
          <p:nvSpPr>
            <p:cNvPr name="TextBox 6" id="6"/>
            <p:cNvSpPr txBox="true"/>
            <p:nvPr/>
          </p:nvSpPr>
          <p:spPr>
            <a:xfrm rot="0">
              <a:off x="0" y="1760942"/>
              <a:ext cx="20853598" cy="812277"/>
            </a:xfrm>
            <a:prstGeom prst="rect">
              <a:avLst/>
            </a:prstGeom>
          </p:spPr>
          <p:txBody>
            <a:bodyPr anchor="t" rtlCol="false" tIns="0" lIns="0" bIns="0" rIns="0">
              <a:spAutoFit/>
            </a:bodyPr>
            <a:lstStyle/>
            <a:p>
              <a:pPr algn="ctr">
                <a:lnSpc>
                  <a:spcPts val="4299"/>
                </a:lnSpc>
              </a:pPr>
              <a:r>
                <a:rPr lang="en-US" sz="4299" b="true">
                  <a:solidFill>
                    <a:srgbClr val="101419"/>
                  </a:solidFill>
                  <a:latin typeface="Poppins Bold"/>
                  <a:ea typeface="Poppins Bold"/>
                  <a:cs typeface="Poppins Bold"/>
                  <a:sym typeface="Poppins Bold"/>
                </a:rPr>
                <a:t>3-Month Plan</a:t>
              </a:r>
            </a:p>
          </p:txBody>
        </p:sp>
        <p:grpSp>
          <p:nvGrpSpPr>
            <p:cNvPr name="Group 7" id="7"/>
            <p:cNvGrpSpPr/>
            <p:nvPr/>
          </p:nvGrpSpPr>
          <p:grpSpPr>
            <a:xfrm rot="0">
              <a:off x="1097548" y="6094281"/>
              <a:ext cx="4747400" cy="1184025"/>
              <a:chOff x="0" y="0"/>
              <a:chExt cx="1067921" cy="266345"/>
            </a:xfrm>
          </p:grpSpPr>
          <p:sp>
            <p:nvSpPr>
              <p:cNvPr name="Freeform 8" id="8"/>
              <p:cNvSpPr/>
              <p:nvPr/>
            </p:nvSpPr>
            <p:spPr>
              <a:xfrm flipH="false" flipV="false" rot="0">
                <a:off x="0" y="0"/>
                <a:ext cx="1067920" cy="266345"/>
              </a:xfrm>
              <a:custGeom>
                <a:avLst/>
                <a:gdLst/>
                <a:ahLst/>
                <a:cxnLst/>
                <a:rect r="r" b="b" t="t" l="l"/>
                <a:pathLst>
                  <a:path h="266345" w="1067920">
                    <a:moveTo>
                      <a:pt x="0" y="0"/>
                    </a:moveTo>
                    <a:lnTo>
                      <a:pt x="1067920" y="0"/>
                    </a:lnTo>
                    <a:lnTo>
                      <a:pt x="1067920" y="266345"/>
                    </a:lnTo>
                    <a:lnTo>
                      <a:pt x="0" y="266345"/>
                    </a:lnTo>
                    <a:close/>
                  </a:path>
                </a:pathLst>
              </a:custGeom>
              <a:solidFill>
                <a:srgbClr val="073E88"/>
              </a:solidFill>
            </p:spPr>
          </p:sp>
          <p:sp>
            <p:nvSpPr>
              <p:cNvPr name="TextBox 9" id="9"/>
              <p:cNvSpPr txBox="true"/>
              <p:nvPr/>
            </p:nvSpPr>
            <p:spPr>
              <a:xfrm>
                <a:off x="0" y="0"/>
                <a:ext cx="1067921" cy="266345"/>
              </a:xfrm>
              <a:prstGeom prst="rect">
                <a:avLst/>
              </a:prstGeom>
            </p:spPr>
            <p:txBody>
              <a:bodyPr anchor="ctr" rtlCol="false" tIns="52930" lIns="52930" bIns="52930" rIns="52930"/>
              <a:lstStyle/>
              <a:p>
                <a:pPr algn="ctr">
                  <a:lnSpc>
                    <a:spcPts val="2879"/>
                  </a:lnSpc>
                </a:pPr>
              </a:p>
            </p:txBody>
          </p:sp>
        </p:grpSp>
        <p:grpSp>
          <p:nvGrpSpPr>
            <p:cNvPr name="Group 10" id="10"/>
            <p:cNvGrpSpPr/>
            <p:nvPr/>
          </p:nvGrpSpPr>
          <p:grpSpPr>
            <a:xfrm rot="0">
              <a:off x="10657334" y="6094281"/>
              <a:ext cx="4747400" cy="1184025"/>
              <a:chOff x="0" y="0"/>
              <a:chExt cx="1067921" cy="266345"/>
            </a:xfrm>
          </p:grpSpPr>
          <p:sp>
            <p:nvSpPr>
              <p:cNvPr name="Freeform 11" id="11"/>
              <p:cNvSpPr/>
              <p:nvPr/>
            </p:nvSpPr>
            <p:spPr>
              <a:xfrm flipH="false" flipV="false" rot="0">
                <a:off x="0" y="0"/>
                <a:ext cx="1067920" cy="266345"/>
              </a:xfrm>
              <a:custGeom>
                <a:avLst/>
                <a:gdLst/>
                <a:ahLst/>
                <a:cxnLst/>
                <a:rect r="r" b="b" t="t" l="l"/>
                <a:pathLst>
                  <a:path h="266345" w="1067920">
                    <a:moveTo>
                      <a:pt x="0" y="0"/>
                    </a:moveTo>
                    <a:lnTo>
                      <a:pt x="1067920" y="0"/>
                    </a:lnTo>
                    <a:lnTo>
                      <a:pt x="1067920" y="266345"/>
                    </a:lnTo>
                    <a:lnTo>
                      <a:pt x="0" y="266345"/>
                    </a:lnTo>
                    <a:close/>
                  </a:path>
                </a:pathLst>
              </a:custGeom>
              <a:solidFill>
                <a:srgbClr val="567CAD"/>
              </a:solidFill>
            </p:spPr>
          </p:sp>
          <p:sp>
            <p:nvSpPr>
              <p:cNvPr name="TextBox 12" id="12"/>
              <p:cNvSpPr txBox="true"/>
              <p:nvPr/>
            </p:nvSpPr>
            <p:spPr>
              <a:xfrm>
                <a:off x="0" y="0"/>
                <a:ext cx="1067921" cy="266345"/>
              </a:xfrm>
              <a:prstGeom prst="rect">
                <a:avLst/>
              </a:prstGeom>
            </p:spPr>
            <p:txBody>
              <a:bodyPr anchor="ctr" rtlCol="false" tIns="52930" lIns="52930" bIns="52930" rIns="52930"/>
              <a:lstStyle/>
              <a:p>
                <a:pPr algn="ctr">
                  <a:lnSpc>
                    <a:spcPts val="2879"/>
                  </a:lnSpc>
                </a:pPr>
              </a:p>
            </p:txBody>
          </p:sp>
        </p:grpSp>
        <p:sp>
          <p:nvSpPr>
            <p:cNvPr name="AutoShape 13" id="13"/>
            <p:cNvSpPr/>
            <p:nvPr/>
          </p:nvSpPr>
          <p:spPr>
            <a:xfrm flipH="true">
              <a:off x="10624841" y="7264310"/>
              <a:ext cx="0" cy="2122944"/>
            </a:xfrm>
            <a:prstGeom prst="line">
              <a:avLst/>
            </a:prstGeom>
            <a:ln cap="flat" w="38100">
              <a:solidFill>
                <a:srgbClr val="8E93A9"/>
              </a:solidFill>
              <a:prstDash val="solid"/>
              <a:headEnd type="none" len="sm" w="sm"/>
              <a:tailEnd type="none" len="sm" w="sm"/>
            </a:ln>
          </p:spPr>
        </p:sp>
        <p:grpSp>
          <p:nvGrpSpPr>
            <p:cNvPr name="Group 14" id="14"/>
            <p:cNvGrpSpPr/>
            <p:nvPr/>
          </p:nvGrpSpPr>
          <p:grpSpPr>
            <a:xfrm rot="0">
              <a:off x="5877441" y="6094281"/>
              <a:ext cx="4747400" cy="1184025"/>
              <a:chOff x="0" y="0"/>
              <a:chExt cx="1067921" cy="266345"/>
            </a:xfrm>
          </p:grpSpPr>
          <p:sp>
            <p:nvSpPr>
              <p:cNvPr name="Freeform 15" id="15"/>
              <p:cNvSpPr/>
              <p:nvPr/>
            </p:nvSpPr>
            <p:spPr>
              <a:xfrm flipH="false" flipV="false" rot="0">
                <a:off x="0" y="0"/>
                <a:ext cx="1067920" cy="266345"/>
              </a:xfrm>
              <a:custGeom>
                <a:avLst/>
                <a:gdLst/>
                <a:ahLst/>
                <a:cxnLst/>
                <a:rect r="r" b="b" t="t" l="l"/>
                <a:pathLst>
                  <a:path h="266345" w="1067920">
                    <a:moveTo>
                      <a:pt x="0" y="0"/>
                    </a:moveTo>
                    <a:lnTo>
                      <a:pt x="1067920" y="0"/>
                    </a:lnTo>
                    <a:lnTo>
                      <a:pt x="1067920" y="266345"/>
                    </a:lnTo>
                    <a:lnTo>
                      <a:pt x="0" y="266345"/>
                    </a:lnTo>
                    <a:close/>
                  </a:path>
                </a:pathLst>
              </a:custGeom>
              <a:solidFill>
                <a:srgbClr val="2F5D9B"/>
              </a:solidFill>
            </p:spPr>
          </p:sp>
          <p:sp>
            <p:nvSpPr>
              <p:cNvPr name="TextBox 16" id="16"/>
              <p:cNvSpPr txBox="true"/>
              <p:nvPr/>
            </p:nvSpPr>
            <p:spPr>
              <a:xfrm>
                <a:off x="0" y="0"/>
                <a:ext cx="1067921" cy="266345"/>
              </a:xfrm>
              <a:prstGeom prst="rect">
                <a:avLst/>
              </a:prstGeom>
            </p:spPr>
            <p:txBody>
              <a:bodyPr anchor="ctr" rtlCol="false" tIns="52930" lIns="52930" bIns="52930" rIns="52930"/>
              <a:lstStyle/>
              <a:p>
                <a:pPr algn="ctr">
                  <a:lnSpc>
                    <a:spcPts val="2879"/>
                  </a:lnSpc>
                </a:pPr>
              </a:p>
            </p:txBody>
          </p:sp>
        </p:grpSp>
        <p:grpSp>
          <p:nvGrpSpPr>
            <p:cNvPr name="Group 17" id="17"/>
            <p:cNvGrpSpPr/>
            <p:nvPr/>
          </p:nvGrpSpPr>
          <p:grpSpPr>
            <a:xfrm rot="0">
              <a:off x="15437227" y="6094281"/>
              <a:ext cx="4747400" cy="1184025"/>
              <a:chOff x="0" y="0"/>
              <a:chExt cx="1067921" cy="266345"/>
            </a:xfrm>
          </p:grpSpPr>
          <p:sp>
            <p:nvSpPr>
              <p:cNvPr name="Freeform 18" id="18"/>
              <p:cNvSpPr/>
              <p:nvPr/>
            </p:nvSpPr>
            <p:spPr>
              <a:xfrm flipH="false" flipV="false" rot="0">
                <a:off x="0" y="0"/>
                <a:ext cx="1067920" cy="266345"/>
              </a:xfrm>
              <a:custGeom>
                <a:avLst/>
                <a:gdLst/>
                <a:ahLst/>
                <a:cxnLst/>
                <a:rect r="r" b="b" t="t" l="l"/>
                <a:pathLst>
                  <a:path h="266345" w="1067920">
                    <a:moveTo>
                      <a:pt x="0" y="0"/>
                    </a:moveTo>
                    <a:lnTo>
                      <a:pt x="1067920" y="0"/>
                    </a:lnTo>
                    <a:lnTo>
                      <a:pt x="1067920" y="266345"/>
                    </a:lnTo>
                    <a:lnTo>
                      <a:pt x="0" y="266345"/>
                    </a:lnTo>
                    <a:close/>
                  </a:path>
                </a:pathLst>
              </a:custGeom>
              <a:solidFill>
                <a:srgbClr val="7E9BC0"/>
              </a:solidFill>
            </p:spPr>
          </p:sp>
          <p:sp>
            <p:nvSpPr>
              <p:cNvPr name="TextBox 19" id="19"/>
              <p:cNvSpPr txBox="true"/>
              <p:nvPr/>
            </p:nvSpPr>
            <p:spPr>
              <a:xfrm>
                <a:off x="0" y="0"/>
                <a:ext cx="1067921" cy="266345"/>
              </a:xfrm>
              <a:prstGeom prst="rect">
                <a:avLst/>
              </a:prstGeom>
            </p:spPr>
            <p:txBody>
              <a:bodyPr anchor="ctr" rtlCol="false" tIns="52930" lIns="52930" bIns="52930" rIns="52930"/>
              <a:lstStyle/>
              <a:p>
                <a:pPr algn="ctr">
                  <a:lnSpc>
                    <a:spcPts val="2879"/>
                  </a:lnSpc>
                </a:pPr>
              </a:p>
            </p:txBody>
          </p:sp>
        </p:grpSp>
        <p:sp>
          <p:nvSpPr>
            <p:cNvPr name="AutoShape 20" id="20"/>
            <p:cNvSpPr/>
            <p:nvPr/>
          </p:nvSpPr>
          <p:spPr>
            <a:xfrm flipH="true">
              <a:off x="1123086" y="7278306"/>
              <a:ext cx="0" cy="2122944"/>
            </a:xfrm>
            <a:prstGeom prst="line">
              <a:avLst/>
            </a:prstGeom>
            <a:ln cap="flat" w="38100">
              <a:solidFill>
                <a:srgbClr val="8E93A9"/>
              </a:solidFill>
              <a:prstDash val="solid"/>
              <a:headEnd type="none" len="sm" w="sm"/>
              <a:tailEnd type="none" len="sm" w="sm"/>
            </a:ln>
          </p:spPr>
        </p:sp>
        <p:sp>
          <p:nvSpPr>
            <p:cNvPr name="TextBox 21" id="21"/>
            <p:cNvSpPr txBox="true"/>
            <p:nvPr/>
          </p:nvSpPr>
          <p:spPr>
            <a:xfrm rot="0">
              <a:off x="1802408" y="7569975"/>
              <a:ext cx="3714266" cy="1759588"/>
            </a:xfrm>
            <a:prstGeom prst="rect">
              <a:avLst/>
            </a:prstGeom>
          </p:spPr>
          <p:txBody>
            <a:bodyPr anchor="t" rtlCol="false" tIns="0" lIns="0" bIns="0" rIns="0">
              <a:spAutoFit/>
            </a:bodyPr>
            <a:lstStyle/>
            <a:p>
              <a:pPr algn="l">
                <a:lnSpc>
                  <a:spcPts val="2044"/>
                </a:lnSpc>
              </a:pPr>
              <a:r>
                <a:rPr lang="en-US" sz="1703" b="true">
                  <a:solidFill>
                    <a:srgbClr val="000000"/>
                  </a:solidFill>
                  <a:latin typeface="Poppins Bold"/>
                  <a:ea typeface="Poppins Bold"/>
                  <a:cs typeface="Poppins Bold"/>
                  <a:sym typeface="Poppins Bold"/>
                </a:rPr>
                <a:t>Month 0 (Week 1)</a:t>
              </a:r>
            </a:p>
            <a:p>
              <a:pPr algn="l">
                <a:lnSpc>
                  <a:spcPts val="2044"/>
                </a:lnSpc>
              </a:pPr>
              <a:r>
                <a:rPr lang="en-US" sz="1703">
                  <a:solidFill>
                    <a:srgbClr val="000000"/>
                  </a:solidFill>
                  <a:latin typeface="Poppins"/>
                  <a:ea typeface="Poppins"/>
                  <a:cs typeface="Poppins"/>
                  <a:sym typeface="Poppins"/>
                </a:rPr>
                <a:t>Conduct a funnel audit, set up tracking, and run CTA and guest checkout experiments.</a:t>
              </a:r>
            </a:p>
          </p:txBody>
        </p:sp>
        <p:grpSp>
          <p:nvGrpSpPr>
            <p:cNvPr name="Group 22" id="22"/>
            <p:cNvGrpSpPr/>
            <p:nvPr/>
          </p:nvGrpSpPr>
          <p:grpSpPr>
            <a:xfrm rot="0">
              <a:off x="668971" y="9205571"/>
              <a:ext cx="908231" cy="936832"/>
              <a:chOff x="0" y="0"/>
              <a:chExt cx="787985" cy="812800"/>
            </a:xfrm>
          </p:grpSpPr>
          <p:sp>
            <p:nvSpPr>
              <p:cNvPr name="Freeform 23" id="23"/>
              <p:cNvSpPr/>
              <p:nvPr/>
            </p:nvSpPr>
            <p:spPr>
              <a:xfrm flipH="false" flipV="false" rot="0">
                <a:off x="0" y="0"/>
                <a:ext cx="787985" cy="812800"/>
              </a:xfrm>
              <a:custGeom>
                <a:avLst/>
                <a:gdLst/>
                <a:ahLst/>
                <a:cxnLst/>
                <a:rect r="r" b="b" t="t" l="l"/>
                <a:pathLst>
                  <a:path h="812800" w="787985">
                    <a:moveTo>
                      <a:pt x="393992" y="0"/>
                    </a:moveTo>
                    <a:cubicBezTo>
                      <a:pt x="176396" y="0"/>
                      <a:pt x="0" y="181951"/>
                      <a:pt x="0" y="406400"/>
                    </a:cubicBezTo>
                    <a:cubicBezTo>
                      <a:pt x="0" y="630849"/>
                      <a:pt x="176396" y="812800"/>
                      <a:pt x="393992" y="812800"/>
                    </a:cubicBezTo>
                    <a:cubicBezTo>
                      <a:pt x="611588" y="812800"/>
                      <a:pt x="787985" y="630849"/>
                      <a:pt x="787985" y="406400"/>
                    </a:cubicBezTo>
                    <a:cubicBezTo>
                      <a:pt x="787985" y="181951"/>
                      <a:pt x="611588" y="0"/>
                      <a:pt x="393992" y="0"/>
                    </a:cubicBezTo>
                    <a:close/>
                  </a:path>
                </a:pathLst>
              </a:custGeom>
              <a:solidFill>
                <a:srgbClr val="073E88"/>
              </a:solidFill>
            </p:spPr>
          </p:sp>
          <p:sp>
            <p:nvSpPr>
              <p:cNvPr name="TextBox 24" id="24"/>
              <p:cNvSpPr txBox="true"/>
              <p:nvPr/>
            </p:nvSpPr>
            <p:spPr>
              <a:xfrm>
                <a:off x="73874" y="38100"/>
                <a:ext cx="640238" cy="698500"/>
              </a:xfrm>
              <a:prstGeom prst="rect">
                <a:avLst/>
              </a:prstGeom>
            </p:spPr>
            <p:txBody>
              <a:bodyPr anchor="ctr" rtlCol="false" tIns="52930" lIns="52930" bIns="52930" rIns="52930"/>
              <a:lstStyle/>
              <a:p>
                <a:pPr algn="ctr">
                  <a:lnSpc>
                    <a:spcPts val="2660"/>
                  </a:lnSpc>
                </a:pPr>
              </a:p>
            </p:txBody>
          </p:sp>
        </p:grpSp>
        <p:sp>
          <p:nvSpPr>
            <p:cNvPr name="TextBox 25" id="25"/>
            <p:cNvSpPr txBox="true"/>
            <p:nvPr/>
          </p:nvSpPr>
          <p:spPr>
            <a:xfrm rot="0">
              <a:off x="910415" y="9469212"/>
              <a:ext cx="425342" cy="409550"/>
            </a:xfrm>
            <a:prstGeom prst="rect">
              <a:avLst/>
            </a:prstGeom>
          </p:spPr>
          <p:txBody>
            <a:bodyPr anchor="t" rtlCol="false" tIns="0" lIns="0" bIns="0" rIns="0">
              <a:spAutoFit/>
            </a:bodyPr>
            <a:lstStyle/>
            <a:p>
              <a:pPr algn="ctr">
                <a:lnSpc>
                  <a:spcPts val="2248"/>
                </a:lnSpc>
              </a:pPr>
              <a:r>
                <a:rPr lang="en-US" b="true" sz="2044" spc="-81">
                  <a:solidFill>
                    <a:srgbClr val="FFFFFF"/>
                  </a:solidFill>
                  <a:latin typeface="Poppins Bold"/>
                  <a:ea typeface="Poppins Bold"/>
                  <a:cs typeface="Poppins Bold"/>
                  <a:sym typeface="Poppins Bold"/>
                </a:rPr>
                <a:t>00</a:t>
              </a:r>
            </a:p>
          </p:txBody>
        </p:sp>
        <p:grpSp>
          <p:nvGrpSpPr>
            <p:cNvPr name="Group 26" id="26"/>
            <p:cNvGrpSpPr/>
            <p:nvPr/>
          </p:nvGrpSpPr>
          <p:grpSpPr>
            <a:xfrm rot="0">
              <a:off x="5390832" y="3106619"/>
              <a:ext cx="908231" cy="936832"/>
              <a:chOff x="0" y="0"/>
              <a:chExt cx="787985" cy="812800"/>
            </a:xfrm>
          </p:grpSpPr>
          <p:sp>
            <p:nvSpPr>
              <p:cNvPr name="Freeform 27" id="27"/>
              <p:cNvSpPr/>
              <p:nvPr/>
            </p:nvSpPr>
            <p:spPr>
              <a:xfrm flipH="false" flipV="false" rot="0">
                <a:off x="0" y="0"/>
                <a:ext cx="787985" cy="812800"/>
              </a:xfrm>
              <a:custGeom>
                <a:avLst/>
                <a:gdLst/>
                <a:ahLst/>
                <a:cxnLst/>
                <a:rect r="r" b="b" t="t" l="l"/>
                <a:pathLst>
                  <a:path h="812800" w="787985">
                    <a:moveTo>
                      <a:pt x="393992" y="0"/>
                    </a:moveTo>
                    <a:cubicBezTo>
                      <a:pt x="176396" y="0"/>
                      <a:pt x="0" y="181951"/>
                      <a:pt x="0" y="406400"/>
                    </a:cubicBezTo>
                    <a:cubicBezTo>
                      <a:pt x="0" y="630849"/>
                      <a:pt x="176396" y="812800"/>
                      <a:pt x="393992" y="812800"/>
                    </a:cubicBezTo>
                    <a:cubicBezTo>
                      <a:pt x="611588" y="812800"/>
                      <a:pt x="787985" y="630849"/>
                      <a:pt x="787985" y="406400"/>
                    </a:cubicBezTo>
                    <a:cubicBezTo>
                      <a:pt x="787985" y="181951"/>
                      <a:pt x="611588" y="0"/>
                      <a:pt x="393992" y="0"/>
                    </a:cubicBezTo>
                    <a:close/>
                  </a:path>
                </a:pathLst>
              </a:custGeom>
              <a:solidFill>
                <a:srgbClr val="073E88"/>
              </a:solidFill>
            </p:spPr>
          </p:sp>
          <p:sp>
            <p:nvSpPr>
              <p:cNvPr name="TextBox 28" id="28"/>
              <p:cNvSpPr txBox="true"/>
              <p:nvPr/>
            </p:nvSpPr>
            <p:spPr>
              <a:xfrm>
                <a:off x="73874" y="38100"/>
                <a:ext cx="640238" cy="698500"/>
              </a:xfrm>
              <a:prstGeom prst="rect">
                <a:avLst/>
              </a:prstGeom>
            </p:spPr>
            <p:txBody>
              <a:bodyPr anchor="ctr" rtlCol="false" tIns="52930" lIns="52930" bIns="52930" rIns="52930"/>
              <a:lstStyle/>
              <a:p>
                <a:pPr algn="ctr">
                  <a:lnSpc>
                    <a:spcPts val="2660"/>
                  </a:lnSpc>
                </a:pPr>
              </a:p>
            </p:txBody>
          </p:sp>
        </p:grpSp>
        <p:sp>
          <p:nvSpPr>
            <p:cNvPr name="TextBox 29" id="29"/>
            <p:cNvSpPr txBox="true"/>
            <p:nvPr/>
          </p:nvSpPr>
          <p:spPr>
            <a:xfrm rot="0">
              <a:off x="5632277" y="3370260"/>
              <a:ext cx="425342" cy="409550"/>
            </a:xfrm>
            <a:prstGeom prst="rect">
              <a:avLst/>
            </a:prstGeom>
          </p:spPr>
          <p:txBody>
            <a:bodyPr anchor="t" rtlCol="false" tIns="0" lIns="0" bIns="0" rIns="0">
              <a:spAutoFit/>
            </a:bodyPr>
            <a:lstStyle/>
            <a:p>
              <a:pPr algn="ctr">
                <a:lnSpc>
                  <a:spcPts val="2248"/>
                </a:lnSpc>
              </a:pPr>
              <a:r>
                <a:rPr lang="en-US" b="true" sz="2044" spc="-81">
                  <a:solidFill>
                    <a:srgbClr val="FFFFFF"/>
                  </a:solidFill>
                  <a:latin typeface="Poppins Bold"/>
                  <a:ea typeface="Poppins Bold"/>
                  <a:cs typeface="Poppins Bold"/>
                  <a:sym typeface="Poppins Bold"/>
                </a:rPr>
                <a:t>01</a:t>
              </a:r>
            </a:p>
          </p:txBody>
        </p:sp>
        <p:grpSp>
          <p:nvGrpSpPr>
            <p:cNvPr name="Group 30" id="30"/>
            <p:cNvGrpSpPr/>
            <p:nvPr/>
          </p:nvGrpSpPr>
          <p:grpSpPr>
            <a:xfrm rot="0">
              <a:off x="14950619" y="3106619"/>
              <a:ext cx="908231" cy="936832"/>
              <a:chOff x="0" y="0"/>
              <a:chExt cx="787985" cy="812800"/>
            </a:xfrm>
          </p:grpSpPr>
          <p:sp>
            <p:nvSpPr>
              <p:cNvPr name="Freeform 31" id="31"/>
              <p:cNvSpPr/>
              <p:nvPr/>
            </p:nvSpPr>
            <p:spPr>
              <a:xfrm flipH="false" flipV="false" rot="0">
                <a:off x="0" y="0"/>
                <a:ext cx="787985" cy="812800"/>
              </a:xfrm>
              <a:custGeom>
                <a:avLst/>
                <a:gdLst/>
                <a:ahLst/>
                <a:cxnLst/>
                <a:rect r="r" b="b" t="t" l="l"/>
                <a:pathLst>
                  <a:path h="812800" w="787985">
                    <a:moveTo>
                      <a:pt x="393992" y="0"/>
                    </a:moveTo>
                    <a:cubicBezTo>
                      <a:pt x="176396" y="0"/>
                      <a:pt x="0" y="181951"/>
                      <a:pt x="0" y="406400"/>
                    </a:cubicBezTo>
                    <a:cubicBezTo>
                      <a:pt x="0" y="630849"/>
                      <a:pt x="176396" y="812800"/>
                      <a:pt x="393992" y="812800"/>
                    </a:cubicBezTo>
                    <a:cubicBezTo>
                      <a:pt x="611588" y="812800"/>
                      <a:pt x="787985" y="630849"/>
                      <a:pt x="787985" y="406400"/>
                    </a:cubicBezTo>
                    <a:cubicBezTo>
                      <a:pt x="787985" y="181951"/>
                      <a:pt x="611588" y="0"/>
                      <a:pt x="393992" y="0"/>
                    </a:cubicBezTo>
                    <a:close/>
                  </a:path>
                </a:pathLst>
              </a:custGeom>
              <a:solidFill>
                <a:srgbClr val="073E88"/>
              </a:solidFill>
            </p:spPr>
          </p:sp>
          <p:sp>
            <p:nvSpPr>
              <p:cNvPr name="TextBox 32" id="32"/>
              <p:cNvSpPr txBox="true"/>
              <p:nvPr/>
            </p:nvSpPr>
            <p:spPr>
              <a:xfrm>
                <a:off x="73874" y="38100"/>
                <a:ext cx="640238" cy="698500"/>
              </a:xfrm>
              <a:prstGeom prst="rect">
                <a:avLst/>
              </a:prstGeom>
            </p:spPr>
            <p:txBody>
              <a:bodyPr anchor="ctr" rtlCol="false" tIns="52930" lIns="52930" bIns="52930" rIns="52930"/>
              <a:lstStyle/>
              <a:p>
                <a:pPr algn="ctr">
                  <a:lnSpc>
                    <a:spcPts val="2660"/>
                  </a:lnSpc>
                </a:pPr>
              </a:p>
            </p:txBody>
          </p:sp>
        </p:grpSp>
        <p:sp>
          <p:nvSpPr>
            <p:cNvPr name="TextBox 33" id="33"/>
            <p:cNvSpPr txBox="true"/>
            <p:nvPr/>
          </p:nvSpPr>
          <p:spPr>
            <a:xfrm rot="0">
              <a:off x="15192063" y="3370260"/>
              <a:ext cx="425342" cy="409550"/>
            </a:xfrm>
            <a:prstGeom prst="rect">
              <a:avLst/>
            </a:prstGeom>
          </p:spPr>
          <p:txBody>
            <a:bodyPr anchor="t" rtlCol="false" tIns="0" lIns="0" bIns="0" rIns="0">
              <a:spAutoFit/>
            </a:bodyPr>
            <a:lstStyle/>
            <a:p>
              <a:pPr algn="ctr">
                <a:lnSpc>
                  <a:spcPts val="2248"/>
                </a:lnSpc>
              </a:pPr>
              <a:r>
                <a:rPr lang="en-US" b="true" sz="2044" spc="-81">
                  <a:solidFill>
                    <a:srgbClr val="FFFFFF"/>
                  </a:solidFill>
                  <a:latin typeface="Poppins Bold"/>
                  <a:ea typeface="Poppins Bold"/>
                  <a:cs typeface="Poppins Bold"/>
                  <a:sym typeface="Poppins Bold"/>
                </a:rPr>
                <a:t>03</a:t>
              </a:r>
            </a:p>
          </p:txBody>
        </p:sp>
        <p:grpSp>
          <p:nvGrpSpPr>
            <p:cNvPr name="Group 34" id="34"/>
            <p:cNvGrpSpPr/>
            <p:nvPr/>
          </p:nvGrpSpPr>
          <p:grpSpPr>
            <a:xfrm rot="0">
              <a:off x="10170726" y="9205571"/>
              <a:ext cx="908231" cy="936832"/>
              <a:chOff x="0" y="0"/>
              <a:chExt cx="787985" cy="812800"/>
            </a:xfrm>
          </p:grpSpPr>
          <p:sp>
            <p:nvSpPr>
              <p:cNvPr name="Freeform 35" id="35"/>
              <p:cNvSpPr/>
              <p:nvPr/>
            </p:nvSpPr>
            <p:spPr>
              <a:xfrm flipH="false" flipV="false" rot="0">
                <a:off x="0" y="0"/>
                <a:ext cx="787985" cy="812800"/>
              </a:xfrm>
              <a:custGeom>
                <a:avLst/>
                <a:gdLst/>
                <a:ahLst/>
                <a:cxnLst/>
                <a:rect r="r" b="b" t="t" l="l"/>
                <a:pathLst>
                  <a:path h="812800" w="787985">
                    <a:moveTo>
                      <a:pt x="393992" y="0"/>
                    </a:moveTo>
                    <a:cubicBezTo>
                      <a:pt x="176396" y="0"/>
                      <a:pt x="0" y="181951"/>
                      <a:pt x="0" y="406400"/>
                    </a:cubicBezTo>
                    <a:cubicBezTo>
                      <a:pt x="0" y="630849"/>
                      <a:pt x="176396" y="812800"/>
                      <a:pt x="393992" y="812800"/>
                    </a:cubicBezTo>
                    <a:cubicBezTo>
                      <a:pt x="611588" y="812800"/>
                      <a:pt x="787985" y="630849"/>
                      <a:pt x="787985" y="406400"/>
                    </a:cubicBezTo>
                    <a:cubicBezTo>
                      <a:pt x="787985" y="181951"/>
                      <a:pt x="611588" y="0"/>
                      <a:pt x="393992" y="0"/>
                    </a:cubicBezTo>
                    <a:close/>
                  </a:path>
                </a:pathLst>
              </a:custGeom>
              <a:solidFill>
                <a:srgbClr val="073E88"/>
              </a:solidFill>
            </p:spPr>
          </p:sp>
          <p:sp>
            <p:nvSpPr>
              <p:cNvPr name="TextBox 36" id="36"/>
              <p:cNvSpPr txBox="true"/>
              <p:nvPr/>
            </p:nvSpPr>
            <p:spPr>
              <a:xfrm>
                <a:off x="73874" y="38100"/>
                <a:ext cx="640238" cy="698500"/>
              </a:xfrm>
              <a:prstGeom prst="rect">
                <a:avLst/>
              </a:prstGeom>
            </p:spPr>
            <p:txBody>
              <a:bodyPr anchor="ctr" rtlCol="false" tIns="52930" lIns="52930" bIns="52930" rIns="52930"/>
              <a:lstStyle/>
              <a:p>
                <a:pPr algn="ctr">
                  <a:lnSpc>
                    <a:spcPts val="2660"/>
                  </a:lnSpc>
                </a:pPr>
              </a:p>
            </p:txBody>
          </p:sp>
        </p:grpSp>
        <p:sp>
          <p:nvSpPr>
            <p:cNvPr name="TextBox 37" id="37"/>
            <p:cNvSpPr txBox="true"/>
            <p:nvPr/>
          </p:nvSpPr>
          <p:spPr>
            <a:xfrm rot="0">
              <a:off x="10428416" y="9469212"/>
              <a:ext cx="425342" cy="409550"/>
            </a:xfrm>
            <a:prstGeom prst="rect">
              <a:avLst/>
            </a:prstGeom>
          </p:spPr>
          <p:txBody>
            <a:bodyPr anchor="t" rtlCol="false" tIns="0" lIns="0" bIns="0" rIns="0">
              <a:spAutoFit/>
            </a:bodyPr>
            <a:lstStyle/>
            <a:p>
              <a:pPr algn="ctr">
                <a:lnSpc>
                  <a:spcPts val="2248"/>
                </a:lnSpc>
              </a:pPr>
              <a:r>
                <a:rPr lang="en-US" b="true" sz="2044" spc="-81">
                  <a:solidFill>
                    <a:srgbClr val="FFFFFF"/>
                  </a:solidFill>
                  <a:latin typeface="Poppins Bold"/>
                  <a:ea typeface="Poppins Bold"/>
                  <a:cs typeface="Poppins Bold"/>
                  <a:sym typeface="Poppins Bold"/>
                </a:rPr>
                <a:t>02</a:t>
              </a:r>
            </a:p>
          </p:txBody>
        </p:sp>
        <p:sp>
          <p:nvSpPr>
            <p:cNvPr name="AutoShape 38" id="38"/>
            <p:cNvSpPr/>
            <p:nvPr/>
          </p:nvSpPr>
          <p:spPr>
            <a:xfrm flipH="true">
              <a:off x="5865921" y="4043451"/>
              <a:ext cx="0" cy="2122944"/>
            </a:xfrm>
            <a:prstGeom prst="line">
              <a:avLst/>
            </a:prstGeom>
            <a:ln cap="flat" w="38100">
              <a:solidFill>
                <a:srgbClr val="8E93A9"/>
              </a:solidFill>
              <a:prstDash val="solid"/>
              <a:headEnd type="none" len="sm" w="sm"/>
              <a:tailEnd type="none" len="sm" w="sm"/>
            </a:ln>
          </p:spPr>
        </p:sp>
        <p:sp>
          <p:nvSpPr>
            <p:cNvPr name="AutoShape 39" id="39"/>
            <p:cNvSpPr/>
            <p:nvPr/>
          </p:nvSpPr>
          <p:spPr>
            <a:xfrm>
              <a:off x="15425708" y="4043451"/>
              <a:ext cx="0" cy="2122944"/>
            </a:xfrm>
            <a:prstGeom prst="line">
              <a:avLst/>
            </a:prstGeom>
            <a:ln cap="flat" w="38100">
              <a:solidFill>
                <a:srgbClr val="8E93A9"/>
              </a:solidFill>
              <a:prstDash val="solid"/>
              <a:headEnd type="none" len="sm" w="sm"/>
              <a:tailEnd type="none" len="sm" w="sm"/>
            </a:ln>
          </p:spPr>
        </p:sp>
        <p:sp>
          <p:nvSpPr>
            <p:cNvPr name="TextBox 40" id="40"/>
            <p:cNvSpPr txBox="true"/>
            <p:nvPr/>
          </p:nvSpPr>
          <p:spPr>
            <a:xfrm rot="0">
              <a:off x="6712533" y="3158304"/>
              <a:ext cx="3714266" cy="1759588"/>
            </a:xfrm>
            <a:prstGeom prst="rect">
              <a:avLst/>
            </a:prstGeom>
          </p:spPr>
          <p:txBody>
            <a:bodyPr anchor="t" rtlCol="false" tIns="0" lIns="0" bIns="0" rIns="0">
              <a:spAutoFit/>
            </a:bodyPr>
            <a:lstStyle/>
            <a:p>
              <a:pPr algn="l">
                <a:lnSpc>
                  <a:spcPts val="2044"/>
                </a:lnSpc>
              </a:pPr>
              <a:r>
                <a:rPr lang="en-US" sz="1703" b="true">
                  <a:solidFill>
                    <a:srgbClr val="000000"/>
                  </a:solidFill>
                  <a:latin typeface="Poppins Bold"/>
                  <a:ea typeface="Poppins Bold"/>
                  <a:cs typeface="Poppins Bold"/>
                  <a:sym typeface="Poppins Bold"/>
                </a:rPr>
                <a:t>Month 1</a:t>
              </a:r>
            </a:p>
            <a:p>
              <a:pPr algn="l">
                <a:lnSpc>
                  <a:spcPts val="2044"/>
                </a:lnSpc>
              </a:pPr>
              <a:r>
                <a:rPr lang="en-US" sz="1703">
                  <a:solidFill>
                    <a:srgbClr val="000000"/>
                  </a:solidFill>
                  <a:latin typeface="Poppins"/>
                  <a:ea typeface="Poppins"/>
                  <a:cs typeface="Poppins"/>
                  <a:sym typeface="Poppins"/>
                </a:rPr>
                <a:t>Optimize the product page and checkout flow, and set up retargeting audiences.</a:t>
              </a:r>
            </a:p>
          </p:txBody>
        </p:sp>
        <p:sp>
          <p:nvSpPr>
            <p:cNvPr name="TextBox 41" id="41"/>
            <p:cNvSpPr txBox="true"/>
            <p:nvPr/>
          </p:nvSpPr>
          <p:spPr>
            <a:xfrm rot="0">
              <a:off x="11302675" y="7569975"/>
              <a:ext cx="3714266" cy="2105791"/>
            </a:xfrm>
            <a:prstGeom prst="rect">
              <a:avLst/>
            </a:prstGeom>
          </p:spPr>
          <p:txBody>
            <a:bodyPr anchor="t" rtlCol="false" tIns="0" lIns="0" bIns="0" rIns="0">
              <a:spAutoFit/>
            </a:bodyPr>
            <a:lstStyle/>
            <a:p>
              <a:pPr algn="l">
                <a:lnSpc>
                  <a:spcPts val="2044"/>
                </a:lnSpc>
              </a:pPr>
              <a:r>
                <a:rPr lang="en-US" sz="1703" b="true">
                  <a:solidFill>
                    <a:srgbClr val="000000"/>
                  </a:solidFill>
                  <a:latin typeface="Poppins Bold"/>
                  <a:ea typeface="Poppins Bold"/>
                  <a:cs typeface="Poppins Bold"/>
                  <a:sym typeface="Poppins Bold"/>
                </a:rPr>
                <a:t>Month 2</a:t>
              </a:r>
            </a:p>
            <a:p>
              <a:pPr algn="l">
                <a:lnSpc>
                  <a:spcPts val="2044"/>
                </a:lnSpc>
              </a:pPr>
              <a:r>
                <a:rPr lang="en-US" sz="1703">
                  <a:solidFill>
                    <a:srgbClr val="000000"/>
                  </a:solidFill>
                  <a:latin typeface="Poppins"/>
                  <a:ea typeface="Poppins"/>
                  <a:cs typeface="Poppins"/>
                  <a:sym typeface="Poppins"/>
                </a:rPr>
                <a:t>Evaluate and scale winning A/B tests, launch bundling and flash sale initiatives, and intensify retargeting efforts.</a:t>
              </a:r>
            </a:p>
          </p:txBody>
        </p:sp>
        <p:sp>
          <p:nvSpPr>
            <p:cNvPr name="TextBox 42" id="42"/>
            <p:cNvSpPr txBox="true"/>
            <p:nvPr/>
          </p:nvSpPr>
          <p:spPr>
            <a:xfrm rot="0">
              <a:off x="16278322" y="3078044"/>
              <a:ext cx="3714266" cy="2105791"/>
            </a:xfrm>
            <a:prstGeom prst="rect">
              <a:avLst/>
            </a:prstGeom>
          </p:spPr>
          <p:txBody>
            <a:bodyPr anchor="t" rtlCol="false" tIns="0" lIns="0" bIns="0" rIns="0">
              <a:spAutoFit/>
            </a:bodyPr>
            <a:lstStyle/>
            <a:p>
              <a:pPr algn="l">
                <a:lnSpc>
                  <a:spcPts val="2044"/>
                </a:lnSpc>
              </a:pPr>
              <a:r>
                <a:rPr lang="en-US" sz="1703" b="true">
                  <a:solidFill>
                    <a:srgbClr val="000000"/>
                  </a:solidFill>
                  <a:latin typeface="Poppins Bold"/>
                  <a:ea typeface="Poppins Bold"/>
                  <a:cs typeface="Poppins Bold"/>
                  <a:sym typeface="Poppins Bold"/>
                </a:rPr>
                <a:t>Month 3</a:t>
              </a:r>
            </a:p>
            <a:p>
              <a:pPr algn="l">
                <a:lnSpc>
                  <a:spcPts val="2044"/>
                </a:lnSpc>
              </a:pPr>
              <a:r>
                <a:rPr lang="en-US" sz="1703">
                  <a:solidFill>
                    <a:srgbClr val="000000"/>
                  </a:solidFill>
                  <a:latin typeface="Poppins"/>
                  <a:ea typeface="Poppins"/>
                  <a:cs typeface="Poppins"/>
                  <a:sym typeface="Poppins"/>
                </a:rPr>
                <a:t>Scale the most effective channels, run final A/B tests on pricing or discounts, and compile the overall results.</a:t>
              </a:r>
            </a:p>
          </p:txBody>
        </p:sp>
        <p:sp>
          <p:nvSpPr>
            <p:cNvPr name="TextBox 43" id="43"/>
            <p:cNvSpPr txBox="true"/>
            <p:nvPr/>
          </p:nvSpPr>
          <p:spPr>
            <a:xfrm rot="0">
              <a:off x="0" y="28575"/>
              <a:ext cx="20853598" cy="1146400"/>
            </a:xfrm>
            <a:prstGeom prst="rect">
              <a:avLst/>
            </a:prstGeom>
          </p:spPr>
          <p:txBody>
            <a:bodyPr anchor="t" rtlCol="false" tIns="0" lIns="0" bIns="0" rIns="0">
              <a:spAutoFit/>
            </a:bodyPr>
            <a:lstStyle/>
            <a:p>
              <a:pPr algn="just">
                <a:lnSpc>
                  <a:spcPts val="3200"/>
                </a:lnSpc>
              </a:pPr>
              <a:r>
                <a:rPr lang="en-US" b="true" sz="3200">
                  <a:solidFill>
                    <a:srgbClr val="073E88"/>
                  </a:solidFill>
                  <a:latin typeface="Poppins Bold"/>
                  <a:ea typeface="Poppins Bold"/>
                  <a:cs typeface="Poppins Bold"/>
                  <a:sym typeface="Poppins Bold"/>
                </a:rPr>
                <a:t>Q3: What strategies or optimizations can be implemented to increase the CR in the next three months?</a:t>
              </a:r>
            </a:p>
          </p:txBody>
        </p:sp>
      </p:grpSp>
    </p:spTree>
  </p:cSld>
  <p:clrMapOvr>
    <a:masterClrMapping/>
  </p:clrMapOvr>
</p:sld>
</file>

<file path=ppt/slides/slide27.xml><?xml version="1.0" encoding="utf-8"?>
<p:sld xmlns:p="http://schemas.openxmlformats.org/presentationml/2006/main" xmlns:a="http://schemas.openxmlformats.org/drawingml/2006/main">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grpSp>
        <p:nvGrpSpPr>
          <p:cNvPr name="Group 5" id="5"/>
          <p:cNvGrpSpPr/>
          <p:nvPr/>
        </p:nvGrpSpPr>
        <p:grpSpPr>
          <a:xfrm rot="0">
            <a:off x="1397701" y="2082624"/>
            <a:ext cx="4009956" cy="656886"/>
            <a:chOff x="0" y="0"/>
            <a:chExt cx="1974529" cy="323455"/>
          </a:xfrm>
        </p:grpSpPr>
        <p:sp>
          <p:nvSpPr>
            <p:cNvPr name="Freeform 6" id="6"/>
            <p:cNvSpPr/>
            <p:nvPr/>
          </p:nvSpPr>
          <p:spPr>
            <a:xfrm flipH="false" flipV="false" rot="0">
              <a:off x="0" y="0"/>
              <a:ext cx="1974529" cy="323455"/>
            </a:xfrm>
            <a:custGeom>
              <a:avLst/>
              <a:gdLst/>
              <a:ahLst/>
              <a:cxnLst/>
              <a:rect r="r" b="b" t="t" l="l"/>
              <a:pathLst>
                <a:path h="323455" w="1974529">
                  <a:moveTo>
                    <a:pt x="67574" y="0"/>
                  </a:moveTo>
                  <a:lnTo>
                    <a:pt x="1906955" y="0"/>
                  </a:lnTo>
                  <a:cubicBezTo>
                    <a:pt x="1924877" y="0"/>
                    <a:pt x="1942065" y="7119"/>
                    <a:pt x="1954737" y="19792"/>
                  </a:cubicBezTo>
                  <a:cubicBezTo>
                    <a:pt x="1967410" y="32464"/>
                    <a:pt x="1974529" y="49652"/>
                    <a:pt x="1974529" y="67574"/>
                  </a:cubicBezTo>
                  <a:lnTo>
                    <a:pt x="1974529" y="255881"/>
                  </a:lnTo>
                  <a:cubicBezTo>
                    <a:pt x="1974529" y="293201"/>
                    <a:pt x="1944275" y="323455"/>
                    <a:pt x="1906955" y="323455"/>
                  </a:cubicBezTo>
                  <a:lnTo>
                    <a:pt x="67574" y="323455"/>
                  </a:lnTo>
                  <a:cubicBezTo>
                    <a:pt x="30254" y="323455"/>
                    <a:pt x="0" y="293201"/>
                    <a:pt x="0" y="255881"/>
                  </a:cubicBezTo>
                  <a:lnTo>
                    <a:pt x="0" y="67574"/>
                  </a:lnTo>
                  <a:cubicBezTo>
                    <a:pt x="0" y="30254"/>
                    <a:pt x="30254" y="0"/>
                    <a:pt x="67574" y="0"/>
                  </a:cubicBezTo>
                  <a:close/>
                </a:path>
              </a:pathLst>
            </a:custGeom>
            <a:solidFill>
              <a:srgbClr val="073E88"/>
            </a:solidFill>
          </p:spPr>
        </p:sp>
        <p:sp>
          <p:nvSpPr>
            <p:cNvPr name="TextBox 7" id="7"/>
            <p:cNvSpPr txBox="true"/>
            <p:nvPr/>
          </p:nvSpPr>
          <p:spPr>
            <a:xfrm>
              <a:off x="0" y="-76200"/>
              <a:ext cx="1974529" cy="399655"/>
            </a:xfrm>
            <a:prstGeom prst="rect">
              <a:avLst/>
            </a:prstGeom>
          </p:spPr>
          <p:txBody>
            <a:bodyPr anchor="ctr" rtlCol="false" tIns="46707" lIns="46707" bIns="46707" rIns="46707"/>
            <a:lstStyle/>
            <a:p>
              <a:pPr algn="ctr">
                <a:lnSpc>
                  <a:spcPts val="3123"/>
                </a:lnSpc>
              </a:pPr>
            </a:p>
          </p:txBody>
        </p:sp>
      </p:grpSp>
      <p:sp>
        <p:nvSpPr>
          <p:cNvPr name="TextBox 8" id="8"/>
          <p:cNvSpPr txBox="true"/>
          <p:nvPr/>
        </p:nvSpPr>
        <p:spPr>
          <a:xfrm rot="0">
            <a:off x="1528019" y="2245332"/>
            <a:ext cx="3749321" cy="312420"/>
          </a:xfrm>
          <a:prstGeom prst="rect">
            <a:avLst/>
          </a:prstGeom>
        </p:spPr>
        <p:txBody>
          <a:bodyPr anchor="t" rtlCol="false" tIns="0" lIns="0" bIns="0" rIns="0">
            <a:spAutoFit/>
          </a:bodyPr>
          <a:lstStyle/>
          <a:p>
            <a:pPr algn="ctr">
              <a:lnSpc>
                <a:spcPts val="2310"/>
              </a:lnSpc>
            </a:pPr>
            <a:r>
              <a:rPr lang="en-US" b="true" sz="2100" spc="-84">
                <a:solidFill>
                  <a:srgbClr val="FFFFFF"/>
                </a:solidFill>
                <a:latin typeface="Poppins Bold"/>
                <a:ea typeface="Poppins Bold"/>
                <a:cs typeface="Poppins Bold"/>
                <a:sym typeface="Poppins Bold"/>
              </a:rPr>
              <a:t>Experiment &amp; Measurement</a:t>
            </a:r>
          </a:p>
        </p:txBody>
      </p:sp>
      <p:grpSp>
        <p:nvGrpSpPr>
          <p:cNvPr name="Group 9" id="9"/>
          <p:cNvGrpSpPr/>
          <p:nvPr/>
        </p:nvGrpSpPr>
        <p:grpSpPr>
          <a:xfrm rot="0">
            <a:off x="1397701" y="6185725"/>
            <a:ext cx="4009956" cy="656886"/>
            <a:chOff x="0" y="0"/>
            <a:chExt cx="1974529" cy="323455"/>
          </a:xfrm>
        </p:grpSpPr>
        <p:sp>
          <p:nvSpPr>
            <p:cNvPr name="Freeform 10" id="10"/>
            <p:cNvSpPr/>
            <p:nvPr/>
          </p:nvSpPr>
          <p:spPr>
            <a:xfrm flipH="false" flipV="false" rot="0">
              <a:off x="0" y="0"/>
              <a:ext cx="1974529" cy="323455"/>
            </a:xfrm>
            <a:custGeom>
              <a:avLst/>
              <a:gdLst/>
              <a:ahLst/>
              <a:cxnLst/>
              <a:rect r="r" b="b" t="t" l="l"/>
              <a:pathLst>
                <a:path h="323455" w="1974529">
                  <a:moveTo>
                    <a:pt x="67574" y="0"/>
                  </a:moveTo>
                  <a:lnTo>
                    <a:pt x="1906955" y="0"/>
                  </a:lnTo>
                  <a:cubicBezTo>
                    <a:pt x="1924877" y="0"/>
                    <a:pt x="1942065" y="7119"/>
                    <a:pt x="1954737" y="19792"/>
                  </a:cubicBezTo>
                  <a:cubicBezTo>
                    <a:pt x="1967410" y="32464"/>
                    <a:pt x="1974529" y="49652"/>
                    <a:pt x="1974529" y="67574"/>
                  </a:cubicBezTo>
                  <a:lnTo>
                    <a:pt x="1974529" y="255881"/>
                  </a:lnTo>
                  <a:cubicBezTo>
                    <a:pt x="1974529" y="293201"/>
                    <a:pt x="1944275" y="323455"/>
                    <a:pt x="1906955" y="323455"/>
                  </a:cubicBezTo>
                  <a:lnTo>
                    <a:pt x="67574" y="323455"/>
                  </a:lnTo>
                  <a:cubicBezTo>
                    <a:pt x="30254" y="323455"/>
                    <a:pt x="0" y="293201"/>
                    <a:pt x="0" y="255881"/>
                  </a:cubicBezTo>
                  <a:lnTo>
                    <a:pt x="0" y="67574"/>
                  </a:lnTo>
                  <a:cubicBezTo>
                    <a:pt x="0" y="30254"/>
                    <a:pt x="30254" y="0"/>
                    <a:pt x="67574" y="0"/>
                  </a:cubicBezTo>
                  <a:close/>
                </a:path>
              </a:pathLst>
            </a:custGeom>
            <a:solidFill>
              <a:srgbClr val="073E88"/>
            </a:solidFill>
          </p:spPr>
        </p:sp>
        <p:sp>
          <p:nvSpPr>
            <p:cNvPr name="TextBox 11" id="11"/>
            <p:cNvSpPr txBox="true"/>
            <p:nvPr/>
          </p:nvSpPr>
          <p:spPr>
            <a:xfrm>
              <a:off x="0" y="-76200"/>
              <a:ext cx="1974529" cy="399655"/>
            </a:xfrm>
            <a:prstGeom prst="rect">
              <a:avLst/>
            </a:prstGeom>
          </p:spPr>
          <p:txBody>
            <a:bodyPr anchor="ctr" rtlCol="false" tIns="46707" lIns="46707" bIns="46707" rIns="46707"/>
            <a:lstStyle/>
            <a:p>
              <a:pPr algn="ctr">
                <a:lnSpc>
                  <a:spcPts val="3123"/>
                </a:lnSpc>
              </a:pPr>
            </a:p>
          </p:txBody>
        </p:sp>
      </p:grpSp>
      <p:sp>
        <p:nvSpPr>
          <p:cNvPr name="TextBox 12" id="12"/>
          <p:cNvSpPr txBox="true"/>
          <p:nvPr/>
        </p:nvSpPr>
        <p:spPr>
          <a:xfrm rot="0">
            <a:off x="1528019" y="6348433"/>
            <a:ext cx="3749321" cy="312420"/>
          </a:xfrm>
          <a:prstGeom prst="rect">
            <a:avLst/>
          </a:prstGeom>
        </p:spPr>
        <p:txBody>
          <a:bodyPr anchor="t" rtlCol="false" tIns="0" lIns="0" bIns="0" rIns="0">
            <a:spAutoFit/>
          </a:bodyPr>
          <a:lstStyle/>
          <a:p>
            <a:pPr algn="ctr">
              <a:lnSpc>
                <a:spcPts val="2310"/>
              </a:lnSpc>
            </a:pPr>
            <a:r>
              <a:rPr lang="en-US" b="true" sz="2100" spc="-84">
                <a:solidFill>
                  <a:srgbClr val="FFFFFF"/>
                </a:solidFill>
                <a:latin typeface="Poppins Bold"/>
                <a:ea typeface="Poppins Bold"/>
                <a:cs typeface="Poppins Bold"/>
                <a:sym typeface="Poppins Bold"/>
              </a:rPr>
              <a:t>Technical Quick Wins</a:t>
            </a:r>
          </a:p>
        </p:txBody>
      </p:sp>
      <p:sp>
        <p:nvSpPr>
          <p:cNvPr name="TextBox 13" id="13"/>
          <p:cNvSpPr txBox="true"/>
          <p:nvPr/>
        </p:nvSpPr>
        <p:spPr>
          <a:xfrm rot="0">
            <a:off x="1397701" y="936791"/>
            <a:ext cx="15640198" cy="852656"/>
          </a:xfrm>
          <a:prstGeom prst="rect">
            <a:avLst/>
          </a:prstGeom>
        </p:spPr>
        <p:txBody>
          <a:bodyPr anchor="t" rtlCol="false" tIns="0" lIns="0" bIns="0" rIns="0">
            <a:spAutoFit/>
          </a:bodyPr>
          <a:lstStyle/>
          <a:p>
            <a:pPr algn="just">
              <a:lnSpc>
                <a:spcPts val="3200"/>
              </a:lnSpc>
            </a:pPr>
            <a:r>
              <a:rPr lang="en-US" b="true" sz="3200">
                <a:solidFill>
                  <a:srgbClr val="073E88"/>
                </a:solidFill>
                <a:latin typeface="Poppins Bold"/>
                <a:ea typeface="Poppins Bold"/>
                <a:cs typeface="Poppins Bold"/>
                <a:sym typeface="Poppins Bold"/>
              </a:rPr>
              <a:t>Q3: What strategies or optimizations can be implemented to increase the CR in the next three months?</a:t>
            </a:r>
          </a:p>
        </p:txBody>
      </p:sp>
      <p:sp>
        <p:nvSpPr>
          <p:cNvPr name="TextBox 14" id="14"/>
          <p:cNvSpPr txBox="true"/>
          <p:nvPr/>
        </p:nvSpPr>
        <p:spPr>
          <a:xfrm rot="0">
            <a:off x="1397701" y="3042212"/>
            <a:ext cx="15640198" cy="648484"/>
          </a:xfrm>
          <a:prstGeom prst="rect">
            <a:avLst/>
          </a:prstGeom>
        </p:spPr>
        <p:txBody>
          <a:bodyPr anchor="t" rtlCol="false" tIns="0" lIns="0" bIns="0" rIns="0">
            <a:spAutoFit/>
          </a:bodyPr>
          <a:lstStyle/>
          <a:p>
            <a:pPr algn="l">
              <a:lnSpc>
                <a:spcPts val="2529"/>
              </a:lnSpc>
            </a:pPr>
            <a:r>
              <a:rPr lang="en-US" sz="2299" spc="-91" b="true">
                <a:solidFill>
                  <a:srgbClr val="073E88"/>
                </a:solidFill>
                <a:latin typeface="Poppins Bold"/>
                <a:ea typeface="Poppins Bold"/>
                <a:cs typeface="Poppins Bold"/>
                <a:sym typeface="Poppins Bold"/>
              </a:rPr>
              <a:t>Hypothesis:  Adding reviews and a trust badge will increase the conversion rate from the product page to checkout by 20%.</a:t>
            </a:r>
          </a:p>
        </p:txBody>
      </p:sp>
      <p:sp>
        <p:nvSpPr>
          <p:cNvPr name="TextBox 15" id="15"/>
          <p:cNvSpPr txBox="true"/>
          <p:nvPr/>
        </p:nvSpPr>
        <p:spPr>
          <a:xfrm rot="0">
            <a:off x="1250101" y="3728796"/>
            <a:ext cx="15640198" cy="2161654"/>
          </a:xfrm>
          <a:prstGeom prst="rect">
            <a:avLst/>
          </a:prstGeom>
        </p:spPr>
        <p:txBody>
          <a:bodyPr anchor="t" rtlCol="false" tIns="0" lIns="0" bIns="0" rIns="0">
            <a:spAutoFit/>
          </a:bodyPr>
          <a:lstStyle/>
          <a:p>
            <a:pPr algn="l" marL="431801" indent="-215900" lvl="1">
              <a:lnSpc>
                <a:spcPts val="2400"/>
              </a:lnSpc>
              <a:buFont typeface="Arial"/>
              <a:buChar char="•"/>
            </a:pPr>
            <a:r>
              <a:rPr lang="en-US" b="true" sz="2000">
                <a:solidFill>
                  <a:srgbClr val="073E88"/>
                </a:solidFill>
                <a:latin typeface="Poppins Bold"/>
                <a:ea typeface="Poppins Bold"/>
                <a:cs typeface="Poppins Bold"/>
                <a:sym typeface="Poppins Bold"/>
              </a:rPr>
              <a:t>Unit:</a:t>
            </a:r>
            <a:r>
              <a:rPr lang="en-US" sz="2000">
                <a:solidFill>
                  <a:srgbClr val="073E88"/>
                </a:solidFill>
                <a:latin typeface="Poppins"/>
                <a:ea typeface="Poppins"/>
                <a:cs typeface="Poppins"/>
                <a:sym typeface="Poppins"/>
              </a:rPr>
              <a:t> </a:t>
            </a:r>
            <a:r>
              <a:rPr lang="en-US" sz="2000">
                <a:solidFill>
                  <a:srgbClr val="000000"/>
                </a:solidFill>
                <a:latin typeface="Poppins"/>
                <a:ea typeface="Poppins"/>
                <a:cs typeface="Poppins"/>
                <a:sym typeface="Poppins"/>
              </a:rPr>
              <a:t>Organic visitors and paid traffic</a:t>
            </a:r>
          </a:p>
          <a:p>
            <a:pPr algn="l" marL="431801" indent="-215900" lvl="1">
              <a:lnSpc>
                <a:spcPts val="2400"/>
              </a:lnSpc>
              <a:buFont typeface="Arial"/>
              <a:buChar char="•"/>
            </a:pPr>
            <a:r>
              <a:rPr lang="en-US" b="true" sz="2000">
                <a:solidFill>
                  <a:srgbClr val="073E88"/>
                </a:solidFill>
                <a:latin typeface="Poppins Bold"/>
                <a:ea typeface="Poppins Bold"/>
                <a:cs typeface="Poppins Bold"/>
                <a:sym typeface="Poppins Bold"/>
              </a:rPr>
              <a:t>Metric</a:t>
            </a:r>
            <a:r>
              <a:rPr lang="en-US" sz="2000">
                <a:solidFill>
                  <a:srgbClr val="073E88"/>
                </a:solidFill>
                <a:latin typeface="Poppins"/>
                <a:ea typeface="Poppins"/>
                <a:cs typeface="Poppins"/>
                <a:sym typeface="Poppins"/>
              </a:rPr>
              <a:t>: </a:t>
            </a:r>
            <a:r>
              <a:rPr lang="en-US" sz="2000">
                <a:solidFill>
                  <a:srgbClr val="000000"/>
                </a:solidFill>
                <a:latin typeface="Poppins"/>
                <a:ea typeface="Poppins"/>
                <a:cs typeface="Poppins"/>
                <a:sym typeface="Poppins"/>
              </a:rPr>
              <a:t>Conversion rate from the product page to checkout.</a:t>
            </a:r>
          </a:p>
          <a:p>
            <a:pPr algn="l" marL="431801" indent="-215900" lvl="1">
              <a:lnSpc>
                <a:spcPts val="2400"/>
              </a:lnSpc>
              <a:buFont typeface="Arial"/>
              <a:buChar char="•"/>
            </a:pPr>
            <a:r>
              <a:rPr lang="en-US" b="true" sz="2000">
                <a:solidFill>
                  <a:srgbClr val="073E88"/>
                </a:solidFill>
                <a:latin typeface="Poppins Bold"/>
                <a:ea typeface="Poppins Bold"/>
                <a:cs typeface="Poppins Bold"/>
                <a:sym typeface="Poppins Bold"/>
              </a:rPr>
              <a:t>Duration</a:t>
            </a:r>
            <a:r>
              <a:rPr lang="en-US" sz="2000">
                <a:solidFill>
                  <a:srgbClr val="073E88"/>
                </a:solidFill>
                <a:latin typeface="Poppins"/>
                <a:ea typeface="Poppins"/>
                <a:cs typeface="Poppins"/>
                <a:sym typeface="Poppins"/>
              </a:rPr>
              <a:t>: </a:t>
            </a:r>
            <a:r>
              <a:rPr lang="en-US" sz="2000">
                <a:solidFill>
                  <a:srgbClr val="000000"/>
                </a:solidFill>
                <a:latin typeface="Poppins"/>
                <a:ea typeface="Poppins"/>
                <a:cs typeface="Poppins"/>
                <a:sym typeface="Poppins"/>
              </a:rPr>
              <a:t>At least 2 weeks, with a stop rule of p &lt; 0.05 and a minimum of 7 days to account for weekday and weekend cycles.</a:t>
            </a:r>
          </a:p>
          <a:p>
            <a:pPr algn="l" marL="431801" indent="-215900" lvl="1">
              <a:lnSpc>
                <a:spcPts val="2400"/>
              </a:lnSpc>
              <a:buFont typeface="Arial"/>
              <a:buChar char="•"/>
            </a:pPr>
            <a:r>
              <a:rPr lang="en-US" b="true" sz="2000">
                <a:solidFill>
                  <a:srgbClr val="073E88"/>
                </a:solidFill>
                <a:latin typeface="Poppins Bold"/>
                <a:ea typeface="Poppins Bold"/>
                <a:cs typeface="Poppins Bold"/>
                <a:sym typeface="Poppins Bold"/>
              </a:rPr>
              <a:t>Funnel Metrics</a:t>
            </a:r>
            <a:r>
              <a:rPr lang="en-US" sz="2000">
                <a:solidFill>
                  <a:srgbClr val="073E88"/>
                </a:solidFill>
                <a:latin typeface="Poppins"/>
                <a:ea typeface="Poppins"/>
                <a:cs typeface="Poppins"/>
                <a:sym typeface="Poppins"/>
              </a:rPr>
              <a:t>: </a:t>
            </a:r>
            <a:r>
              <a:rPr lang="en-US" sz="2000">
                <a:solidFill>
                  <a:srgbClr val="000000"/>
                </a:solidFill>
                <a:latin typeface="Poppins"/>
                <a:ea typeface="Poppins"/>
                <a:cs typeface="Poppins"/>
                <a:sym typeface="Poppins"/>
              </a:rPr>
              <a:t>impressions → CTR → page view → add to cart → checkout → purchase.</a:t>
            </a:r>
          </a:p>
          <a:p>
            <a:pPr algn="l" marL="431801" indent="-215900" lvl="1">
              <a:lnSpc>
                <a:spcPts val="2400"/>
              </a:lnSpc>
              <a:buFont typeface="Arial"/>
              <a:buChar char="•"/>
            </a:pPr>
            <a:r>
              <a:rPr lang="en-US" b="true" sz="2000">
                <a:solidFill>
                  <a:srgbClr val="2F5D9B"/>
                </a:solidFill>
                <a:latin typeface="Poppins Bold"/>
                <a:ea typeface="Poppins Bold"/>
                <a:cs typeface="Poppins Bold"/>
                <a:sym typeface="Poppins Bold"/>
              </a:rPr>
              <a:t>Attribution</a:t>
            </a:r>
            <a:r>
              <a:rPr lang="en-US" sz="2000">
                <a:solidFill>
                  <a:srgbClr val="000000"/>
                </a:solidFill>
                <a:latin typeface="Poppins"/>
                <a:ea typeface="Poppins"/>
                <a:cs typeface="Poppins"/>
                <a:sym typeface="Poppins"/>
              </a:rPr>
              <a:t>: measured using UTM parameters combined with a last-non-direct attribution model, along with a pre/post cohort analysis</a:t>
            </a:r>
          </a:p>
        </p:txBody>
      </p:sp>
      <p:grpSp>
        <p:nvGrpSpPr>
          <p:cNvPr name="Group 16" id="16"/>
          <p:cNvGrpSpPr/>
          <p:nvPr/>
        </p:nvGrpSpPr>
        <p:grpSpPr>
          <a:xfrm rot="0">
            <a:off x="1397701" y="7137886"/>
            <a:ext cx="15496346" cy="2120414"/>
            <a:chOff x="0" y="0"/>
            <a:chExt cx="20661795" cy="2827219"/>
          </a:xfrm>
        </p:grpSpPr>
        <p:sp>
          <p:nvSpPr>
            <p:cNvPr name="TextBox 17" id="17"/>
            <p:cNvSpPr txBox="true"/>
            <p:nvPr/>
          </p:nvSpPr>
          <p:spPr>
            <a:xfrm rot="0">
              <a:off x="58922" y="959809"/>
              <a:ext cx="6006118" cy="1562560"/>
            </a:xfrm>
            <a:prstGeom prst="rect">
              <a:avLst/>
            </a:prstGeom>
          </p:spPr>
          <p:txBody>
            <a:bodyPr anchor="t" rtlCol="false" tIns="0" lIns="0" bIns="0" rIns="0">
              <a:spAutoFit/>
            </a:bodyPr>
            <a:lstStyle/>
            <a:p>
              <a:pPr algn="just" marL="367031" indent="-183515" lvl="1">
                <a:lnSpc>
                  <a:spcPts val="1870"/>
                </a:lnSpc>
                <a:buFont typeface="Arial"/>
                <a:buChar char="•"/>
              </a:pPr>
              <a:r>
                <a:rPr lang="en-US" sz="1700">
                  <a:solidFill>
                    <a:srgbClr val="101419"/>
                  </a:solidFill>
                  <a:latin typeface="Poppins"/>
                  <a:ea typeface="Poppins"/>
                  <a:cs typeface="Poppins"/>
                  <a:sym typeface="Poppins"/>
                </a:rPr>
                <a:t>Ensure the website or product page loads quickly, especially on mobile.</a:t>
              </a:r>
            </a:p>
            <a:p>
              <a:pPr algn="just" marL="367031" indent="-183515" lvl="1">
                <a:lnSpc>
                  <a:spcPts val="1870"/>
                </a:lnSpc>
                <a:buFont typeface="Arial"/>
                <a:buChar char="•"/>
              </a:pPr>
              <a:r>
                <a:rPr lang="en-US" sz="1700">
                  <a:solidFill>
                    <a:srgbClr val="101419"/>
                  </a:solidFill>
                  <a:latin typeface="Poppins"/>
                  <a:ea typeface="Poppins"/>
                  <a:cs typeface="Poppins"/>
                  <a:sym typeface="Poppins"/>
                </a:rPr>
                <a:t>Slow pages cause visitors to leave the site, which leads to lower conversion rates.</a:t>
              </a:r>
            </a:p>
          </p:txBody>
        </p:sp>
        <p:sp>
          <p:nvSpPr>
            <p:cNvPr name="TextBox 18" id="18"/>
            <p:cNvSpPr txBox="true"/>
            <p:nvPr/>
          </p:nvSpPr>
          <p:spPr>
            <a:xfrm rot="0">
              <a:off x="657650" y="9525"/>
              <a:ext cx="5926481" cy="718509"/>
            </a:xfrm>
            <a:prstGeom prst="rect">
              <a:avLst/>
            </a:prstGeom>
          </p:spPr>
          <p:txBody>
            <a:bodyPr anchor="t" rtlCol="false" tIns="0" lIns="0" bIns="0" rIns="0">
              <a:spAutoFit/>
            </a:bodyPr>
            <a:lstStyle/>
            <a:p>
              <a:pPr algn="l">
                <a:lnSpc>
                  <a:spcPts val="2000"/>
                </a:lnSpc>
              </a:pPr>
              <a:r>
                <a:rPr lang="en-US" sz="2000" b="true">
                  <a:solidFill>
                    <a:srgbClr val="073E88"/>
                  </a:solidFill>
                  <a:latin typeface="Poppins Bold"/>
                  <a:ea typeface="Poppins Bold"/>
                  <a:cs typeface="Poppins Bold"/>
                  <a:sym typeface="Poppins Bold"/>
                </a:rPr>
                <a:t>Improve Page Speed to Under 3 Seconds</a:t>
              </a:r>
            </a:p>
          </p:txBody>
        </p:sp>
        <p:grpSp>
          <p:nvGrpSpPr>
            <p:cNvPr name="Group 19" id="19"/>
            <p:cNvGrpSpPr/>
            <p:nvPr/>
          </p:nvGrpSpPr>
          <p:grpSpPr>
            <a:xfrm rot="0">
              <a:off x="0" y="81172"/>
              <a:ext cx="406301" cy="40630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21" id="21"/>
              <p:cNvSpPr txBox="true"/>
              <p:nvPr/>
            </p:nvSpPr>
            <p:spPr>
              <a:xfrm>
                <a:off x="76200" y="38100"/>
                <a:ext cx="660400" cy="698500"/>
              </a:xfrm>
              <a:prstGeom prst="rect">
                <a:avLst/>
              </a:prstGeom>
            </p:spPr>
            <p:txBody>
              <a:bodyPr anchor="ctr" rtlCol="false" tIns="15224" lIns="15224" bIns="15224" rIns="15224"/>
              <a:lstStyle/>
              <a:p>
                <a:pPr algn="ctr">
                  <a:lnSpc>
                    <a:spcPts val="2659"/>
                  </a:lnSpc>
                </a:pPr>
              </a:p>
            </p:txBody>
          </p:sp>
        </p:grpSp>
        <p:sp>
          <p:nvSpPr>
            <p:cNvPr name="TextBox 22" id="22"/>
            <p:cNvSpPr txBox="true"/>
            <p:nvPr/>
          </p:nvSpPr>
          <p:spPr>
            <a:xfrm rot="0">
              <a:off x="58922" y="194239"/>
              <a:ext cx="316197" cy="226956"/>
            </a:xfrm>
            <a:prstGeom prst="rect">
              <a:avLst/>
            </a:prstGeom>
          </p:spPr>
          <p:txBody>
            <a:bodyPr anchor="t" rtlCol="false" tIns="0" lIns="0" bIns="0" rIns="0">
              <a:spAutoFit/>
            </a:bodyPr>
            <a:lstStyle/>
            <a:p>
              <a:pPr algn="ctr">
                <a:lnSpc>
                  <a:spcPts val="1241"/>
                </a:lnSpc>
              </a:pPr>
              <a:r>
                <a:rPr lang="en-US" sz="1241" b="true">
                  <a:solidFill>
                    <a:srgbClr val="FFFFFF"/>
                  </a:solidFill>
                  <a:latin typeface="Poppins Bold"/>
                  <a:ea typeface="Poppins Bold"/>
                  <a:cs typeface="Poppins Bold"/>
                  <a:sym typeface="Poppins Bold"/>
                </a:rPr>
                <a:t>1</a:t>
              </a:r>
            </a:p>
          </p:txBody>
        </p:sp>
        <p:sp>
          <p:nvSpPr>
            <p:cNvPr name="TextBox 23" id="23"/>
            <p:cNvSpPr txBox="true"/>
            <p:nvPr/>
          </p:nvSpPr>
          <p:spPr>
            <a:xfrm rot="0">
              <a:off x="7095255" y="959809"/>
              <a:ext cx="6189004" cy="1867409"/>
            </a:xfrm>
            <a:prstGeom prst="rect">
              <a:avLst/>
            </a:prstGeom>
          </p:spPr>
          <p:txBody>
            <a:bodyPr anchor="t" rtlCol="false" tIns="0" lIns="0" bIns="0" rIns="0">
              <a:spAutoFit/>
            </a:bodyPr>
            <a:lstStyle/>
            <a:p>
              <a:pPr algn="just" marL="367031" indent="-183515" lvl="1">
                <a:lnSpc>
                  <a:spcPts val="1870"/>
                </a:lnSpc>
                <a:buFont typeface="Arial"/>
                <a:buChar char="•"/>
              </a:pPr>
              <a:r>
                <a:rPr lang="en-US" sz="1700">
                  <a:solidFill>
                    <a:srgbClr val="101419"/>
                  </a:solidFill>
                  <a:latin typeface="Poppins"/>
                  <a:ea typeface="Poppins"/>
                  <a:cs typeface="Poppins"/>
                  <a:sym typeface="Poppins"/>
                </a:rPr>
                <a:t>The “Buy” button or any CTA should be easy to reach with the thumb on mobile screens.</a:t>
              </a:r>
            </a:p>
            <a:p>
              <a:pPr algn="just" marL="367031" indent="-183515" lvl="1">
                <a:lnSpc>
                  <a:spcPts val="1870"/>
                </a:lnSpc>
                <a:buFont typeface="Arial"/>
                <a:buChar char="•"/>
              </a:pPr>
              <a:r>
                <a:rPr lang="en-US" sz="1700">
                  <a:solidFill>
                    <a:srgbClr val="101419"/>
                  </a:solidFill>
                  <a:latin typeface="Poppins"/>
                  <a:ea typeface="Poppins"/>
                  <a:cs typeface="Poppins"/>
                  <a:sym typeface="Poppins"/>
                </a:rPr>
                <a:t>“</a:t>
              </a:r>
              <a:r>
                <a:rPr lang="en-US" sz="1700">
                  <a:solidFill>
                    <a:srgbClr val="101419"/>
                  </a:solidFill>
                  <a:latin typeface="Poppins"/>
                  <a:ea typeface="Poppins"/>
                  <a:cs typeface="Poppins"/>
                  <a:sym typeface="Poppins"/>
                </a:rPr>
                <a:t>Sticky add-to-cart” means the purchase button stays visible even while scrolling down the page.</a:t>
              </a:r>
            </a:p>
          </p:txBody>
        </p:sp>
        <p:sp>
          <p:nvSpPr>
            <p:cNvPr name="TextBox 24" id="24"/>
            <p:cNvSpPr txBox="true"/>
            <p:nvPr/>
          </p:nvSpPr>
          <p:spPr>
            <a:xfrm rot="0">
              <a:off x="7693983" y="9525"/>
              <a:ext cx="5926481" cy="718509"/>
            </a:xfrm>
            <a:prstGeom prst="rect">
              <a:avLst/>
            </a:prstGeom>
          </p:spPr>
          <p:txBody>
            <a:bodyPr anchor="t" rtlCol="false" tIns="0" lIns="0" bIns="0" rIns="0">
              <a:spAutoFit/>
            </a:bodyPr>
            <a:lstStyle/>
            <a:p>
              <a:pPr algn="l">
                <a:lnSpc>
                  <a:spcPts val="2000"/>
                </a:lnSpc>
              </a:pPr>
              <a:r>
                <a:rPr lang="en-US" sz="2000" b="true">
                  <a:solidFill>
                    <a:srgbClr val="073E88"/>
                  </a:solidFill>
                  <a:latin typeface="Poppins Bold"/>
                  <a:ea typeface="Poppins Bold"/>
                  <a:cs typeface="Poppins Bold"/>
                  <a:sym typeface="Poppins Bold"/>
                </a:rPr>
                <a:t>Optimize Mobile UX (CTA Thumb Reach, Sticky Add-to-Cart)</a:t>
              </a:r>
            </a:p>
          </p:txBody>
        </p:sp>
        <p:grpSp>
          <p:nvGrpSpPr>
            <p:cNvPr name="Group 25" id="25"/>
            <p:cNvGrpSpPr/>
            <p:nvPr/>
          </p:nvGrpSpPr>
          <p:grpSpPr>
            <a:xfrm rot="0">
              <a:off x="7033683" y="38316"/>
              <a:ext cx="406301" cy="40630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27" id="27"/>
              <p:cNvSpPr txBox="true"/>
              <p:nvPr/>
            </p:nvSpPr>
            <p:spPr>
              <a:xfrm>
                <a:off x="76200" y="38100"/>
                <a:ext cx="660400" cy="698500"/>
              </a:xfrm>
              <a:prstGeom prst="rect">
                <a:avLst/>
              </a:prstGeom>
            </p:spPr>
            <p:txBody>
              <a:bodyPr anchor="ctr" rtlCol="false" tIns="15224" lIns="15224" bIns="15224" rIns="15224"/>
              <a:lstStyle/>
              <a:p>
                <a:pPr algn="ctr">
                  <a:lnSpc>
                    <a:spcPts val="2659"/>
                  </a:lnSpc>
                </a:pPr>
              </a:p>
            </p:txBody>
          </p:sp>
        </p:grpSp>
        <p:sp>
          <p:nvSpPr>
            <p:cNvPr name="TextBox 28" id="28"/>
            <p:cNvSpPr txBox="true"/>
            <p:nvPr/>
          </p:nvSpPr>
          <p:spPr>
            <a:xfrm rot="0">
              <a:off x="7092604" y="151383"/>
              <a:ext cx="316197" cy="226956"/>
            </a:xfrm>
            <a:prstGeom prst="rect">
              <a:avLst/>
            </a:prstGeom>
          </p:spPr>
          <p:txBody>
            <a:bodyPr anchor="t" rtlCol="false" tIns="0" lIns="0" bIns="0" rIns="0">
              <a:spAutoFit/>
            </a:bodyPr>
            <a:lstStyle/>
            <a:p>
              <a:pPr algn="ctr">
                <a:lnSpc>
                  <a:spcPts val="1241"/>
                </a:lnSpc>
              </a:pPr>
              <a:r>
                <a:rPr lang="en-US" sz="1241" b="true">
                  <a:solidFill>
                    <a:srgbClr val="FFFFFF"/>
                  </a:solidFill>
                  <a:latin typeface="Poppins Bold"/>
                  <a:ea typeface="Poppins Bold"/>
                  <a:cs typeface="Poppins Bold"/>
                  <a:sym typeface="Poppins Bold"/>
                </a:rPr>
                <a:t>2</a:t>
              </a:r>
            </a:p>
          </p:txBody>
        </p:sp>
        <p:sp>
          <p:nvSpPr>
            <p:cNvPr name="TextBox 29" id="29"/>
            <p:cNvSpPr txBox="true"/>
            <p:nvPr/>
          </p:nvSpPr>
          <p:spPr>
            <a:xfrm rot="0">
              <a:off x="14136586" y="960261"/>
              <a:ext cx="6525209" cy="1562560"/>
            </a:xfrm>
            <a:prstGeom prst="rect">
              <a:avLst/>
            </a:prstGeom>
          </p:spPr>
          <p:txBody>
            <a:bodyPr anchor="t" rtlCol="false" tIns="0" lIns="0" bIns="0" rIns="0">
              <a:spAutoFit/>
            </a:bodyPr>
            <a:lstStyle/>
            <a:p>
              <a:pPr algn="just" marL="367031" indent="-183515" lvl="1">
                <a:lnSpc>
                  <a:spcPts val="1870"/>
                </a:lnSpc>
                <a:buFont typeface="Arial"/>
                <a:buChar char="•"/>
              </a:pPr>
              <a:r>
                <a:rPr lang="en-US" sz="1700">
                  <a:solidFill>
                    <a:srgbClr val="101419"/>
                  </a:solidFill>
                  <a:latin typeface="Poppins"/>
                  <a:ea typeface="Poppins"/>
                  <a:cs typeface="Poppins"/>
                  <a:sym typeface="Poppins"/>
                </a:rPr>
                <a:t>Visitors should be able to purchase without creating an account.</a:t>
              </a:r>
            </a:p>
            <a:p>
              <a:pPr algn="just" marL="367031" indent="-183515" lvl="1">
                <a:lnSpc>
                  <a:spcPts val="1870"/>
                </a:lnSpc>
                <a:buFont typeface="Arial"/>
                <a:buChar char="•"/>
              </a:pPr>
              <a:r>
                <a:rPr lang="en-US" sz="1700">
                  <a:solidFill>
                    <a:srgbClr val="101419"/>
                  </a:solidFill>
                  <a:latin typeface="Poppins"/>
                  <a:ea typeface="Poppins"/>
                  <a:cs typeface="Poppins"/>
                  <a:sym typeface="Poppins"/>
                </a:rPr>
                <a:t>Th</a:t>
              </a:r>
              <a:r>
                <a:rPr lang="en-US" sz="1700">
                  <a:solidFill>
                    <a:srgbClr val="101419"/>
                  </a:solidFill>
                  <a:latin typeface="Poppins"/>
                  <a:ea typeface="Poppins"/>
                  <a:cs typeface="Poppins"/>
                  <a:sym typeface="Poppins"/>
                </a:rPr>
                <a:t>is reduces checkout friction and increases the number of completed purchases.</a:t>
              </a:r>
            </a:p>
          </p:txBody>
        </p:sp>
        <p:sp>
          <p:nvSpPr>
            <p:cNvPr name="TextBox 30" id="30"/>
            <p:cNvSpPr txBox="true"/>
            <p:nvPr/>
          </p:nvSpPr>
          <p:spPr>
            <a:xfrm rot="0">
              <a:off x="14735314" y="9977"/>
              <a:ext cx="5926481" cy="388359"/>
            </a:xfrm>
            <a:prstGeom prst="rect">
              <a:avLst/>
            </a:prstGeom>
          </p:spPr>
          <p:txBody>
            <a:bodyPr anchor="t" rtlCol="false" tIns="0" lIns="0" bIns="0" rIns="0">
              <a:spAutoFit/>
            </a:bodyPr>
            <a:lstStyle/>
            <a:p>
              <a:pPr algn="l">
                <a:lnSpc>
                  <a:spcPts val="2000"/>
                </a:lnSpc>
              </a:pPr>
              <a:r>
                <a:rPr lang="en-US" sz="2000" b="true">
                  <a:solidFill>
                    <a:srgbClr val="073E88"/>
                  </a:solidFill>
                  <a:latin typeface="Poppins Bold"/>
                  <a:ea typeface="Poppins Bold"/>
                  <a:cs typeface="Poppins Bold"/>
                  <a:sym typeface="Poppins Bold"/>
                </a:rPr>
                <a:t>Enable One-Click Guest Checkout</a:t>
              </a:r>
            </a:p>
          </p:txBody>
        </p:sp>
        <p:grpSp>
          <p:nvGrpSpPr>
            <p:cNvPr name="Group 31" id="31"/>
            <p:cNvGrpSpPr/>
            <p:nvPr/>
          </p:nvGrpSpPr>
          <p:grpSpPr>
            <a:xfrm rot="0">
              <a:off x="14136586" y="38316"/>
              <a:ext cx="406301" cy="406301"/>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33" id="33"/>
              <p:cNvSpPr txBox="true"/>
              <p:nvPr/>
            </p:nvSpPr>
            <p:spPr>
              <a:xfrm>
                <a:off x="76200" y="38100"/>
                <a:ext cx="660400" cy="698500"/>
              </a:xfrm>
              <a:prstGeom prst="rect">
                <a:avLst/>
              </a:prstGeom>
            </p:spPr>
            <p:txBody>
              <a:bodyPr anchor="ctr" rtlCol="false" tIns="15224" lIns="15224" bIns="15224" rIns="15224"/>
              <a:lstStyle/>
              <a:p>
                <a:pPr algn="ctr">
                  <a:lnSpc>
                    <a:spcPts val="2659"/>
                  </a:lnSpc>
                </a:pPr>
              </a:p>
            </p:txBody>
          </p:sp>
        </p:grpSp>
        <p:sp>
          <p:nvSpPr>
            <p:cNvPr name="TextBox 34" id="34"/>
            <p:cNvSpPr txBox="true"/>
            <p:nvPr/>
          </p:nvSpPr>
          <p:spPr>
            <a:xfrm rot="0">
              <a:off x="14195507" y="151383"/>
              <a:ext cx="316197" cy="226956"/>
            </a:xfrm>
            <a:prstGeom prst="rect">
              <a:avLst/>
            </a:prstGeom>
          </p:spPr>
          <p:txBody>
            <a:bodyPr anchor="t" rtlCol="false" tIns="0" lIns="0" bIns="0" rIns="0">
              <a:spAutoFit/>
            </a:bodyPr>
            <a:lstStyle/>
            <a:p>
              <a:pPr algn="ctr">
                <a:lnSpc>
                  <a:spcPts val="1241"/>
                </a:lnSpc>
              </a:pPr>
              <a:r>
                <a:rPr lang="en-US" sz="1241" b="true">
                  <a:solidFill>
                    <a:srgbClr val="FFFFFF"/>
                  </a:solidFill>
                  <a:latin typeface="Poppins Bold"/>
                  <a:ea typeface="Poppins Bold"/>
                  <a:cs typeface="Poppins Bold"/>
                  <a:sym typeface="Poppins Bold"/>
                </a:rPr>
                <a:t>3</a:t>
              </a:r>
            </a:p>
          </p:txBody>
        </p:sp>
      </p:grpSp>
    </p:spTree>
  </p:cSld>
  <p:clrMapOvr>
    <a:masterClrMapping/>
  </p:clrMapOvr>
</p:sld>
</file>

<file path=ppt/slides/slide28.xml><?xml version="1.0" encoding="utf-8"?>
<p:sld xmlns:p="http://schemas.openxmlformats.org/presentationml/2006/main" xmlns:a="http://schemas.openxmlformats.org/drawingml/2006/main">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grpSp>
        <p:nvGrpSpPr>
          <p:cNvPr name="Group 5" id="5"/>
          <p:cNvGrpSpPr/>
          <p:nvPr/>
        </p:nvGrpSpPr>
        <p:grpSpPr>
          <a:xfrm rot="0">
            <a:off x="1395827" y="1028700"/>
            <a:ext cx="4009956" cy="656886"/>
            <a:chOff x="0" y="0"/>
            <a:chExt cx="1974529" cy="323455"/>
          </a:xfrm>
        </p:grpSpPr>
        <p:sp>
          <p:nvSpPr>
            <p:cNvPr name="Freeform 6" id="6"/>
            <p:cNvSpPr/>
            <p:nvPr/>
          </p:nvSpPr>
          <p:spPr>
            <a:xfrm flipH="false" flipV="false" rot="0">
              <a:off x="0" y="0"/>
              <a:ext cx="1974529" cy="323455"/>
            </a:xfrm>
            <a:custGeom>
              <a:avLst/>
              <a:gdLst/>
              <a:ahLst/>
              <a:cxnLst/>
              <a:rect r="r" b="b" t="t" l="l"/>
              <a:pathLst>
                <a:path h="323455" w="1974529">
                  <a:moveTo>
                    <a:pt x="67574" y="0"/>
                  </a:moveTo>
                  <a:lnTo>
                    <a:pt x="1906955" y="0"/>
                  </a:lnTo>
                  <a:cubicBezTo>
                    <a:pt x="1924877" y="0"/>
                    <a:pt x="1942065" y="7119"/>
                    <a:pt x="1954737" y="19792"/>
                  </a:cubicBezTo>
                  <a:cubicBezTo>
                    <a:pt x="1967410" y="32464"/>
                    <a:pt x="1974529" y="49652"/>
                    <a:pt x="1974529" y="67574"/>
                  </a:cubicBezTo>
                  <a:lnTo>
                    <a:pt x="1974529" y="255881"/>
                  </a:lnTo>
                  <a:cubicBezTo>
                    <a:pt x="1974529" y="293201"/>
                    <a:pt x="1944275" y="323455"/>
                    <a:pt x="1906955" y="323455"/>
                  </a:cubicBezTo>
                  <a:lnTo>
                    <a:pt x="67574" y="323455"/>
                  </a:lnTo>
                  <a:cubicBezTo>
                    <a:pt x="30254" y="323455"/>
                    <a:pt x="0" y="293201"/>
                    <a:pt x="0" y="255881"/>
                  </a:cubicBezTo>
                  <a:lnTo>
                    <a:pt x="0" y="67574"/>
                  </a:lnTo>
                  <a:cubicBezTo>
                    <a:pt x="0" y="30254"/>
                    <a:pt x="30254" y="0"/>
                    <a:pt x="67574" y="0"/>
                  </a:cubicBezTo>
                  <a:close/>
                </a:path>
              </a:pathLst>
            </a:custGeom>
            <a:solidFill>
              <a:srgbClr val="073E88"/>
            </a:solidFill>
          </p:spPr>
        </p:sp>
        <p:sp>
          <p:nvSpPr>
            <p:cNvPr name="TextBox 7" id="7"/>
            <p:cNvSpPr txBox="true"/>
            <p:nvPr/>
          </p:nvSpPr>
          <p:spPr>
            <a:xfrm>
              <a:off x="0" y="-76200"/>
              <a:ext cx="1974529" cy="399655"/>
            </a:xfrm>
            <a:prstGeom prst="rect">
              <a:avLst/>
            </a:prstGeom>
          </p:spPr>
          <p:txBody>
            <a:bodyPr anchor="ctr" rtlCol="false" tIns="46707" lIns="46707" bIns="46707" rIns="46707"/>
            <a:lstStyle/>
            <a:p>
              <a:pPr algn="ctr">
                <a:lnSpc>
                  <a:spcPts val="3123"/>
                </a:lnSpc>
              </a:pPr>
            </a:p>
          </p:txBody>
        </p:sp>
      </p:grpSp>
      <p:sp>
        <p:nvSpPr>
          <p:cNvPr name="TextBox 8" id="8"/>
          <p:cNvSpPr txBox="true"/>
          <p:nvPr/>
        </p:nvSpPr>
        <p:spPr>
          <a:xfrm rot="0">
            <a:off x="1526144" y="1191408"/>
            <a:ext cx="3749321" cy="312420"/>
          </a:xfrm>
          <a:prstGeom prst="rect">
            <a:avLst/>
          </a:prstGeom>
        </p:spPr>
        <p:txBody>
          <a:bodyPr anchor="t" rtlCol="false" tIns="0" lIns="0" bIns="0" rIns="0">
            <a:spAutoFit/>
          </a:bodyPr>
          <a:lstStyle/>
          <a:p>
            <a:pPr algn="ctr">
              <a:lnSpc>
                <a:spcPts val="2310"/>
              </a:lnSpc>
            </a:pPr>
            <a:r>
              <a:rPr lang="en-US" b="true" sz="2100" spc="-84">
                <a:solidFill>
                  <a:srgbClr val="FFFFFF"/>
                </a:solidFill>
                <a:latin typeface="Poppins Bold"/>
                <a:ea typeface="Poppins Bold"/>
                <a:cs typeface="Poppins Bold"/>
                <a:sym typeface="Poppins Bold"/>
              </a:rPr>
              <a:t>Technical Quick Wins</a:t>
            </a:r>
          </a:p>
        </p:txBody>
      </p:sp>
      <p:grpSp>
        <p:nvGrpSpPr>
          <p:cNvPr name="Group 9" id="9"/>
          <p:cNvGrpSpPr/>
          <p:nvPr/>
        </p:nvGrpSpPr>
        <p:grpSpPr>
          <a:xfrm rot="0">
            <a:off x="1395827" y="1980861"/>
            <a:ext cx="15379760" cy="2120414"/>
            <a:chOff x="0" y="0"/>
            <a:chExt cx="20506347" cy="2827219"/>
          </a:xfrm>
        </p:grpSpPr>
        <p:sp>
          <p:nvSpPr>
            <p:cNvPr name="TextBox 10" id="10"/>
            <p:cNvSpPr txBox="true"/>
            <p:nvPr/>
          </p:nvSpPr>
          <p:spPr>
            <a:xfrm rot="0">
              <a:off x="58922" y="959809"/>
              <a:ext cx="6006118" cy="1867409"/>
            </a:xfrm>
            <a:prstGeom prst="rect">
              <a:avLst/>
            </a:prstGeom>
          </p:spPr>
          <p:txBody>
            <a:bodyPr anchor="t" rtlCol="false" tIns="0" lIns="0" bIns="0" rIns="0">
              <a:spAutoFit/>
            </a:bodyPr>
            <a:lstStyle/>
            <a:p>
              <a:pPr algn="just" marL="367031" indent="-183515" lvl="1">
                <a:lnSpc>
                  <a:spcPts val="1870"/>
                </a:lnSpc>
                <a:buFont typeface="Arial"/>
                <a:buChar char="•"/>
              </a:pPr>
              <a:r>
                <a:rPr lang="en-US" sz="1700">
                  <a:solidFill>
                    <a:srgbClr val="101419"/>
                  </a:solidFill>
                  <a:latin typeface="Poppins"/>
                  <a:ea typeface="Poppins"/>
                  <a:cs typeface="Poppins"/>
                  <a:sym typeface="Poppins"/>
                </a:rPr>
                <a:t>Send automated emails when visitors add a product to the cart but do not complete the purchase.</a:t>
              </a:r>
            </a:p>
            <a:p>
              <a:pPr algn="just" marL="367031" indent="-183515" lvl="1">
                <a:lnSpc>
                  <a:spcPts val="1870"/>
                </a:lnSpc>
                <a:buFont typeface="Arial"/>
                <a:buChar char="•"/>
              </a:pPr>
              <a:r>
                <a:rPr lang="en-US" sz="1700">
                  <a:solidFill>
                    <a:srgbClr val="101419"/>
                  </a:solidFill>
                  <a:latin typeface="Poppins"/>
                  <a:ea typeface="Poppins"/>
                  <a:cs typeface="Poppins"/>
                  <a:sym typeface="Poppins"/>
                </a:rPr>
                <a:t>Emails can be sent after 1 hour, 24 hours, and 72 hours to remind them to finish the checkout.</a:t>
              </a:r>
            </a:p>
          </p:txBody>
        </p:sp>
        <p:sp>
          <p:nvSpPr>
            <p:cNvPr name="TextBox 11" id="11"/>
            <p:cNvSpPr txBox="true"/>
            <p:nvPr/>
          </p:nvSpPr>
          <p:spPr>
            <a:xfrm rot="0">
              <a:off x="657650" y="9525"/>
              <a:ext cx="5926481" cy="718509"/>
            </a:xfrm>
            <a:prstGeom prst="rect">
              <a:avLst/>
            </a:prstGeom>
          </p:spPr>
          <p:txBody>
            <a:bodyPr anchor="t" rtlCol="false" tIns="0" lIns="0" bIns="0" rIns="0">
              <a:spAutoFit/>
            </a:bodyPr>
            <a:lstStyle/>
            <a:p>
              <a:pPr algn="l">
                <a:lnSpc>
                  <a:spcPts val="2000"/>
                </a:lnSpc>
              </a:pPr>
              <a:r>
                <a:rPr lang="en-US" sz="2000" b="true">
                  <a:solidFill>
                    <a:srgbClr val="073E88"/>
                  </a:solidFill>
                  <a:latin typeface="Poppins Bold"/>
                  <a:ea typeface="Poppins Bold"/>
                  <a:cs typeface="Poppins Bold"/>
                  <a:sym typeface="Poppins Bold"/>
                </a:rPr>
                <a:t>Set Up an Abandoned Cart Email Sequence</a:t>
              </a:r>
            </a:p>
          </p:txBody>
        </p:sp>
        <p:grpSp>
          <p:nvGrpSpPr>
            <p:cNvPr name="Group 12" id="12"/>
            <p:cNvGrpSpPr/>
            <p:nvPr/>
          </p:nvGrpSpPr>
          <p:grpSpPr>
            <a:xfrm rot="0">
              <a:off x="0" y="81172"/>
              <a:ext cx="406301" cy="40630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14" id="14"/>
              <p:cNvSpPr txBox="true"/>
              <p:nvPr/>
            </p:nvSpPr>
            <p:spPr>
              <a:xfrm>
                <a:off x="76200" y="38100"/>
                <a:ext cx="660400" cy="698500"/>
              </a:xfrm>
              <a:prstGeom prst="rect">
                <a:avLst/>
              </a:prstGeom>
            </p:spPr>
            <p:txBody>
              <a:bodyPr anchor="ctr" rtlCol="false" tIns="15224" lIns="15224" bIns="15224" rIns="15224"/>
              <a:lstStyle/>
              <a:p>
                <a:pPr algn="ctr">
                  <a:lnSpc>
                    <a:spcPts val="2659"/>
                  </a:lnSpc>
                </a:pPr>
              </a:p>
            </p:txBody>
          </p:sp>
        </p:grpSp>
        <p:sp>
          <p:nvSpPr>
            <p:cNvPr name="TextBox 15" id="15"/>
            <p:cNvSpPr txBox="true"/>
            <p:nvPr/>
          </p:nvSpPr>
          <p:spPr>
            <a:xfrm rot="0">
              <a:off x="58922" y="194239"/>
              <a:ext cx="316197" cy="226956"/>
            </a:xfrm>
            <a:prstGeom prst="rect">
              <a:avLst/>
            </a:prstGeom>
          </p:spPr>
          <p:txBody>
            <a:bodyPr anchor="t" rtlCol="false" tIns="0" lIns="0" bIns="0" rIns="0">
              <a:spAutoFit/>
            </a:bodyPr>
            <a:lstStyle/>
            <a:p>
              <a:pPr algn="ctr">
                <a:lnSpc>
                  <a:spcPts val="1241"/>
                </a:lnSpc>
              </a:pPr>
              <a:r>
                <a:rPr lang="en-US" sz="1241" b="true">
                  <a:solidFill>
                    <a:srgbClr val="FFFFFF"/>
                  </a:solidFill>
                  <a:latin typeface="Poppins Bold"/>
                  <a:ea typeface="Poppins Bold"/>
                  <a:cs typeface="Poppins Bold"/>
                  <a:sym typeface="Poppins Bold"/>
                </a:rPr>
                <a:t>4</a:t>
              </a:r>
            </a:p>
          </p:txBody>
        </p:sp>
        <p:sp>
          <p:nvSpPr>
            <p:cNvPr name="TextBox 16" id="16"/>
            <p:cNvSpPr txBox="true"/>
            <p:nvPr/>
          </p:nvSpPr>
          <p:spPr>
            <a:xfrm rot="0">
              <a:off x="7095255" y="959809"/>
              <a:ext cx="6189004" cy="1562560"/>
            </a:xfrm>
            <a:prstGeom prst="rect">
              <a:avLst/>
            </a:prstGeom>
          </p:spPr>
          <p:txBody>
            <a:bodyPr anchor="t" rtlCol="false" tIns="0" lIns="0" bIns="0" rIns="0">
              <a:spAutoFit/>
            </a:bodyPr>
            <a:lstStyle/>
            <a:p>
              <a:pPr algn="just" marL="367031" indent="-183515" lvl="1">
                <a:lnSpc>
                  <a:spcPts val="1870"/>
                </a:lnSpc>
                <a:buFont typeface="Arial"/>
                <a:buChar char="•"/>
              </a:pPr>
              <a:r>
                <a:rPr lang="en-US" sz="1700">
                  <a:solidFill>
                    <a:srgbClr val="101419"/>
                  </a:solidFill>
                  <a:latin typeface="Poppins"/>
                  <a:ea typeface="Poppins"/>
                  <a:cs typeface="Poppins"/>
                  <a:sym typeface="Poppins"/>
                </a:rPr>
                <a:t>Ads that reappear for visitors who viewed a product but did not buy.</a:t>
              </a:r>
            </a:p>
            <a:p>
              <a:pPr algn="just" marL="367031" indent="-183515" lvl="1">
                <a:lnSpc>
                  <a:spcPts val="1870"/>
                </a:lnSpc>
                <a:buFont typeface="Arial"/>
                <a:buChar char="•"/>
              </a:pPr>
              <a:r>
                <a:rPr lang="en-US" sz="1700">
                  <a:solidFill>
                    <a:srgbClr val="101419"/>
                  </a:solidFill>
                  <a:latin typeface="Poppins"/>
                  <a:ea typeface="Poppins"/>
                  <a:cs typeface="Poppins"/>
                  <a:sym typeface="Poppins"/>
                </a:rPr>
                <a:t>These ads can show the same product or similar recommendations to increase the chance of conversion.</a:t>
              </a:r>
            </a:p>
          </p:txBody>
        </p:sp>
        <p:sp>
          <p:nvSpPr>
            <p:cNvPr name="TextBox 17" id="17"/>
            <p:cNvSpPr txBox="true"/>
            <p:nvPr/>
          </p:nvSpPr>
          <p:spPr>
            <a:xfrm rot="0">
              <a:off x="7719383" y="32836"/>
              <a:ext cx="5926481" cy="388359"/>
            </a:xfrm>
            <a:prstGeom prst="rect">
              <a:avLst/>
            </a:prstGeom>
          </p:spPr>
          <p:txBody>
            <a:bodyPr anchor="t" rtlCol="false" tIns="0" lIns="0" bIns="0" rIns="0">
              <a:spAutoFit/>
            </a:bodyPr>
            <a:lstStyle/>
            <a:p>
              <a:pPr algn="l">
                <a:lnSpc>
                  <a:spcPts val="2000"/>
                </a:lnSpc>
              </a:pPr>
              <a:r>
                <a:rPr lang="en-US" sz="2000" b="true">
                  <a:solidFill>
                    <a:srgbClr val="073E88"/>
                  </a:solidFill>
                  <a:latin typeface="Poppins Bold"/>
                  <a:ea typeface="Poppins Bold"/>
                  <a:cs typeface="Poppins Bold"/>
                  <a:sym typeface="Poppins Bold"/>
                </a:rPr>
                <a:t>Retargeting Dynamic Ads</a:t>
              </a:r>
            </a:p>
          </p:txBody>
        </p:sp>
        <p:grpSp>
          <p:nvGrpSpPr>
            <p:cNvPr name="Group 18" id="18"/>
            <p:cNvGrpSpPr/>
            <p:nvPr/>
          </p:nvGrpSpPr>
          <p:grpSpPr>
            <a:xfrm rot="0">
              <a:off x="7033683" y="38316"/>
              <a:ext cx="406301" cy="40630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20" id="20"/>
              <p:cNvSpPr txBox="true"/>
              <p:nvPr/>
            </p:nvSpPr>
            <p:spPr>
              <a:xfrm>
                <a:off x="76200" y="38100"/>
                <a:ext cx="660400" cy="698500"/>
              </a:xfrm>
              <a:prstGeom prst="rect">
                <a:avLst/>
              </a:prstGeom>
            </p:spPr>
            <p:txBody>
              <a:bodyPr anchor="ctr" rtlCol="false" tIns="15224" lIns="15224" bIns="15224" rIns="15224"/>
              <a:lstStyle/>
              <a:p>
                <a:pPr algn="ctr">
                  <a:lnSpc>
                    <a:spcPts val="2659"/>
                  </a:lnSpc>
                </a:pPr>
              </a:p>
            </p:txBody>
          </p:sp>
        </p:grpSp>
        <p:sp>
          <p:nvSpPr>
            <p:cNvPr name="TextBox 21" id="21"/>
            <p:cNvSpPr txBox="true"/>
            <p:nvPr/>
          </p:nvSpPr>
          <p:spPr>
            <a:xfrm rot="0">
              <a:off x="7078735" y="137513"/>
              <a:ext cx="316197" cy="226956"/>
            </a:xfrm>
            <a:prstGeom prst="rect">
              <a:avLst/>
            </a:prstGeom>
          </p:spPr>
          <p:txBody>
            <a:bodyPr anchor="t" rtlCol="false" tIns="0" lIns="0" bIns="0" rIns="0">
              <a:spAutoFit/>
            </a:bodyPr>
            <a:lstStyle/>
            <a:p>
              <a:pPr algn="ctr">
                <a:lnSpc>
                  <a:spcPts val="1241"/>
                </a:lnSpc>
              </a:pPr>
              <a:r>
                <a:rPr lang="en-US" sz="1241" b="true">
                  <a:solidFill>
                    <a:srgbClr val="FFFFFF"/>
                  </a:solidFill>
                  <a:latin typeface="Poppins Bold"/>
                  <a:ea typeface="Poppins Bold"/>
                  <a:cs typeface="Poppins Bold"/>
                  <a:sym typeface="Poppins Bold"/>
                </a:rPr>
                <a:t>5</a:t>
              </a:r>
            </a:p>
          </p:txBody>
        </p:sp>
        <p:sp>
          <p:nvSpPr>
            <p:cNvPr name="TextBox 22" id="22"/>
            <p:cNvSpPr txBox="true"/>
            <p:nvPr/>
          </p:nvSpPr>
          <p:spPr>
            <a:xfrm rot="0">
              <a:off x="14136586" y="959809"/>
              <a:ext cx="6369761" cy="952861"/>
            </a:xfrm>
            <a:prstGeom prst="rect">
              <a:avLst/>
            </a:prstGeom>
          </p:spPr>
          <p:txBody>
            <a:bodyPr anchor="t" rtlCol="false" tIns="0" lIns="0" bIns="0" rIns="0">
              <a:spAutoFit/>
            </a:bodyPr>
            <a:lstStyle/>
            <a:p>
              <a:pPr algn="just" marL="367031" indent="-183515" lvl="1">
                <a:lnSpc>
                  <a:spcPts val="1870"/>
                </a:lnSpc>
                <a:buFont typeface="Arial"/>
                <a:buChar char="•"/>
              </a:pPr>
              <a:r>
                <a:rPr lang="en-US" sz="1700">
                  <a:solidFill>
                    <a:srgbClr val="101419"/>
                  </a:solidFill>
                  <a:latin typeface="Poppins"/>
                  <a:ea typeface="Poppins"/>
                  <a:cs typeface="Poppins"/>
                  <a:sym typeface="Poppins"/>
                </a:rPr>
                <a:t>Adjust ad content (images, videos, CTAs) or audience targeting to improve CTR and conversion rate.</a:t>
              </a:r>
            </a:p>
          </p:txBody>
        </p:sp>
        <p:sp>
          <p:nvSpPr>
            <p:cNvPr name="TextBox 23" id="23"/>
            <p:cNvSpPr txBox="true"/>
            <p:nvPr/>
          </p:nvSpPr>
          <p:spPr>
            <a:xfrm rot="0">
              <a:off x="14796887" y="9525"/>
              <a:ext cx="5709461" cy="718509"/>
            </a:xfrm>
            <a:prstGeom prst="rect">
              <a:avLst/>
            </a:prstGeom>
          </p:spPr>
          <p:txBody>
            <a:bodyPr anchor="t" rtlCol="false" tIns="0" lIns="0" bIns="0" rIns="0">
              <a:spAutoFit/>
            </a:bodyPr>
            <a:lstStyle/>
            <a:p>
              <a:pPr algn="l">
                <a:lnSpc>
                  <a:spcPts val="2000"/>
                </a:lnSpc>
              </a:pPr>
              <a:r>
                <a:rPr lang="en-US" sz="2000" b="true">
                  <a:solidFill>
                    <a:srgbClr val="073E88"/>
                  </a:solidFill>
                  <a:latin typeface="Poppins Bold"/>
                  <a:ea typeface="Poppins Bold"/>
                  <a:cs typeface="Poppins Bold"/>
                  <a:sym typeface="Poppins Bold"/>
                </a:rPr>
                <a:t>Tweak Creatives for Campaigns B &amp; C</a:t>
              </a:r>
            </a:p>
          </p:txBody>
        </p:sp>
        <p:grpSp>
          <p:nvGrpSpPr>
            <p:cNvPr name="Group 24" id="24"/>
            <p:cNvGrpSpPr/>
            <p:nvPr/>
          </p:nvGrpSpPr>
          <p:grpSpPr>
            <a:xfrm rot="0">
              <a:off x="14136586" y="38316"/>
              <a:ext cx="406301" cy="40630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3E88"/>
              </a:solidFill>
            </p:spPr>
          </p:sp>
          <p:sp>
            <p:nvSpPr>
              <p:cNvPr name="TextBox 26" id="26"/>
              <p:cNvSpPr txBox="true"/>
              <p:nvPr/>
            </p:nvSpPr>
            <p:spPr>
              <a:xfrm>
                <a:off x="76200" y="38100"/>
                <a:ext cx="660400" cy="698500"/>
              </a:xfrm>
              <a:prstGeom prst="rect">
                <a:avLst/>
              </a:prstGeom>
            </p:spPr>
            <p:txBody>
              <a:bodyPr anchor="ctr" rtlCol="false" tIns="15224" lIns="15224" bIns="15224" rIns="15224"/>
              <a:lstStyle/>
              <a:p>
                <a:pPr algn="ctr">
                  <a:lnSpc>
                    <a:spcPts val="2659"/>
                  </a:lnSpc>
                </a:pPr>
              </a:p>
            </p:txBody>
          </p:sp>
        </p:grpSp>
        <p:sp>
          <p:nvSpPr>
            <p:cNvPr name="TextBox 27" id="27"/>
            <p:cNvSpPr txBox="true"/>
            <p:nvPr/>
          </p:nvSpPr>
          <p:spPr>
            <a:xfrm rot="0">
              <a:off x="14181638" y="118300"/>
              <a:ext cx="316197" cy="226956"/>
            </a:xfrm>
            <a:prstGeom prst="rect">
              <a:avLst/>
            </a:prstGeom>
          </p:spPr>
          <p:txBody>
            <a:bodyPr anchor="t" rtlCol="false" tIns="0" lIns="0" bIns="0" rIns="0">
              <a:spAutoFit/>
            </a:bodyPr>
            <a:lstStyle/>
            <a:p>
              <a:pPr algn="ctr">
                <a:lnSpc>
                  <a:spcPts val="1241"/>
                </a:lnSpc>
              </a:pPr>
              <a:r>
                <a:rPr lang="en-US" sz="1241" b="true">
                  <a:solidFill>
                    <a:srgbClr val="FFFFFF"/>
                  </a:solidFill>
                  <a:latin typeface="Poppins Bold"/>
                  <a:ea typeface="Poppins Bold"/>
                  <a:cs typeface="Poppins Bold"/>
                  <a:sym typeface="Poppins Bold"/>
                </a:rPr>
                <a:t>6</a:t>
              </a:r>
            </a:p>
          </p:txBody>
        </p:sp>
      </p:grpSp>
    </p:spTree>
  </p:cSld>
  <p:clrMapOvr>
    <a:masterClrMapping/>
  </p:clrMapOvr>
</p:sld>
</file>

<file path=ppt/slides/slide29.xml><?xml version="1.0" encoding="utf-8"?>
<p:sld xmlns:p="http://schemas.openxmlformats.org/presentationml/2006/main" xmlns:a="http://schemas.openxmlformats.org/drawingml/2006/main">
  <p:cSld>
    <p:bg>
      <p:bgPr>
        <a:solidFill>
          <a:srgbClr val="073E88"/>
        </a:solidFill>
      </p:bgPr>
    </p:bg>
    <p:spTree>
      <p:nvGrpSpPr>
        <p:cNvPr id="1" name=""/>
        <p:cNvGrpSpPr/>
        <p:nvPr/>
      </p:nvGrpSpPr>
      <p:grpSpPr>
        <a:xfrm>
          <a:off x="0" y="0"/>
          <a:ext cx="0" cy="0"/>
          <a:chOff x="0" y="0"/>
          <a:chExt cx="0" cy="0"/>
        </a:xfrm>
      </p:grpSpPr>
      <p:grpSp>
        <p:nvGrpSpPr>
          <p:cNvPr name="Group 2" id="2"/>
          <p:cNvGrpSpPr/>
          <p:nvPr/>
        </p:nvGrpSpPr>
        <p:grpSpPr>
          <a:xfrm rot="0">
            <a:off x="500949" y="500949"/>
            <a:ext cx="17286102" cy="9285102"/>
            <a:chOff x="0" y="0"/>
            <a:chExt cx="4552718" cy="2445459"/>
          </a:xfrm>
        </p:grpSpPr>
        <p:sp>
          <p:nvSpPr>
            <p:cNvPr name="Freeform 3" id="3"/>
            <p:cNvSpPr/>
            <p:nvPr/>
          </p:nvSpPr>
          <p:spPr>
            <a:xfrm flipH="false" flipV="false" rot="0">
              <a:off x="0" y="0"/>
              <a:ext cx="4552718" cy="2445459"/>
            </a:xfrm>
            <a:custGeom>
              <a:avLst/>
              <a:gdLst/>
              <a:ahLst/>
              <a:cxnLst/>
              <a:rect r="r" b="b" t="t" l="l"/>
              <a:pathLst>
                <a:path h="2445459" w="4552718">
                  <a:moveTo>
                    <a:pt x="22393" y="0"/>
                  </a:moveTo>
                  <a:lnTo>
                    <a:pt x="4530325" y="0"/>
                  </a:lnTo>
                  <a:cubicBezTo>
                    <a:pt x="4536264" y="0"/>
                    <a:pt x="4541960" y="2359"/>
                    <a:pt x="4546159" y="6559"/>
                  </a:cubicBezTo>
                  <a:cubicBezTo>
                    <a:pt x="4550359" y="10758"/>
                    <a:pt x="4552718" y="16454"/>
                    <a:pt x="4552718" y="22393"/>
                  </a:cubicBezTo>
                  <a:lnTo>
                    <a:pt x="4552718" y="2423065"/>
                  </a:lnTo>
                  <a:cubicBezTo>
                    <a:pt x="4552718" y="2429004"/>
                    <a:pt x="4550359" y="2434700"/>
                    <a:pt x="4546159" y="2438900"/>
                  </a:cubicBezTo>
                  <a:cubicBezTo>
                    <a:pt x="4541960" y="2443100"/>
                    <a:pt x="4536264" y="2445459"/>
                    <a:pt x="4530325" y="2445459"/>
                  </a:cubicBezTo>
                  <a:lnTo>
                    <a:pt x="22393" y="2445459"/>
                  </a:lnTo>
                  <a:cubicBezTo>
                    <a:pt x="16454" y="2445459"/>
                    <a:pt x="10758" y="2443100"/>
                    <a:pt x="6559" y="2438900"/>
                  </a:cubicBezTo>
                  <a:cubicBezTo>
                    <a:pt x="2359" y="2434700"/>
                    <a:pt x="0" y="2429004"/>
                    <a:pt x="0" y="2423065"/>
                  </a:cubicBezTo>
                  <a:lnTo>
                    <a:pt x="0" y="22393"/>
                  </a:lnTo>
                  <a:cubicBezTo>
                    <a:pt x="0" y="16454"/>
                    <a:pt x="2359" y="10758"/>
                    <a:pt x="6559" y="6559"/>
                  </a:cubicBezTo>
                  <a:cubicBezTo>
                    <a:pt x="10758" y="2359"/>
                    <a:pt x="16454" y="0"/>
                    <a:pt x="22393" y="0"/>
                  </a:cubicBezTo>
                  <a:close/>
                </a:path>
              </a:pathLst>
            </a:custGeom>
            <a:solidFill>
              <a:srgbClr val="F5F7F7"/>
            </a:solidFill>
          </p:spPr>
        </p:sp>
        <p:sp>
          <p:nvSpPr>
            <p:cNvPr name="TextBox 4" id="4"/>
            <p:cNvSpPr txBox="true"/>
            <p:nvPr/>
          </p:nvSpPr>
          <p:spPr>
            <a:xfrm>
              <a:off x="0" y="38100"/>
              <a:ext cx="4552718" cy="2407359"/>
            </a:xfrm>
            <a:prstGeom prst="rect">
              <a:avLst/>
            </a:prstGeom>
          </p:spPr>
          <p:txBody>
            <a:bodyPr anchor="ctr" rtlCol="false" tIns="50800" lIns="50800" bIns="50800" rIns="50800"/>
            <a:lstStyle/>
            <a:p>
              <a:pPr algn="ctr">
                <a:lnSpc>
                  <a:spcPts val="2400"/>
                </a:lnSpc>
              </a:pPr>
            </a:p>
          </p:txBody>
        </p:sp>
      </p:grpSp>
      <p:grpSp>
        <p:nvGrpSpPr>
          <p:cNvPr name="Group 5" id="5"/>
          <p:cNvGrpSpPr/>
          <p:nvPr/>
        </p:nvGrpSpPr>
        <p:grpSpPr>
          <a:xfrm rot="0">
            <a:off x="1323901" y="1028700"/>
            <a:ext cx="15640198" cy="4920973"/>
            <a:chOff x="0" y="0"/>
            <a:chExt cx="20853598" cy="6561297"/>
          </a:xfrm>
        </p:grpSpPr>
        <p:grpSp>
          <p:nvGrpSpPr>
            <p:cNvPr name="Group 6" id="6"/>
            <p:cNvGrpSpPr/>
            <p:nvPr/>
          </p:nvGrpSpPr>
          <p:grpSpPr>
            <a:xfrm rot="0">
              <a:off x="0" y="1565878"/>
              <a:ext cx="5346608" cy="875848"/>
              <a:chOff x="0" y="0"/>
              <a:chExt cx="1974529" cy="323455"/>
            </a:xfrm>
          </p:grpSpPr>
          <p:sp>
            <p:nvSpPr>
              <p:cNvPr name="Freeform 7" id="7"/>
              <p:cNvSpPr/>
              <p:nvPr/>
            </p:nvSpPr>
            <p:spPr>
              <a:xfrm flipH="false" flipV="false" rot="0">
                <a:off x="0" y="0"/>
                <a:ext cx="1974529" cy="323455"/>
              </a:xfrm>
              <a:custGeom>
                <a:avLst/>
                <a:gdLst/>
                <a:ahLst/>
                <a:cxnLst/>
                <a:rect r="r" b="b" t="t" l="l"/>
                <a:pathLst>
                  <a:path h="323455" w="1974529">
                    <a:moveTo>
                      <a:pt x="67574" y="0"/>
                    </a:moveTo>
                    <a:lnTo>
                      <a:pt x="1906955" y="0"/>
                    </a:lnTo>
                    <a:cubicBezTo>
                      <a:pt x="1924877" y="0"/>
                      <a:pt x="1942065" y="7119"/>
                      <a:pt x="1954737" y="19792"/>
                    </a:cubicBezTo>
                    <a:cubicBezTo>
                      <a:pt x="1967410" y="32464"/>
                      <a:pt x="1974529" y="49652"/>
                      <a:pt x="1974529" y="67574"/>
                    </a:cubicBezTo>
                    <a:lnTo>
                      <a:pt x="1974529" y="255881"/>
                    </a:lnTo>
                    <a:cubicBezTo>
                      <a:pt x="1974529" y="293201"/>
                      <a:pt x="1944275" y="323455"/>
                      <a:pt x="1906955" y="323455"/>
                    </a:cubicBezTo>
                    <a:lnTo>
                      <a:pt x="67574" y="323455"/>
                    </a:lnTo>
                    <a:cubicBezTo>
                      <a:pt x="30254" y="323455"/>
                      <a:pt x="0" y="293201"/>
                      <a:pt x="0" y="255881"/>
                    </a:cubicBezTo>
                    <a:lnTo>
                      <a:pt x="0" y="67574"/>
                    </a:lnTo>
                    <a:cubicBezTo>
                      <a:pt x="0" y="30254"/>
                      <a:pt x="30254" y="0"/>
                      <a:pt x="67574" y="0"/>
                    </a:cubicBezTo>
                    <a:close/>
                  </a:path>
                </a:pathLst>
              </a:custGeom>
              <a:solidFill>
                <a:srgbClr val="073E88"/>
              </a:solidFill>
            </p:spPr>
          </p:sp>
          <p:sp>
            <p:nvSpPr>
              <p:cNvPr name="TextBox 8" id="8"/>
              <p:cNvSpPr txBox="true"/>
              <p:nvPr/>
            </p:nvSpPr>
            <p:spPr>
              <a:xfrm>
                <a:off x="0" y="-76200"/>
                <a:ext cx="1974529" cy="399655"/>
              </a:xfrm>
              <a:prstGeom prst="rect">
                <a:avLst/>
              </a:prstGeom>
            </p:spPr>
            <p:txBody>
              <a:bodyPr anchor="ctr" rtlCol="false" tIns="46707" lIns="46707" bIns="46707" rIns="46707"/>
              <a:lstStyle/>
              <a:p>
                <a:pPr algn="ctr">
                  <a:lnSpc>
                    <a:spcPts val="3123"/>
                  </a:lnSpc>
                </a:pPr>
              </a:p>
            </p:txBody>
          </p:sp>
        </p:grpSp>
        <p:sp>
          <p:nvSpPr>
            <p:cNvPr name="TextBox 9" id="9"/>
            <p:cNvSpPr txBox="true"/>
            <p:nvPr/>
          </p:nvSpPr>
          <p:spPr>
            <a:xfrm rot="0">
              <a:off x="173757" y="1782822"/>
              <a:ext cx="4999094" cy="416560"/>
            </a:xfrm>
            <a:prstGeom prst="rect">
              <a:avLst/>
            </a:prstGeom>
          </p:spPr>
          <p:txBody>
            <a:bodyPr anchor="t" rtlCol="false" tIns="0" lIns="0" bIns="0" rIns="0">
              <a:spAutoFit/>
            </a:bodyPr>
            <a:lstStyle/>
            <a:p>
              <a:pPr algn="ctr">
                <a:lnSpc>
                  <a:spcPts val="2310"/>
                </a:lnSpc>
              </a:pPr>
              <a:r>
                <a:rPr lang="en-US" b="true" sz="2100" spc="-84">
                  <a:solidFill>
                    <a:srgbClr val="FFFFFF"/>
                  </a:solidFill>
                  <a:latin typeface="Poppins Bold"/>
                  <a:ea typeface="Poppins Bold"/>
                  <a:cs typeface="Poppins Bold"/>
                  <a:sym typeface="Poppins Bold"/>
                </a:rPr>
                <a:t>Monitoring &amp; Interim Targets</a:t>
              </a:r>
            </a:p>
          </p:txBody>
        </p:sp>
        <p:sp>
          <p:nvSpPr>
            <p:cNvPr name="TextBox 10" id="10"/>
            <p:cNvSpPr txBox="true"/>
            <p:nvPr/>
          </p:nvSpPr>
          <p:spPr>
            <a:xfrm rot="0">
              <a:off x="0" y="28575"/>
              <a:ext cx="20853598" cy="1146400"/>
            </a:xfrm>
            <a:prstGeom prst="rect">
              <a:avLst/>
            </a:prstGeom>
          </p:spPr>
          <p:txBody>
            <a:bodyPr anchor="t" rtlCol="false" tIns="0" lIns="0" bIns="0" rIns="0">
              <a:spAutoFit/>
            </a:bodyPr>
            <a:lstStyle/>
            <a:p>
              <a:pPr algn="just">
                <a:lnSpc>
                  <a:spcPts val="3200"/>
                </a:lnSpc>
              </a:pPr>
              <a:r>
                <a:rPr lang="en-US" b="true" sz="3200">
                  <a:solidFill>
                    <a:srgbClr val="073E88"/>
                  </a:solidFill>
                  <a:latin typeface="Poppins Bold"/>
                  <a:ea typeface="Poppins Bold"/>
                  <a:cs typeface="Poppins Bold"/>
                  <a:sym typeface="Poppins Bold"/>
                </a:rPr>
                <a:t>Q3: What strategies or optimizations can be implemented to increase the CR in the next three months?</a:t>
              </a:r>
            </a:p>
          </p:txBody>
        </p:sp>
        <p:sp>
          <p:nvSpPr>
            <p:cNvPr name="TextBox 11" id="11"/>
            <p:cNvSpPr txBox="true"/>
            <p:nvPr/>
          </p:nvSpPr>
          <p:spPr>
            <a:xfrm rot="0">
              <a:off x="0" y="2641751"/>
              <a:ext cx="20853598" cy="699036"/>
            </a:xfrm>
            <a:prstGeom prst="rect">
              <a:avLst/>
            </a:prstGeom>
          </p:spPr>
          <p:txBody>
            <a:bodyPr anchor="t" rtlCol="false" tIns="0" lIns="0" bIns="0" rIns="0">
              <a:spAutoFit/>
            </a:bodyPr>
            <a:lstStyle/>
            <a:p>
              <a:pPr algn="just">
                <a:lnSpc>
                  <a:spcPts val="1995"/>
                </a:lnSpc>
              </a:pPr>
              <a:r>
                <a:rPr lang="en-US" sz="1900">
                  <a:solidFill>
                    <a:srgbClr val="101419"/>
                  </a:solidFill>
                  <a:latin typeface="Poppins"/>
                  <a:ea typeface="Poppins"/>
                  <a:cs typeface="Poppins"/>
                  <a:sym typeface="Poppins"/>
                </a:rPr>
                <a:t>Monitor the weekly delt</a:t>
              </a:r>
              <a:r>
                <a:rPr lang="en-US" sz="1900">
                  <a:solidFill>
                    <a:srgbClr val="101419"/>
                  </a:solidFill>
                  <a:latin typeface="Poppins"/>
                  <a:ea typeface="Poppins"/>
                  <a:cs typeface="Poppins"/>
                  <a:sym typeface="Poppins"/>
                </a:rPr>
                <a:t>a in conversion rate both overall and by city. The interim targets are: +1% by the end of Month 1, +2% by Month 2, and +3% by Month 3. If the targets are not met, scale up the channels that deliver the highest lift.</a:t>
              </a:r>
            </a:p>
          </p:txBody>
        </p:sp>
        <p:grpSp>
          <p:nvGrpSpPr>
            <p:cNvPr name="Group 12" id="12"/>
            <p:cNvGrpSpPr/>
            <p:nvPr/>
          </p:nvGrpSpPr>
          <p:grpSpPr>
            <a:xfrm rot="0">
              <a:off x="0" y="3734487"/>
              <a:ext cx="5346608" cy="875848"/>
              <a:chOff x="0" y="0"/>
              <a:chExt cx="1974529" cy="323455"/>
            </a:xfrm>
          </p:grpSpPr>
          <p:sp>
            <p:nvSpPr>
              <p:cNvPr name="Freeform 13" id="13"/>
              <p:cNvSpPr/>
              <p:nvPr/>
            </p:nvSpPr>
            <p:spPr>
              <a:xfrm flipH="false" flipV="false" rot="0">
                <a:off x="0" y="0"/>
                <a:ext cx="1974529" cy="323455"/>
              </a:xfrm>
              <a:custGeom>
                <a:avLst/>
                <a:gdLst/>
                <a:ahLst/>
                <a:cxnLst/>
                <a:rect r="r" b="b" t="t" l="l"/>
                <a:pathLst>
                  <a:path h="323455" w="1974529">
                    <a:moveTo>
                      <a:pt x="67574" y="0"/>
                    </a:moveTo>
                    <a:lnTo>
                      <a:pt x="1906955" y="0"/>
                    </a:lnTo>
                    <a:cubicBezTo>
                      <a:pt x="1924877" y="0"/>
                      <a:pt x="1942065" y="7119"/>
                      <a:pt x="1954737" y="19792"/>
                    </a:cubicBezTo>
                    <a:cubicBezTo>
                      <a:pt x="1967410" y="32464"/>
                      <a:pt x="1974529" y="49652"/>
                      <a:pt x="1974529" y="67574"/>
                    </a:cubicBezTo>
                    <a:lnTo>
                      <a:pt x="1974529" y="255881"/>
                    </a:lnTo>
                    <a:cubicBezTo>
                      <a:pt x="1974529" y="293201"/>
                      <a:pt x="1944275" y="323455"/>
                      <a:pt x="1906955" y="323455"/>
                    </a:cubicBezTo>
                    <a:lnTo>
                      <a:pt x="67574" y="323455"/>
                    </a:lnTo>
                    <a:cubicBezTo>
                      <a:pt x="30254" y="323455"/>
                      <a:pt x="0" y="293201"/>
                      <a:pt x="0" y="255881"/>
                    </a:cubicBezTo>
                    <a:lnTo>
                      <a:pt x="0" y="67574"/>
                    </a:lnTo>
                    <a:cubicBezTo>
                      <a:pt x="0" y="30254"/>
                      <a:pt x="30254" y="0"/>
                      <a:pt x="67574" y="0"/>
                    </a:cubicBezTo>
                    <a:close/>
                  </a:path>
                </a:pathLst>
              </a:custGeom>
              <a:solidFill>
                <a:srgbClr val="073E88"/>
              </a:solidFill>
            </p:spPr>
          </p:sp>
          <p:sp>
            <p:nvSpPr>
              <p:cNvPr name="TextBox 14" id="14"/>
              <p:cNvSpPr txBox="true"/>
              <p:nvPr/>
            </p:nvSpPr>
            <p:spPr>
              <a:xfrm>
                <a:off x="0" y="-76200"/>
                <a:ext cx="1974529" cy="399655"/>
              </a:xfrm>
              <a:prstGeom prst="rect">
                <a:avLst/>
              </a:prstGeom>
            </p:spPr>
            <p:txBody>
              <a:bodyPr anchor="ctr" rtlCol="false" tIns="46707" lIns="46707" bIns="46707" rIns="46707"/>
              <a:lstStyle/>
              <a:p>
                <a:pPr algn="ctr">
                  <a:lnSpc>
                    <a:spcPts val="3123"/>
                  </a:lnSpc>
                </a:pPr>
              </a:p>
            </p:txBody>
          </p:sp>
        </p:grpSp>
        <p:sp>
          <p:nvSpPr>
            <p:cNvPr name="TextBox 15" id="15"/>
            <p:cNvSpPr txBox="true"/>
            <p:nvPr/>
          </p:nvSpPr>
          <p:spPr>
            <a:xfrm rot="0">
              <a:off x="173757" y="3951431"/>
              <a:ext cx="4999094" cy="416560"/>
            </a:xfrm>
            <a:prstGeom prst="rect">
              <a:avLst/>
            </a:prstGeom>
          </p:spPr>
          <p:txBody>
            <a:bodyPr anchor="t" rtlCol="false" tIns="0" lIns="0" bIns="0" rIns="0">
              <a:spAutoFit/>
            </a:bodyPr>
            <a:lstStyle/>
            <a:p>
              <a:pPr algn="ctr">
                <a:lnSpc>
                  <a:spcPts val="2310"/>
                </a:lnSpc>
              </a:pPr>
              <a:r>
                <a:rPr lang="en-US" b="true" sz="2100" spc="-84">
                  <a:solidFill>
                    <a:srgbClr val="FFFFFF"/>
                  </a:solidFill>
                  <a:latin typeface="Poppins Bold"/>
                  <a:ea typeface="Poppins Bold"/>
                  <a:cs typeface="Poppins Bold"/>
                  <a:sym typeface="Poppins Bold"/>
                </a:rPr>
                <a:t>Specific Recommendations</a:t>
              </a:r>
            </a:p>
          </p:txBody>
        </p:sp>
        <p:sp>
          <p:nvSpPr>
            <p:cNvPr name="TextBox 16" id="16"/>
            <p:cNvSpPr txBox="true"/>
            <p:nvPr/>
          </p:nvSpPr>
          <p:spPr>
            <a:xfrm rot="0">
              <a:off x="0" y="4871810"/>
              <a:ext cx="20853598" cy="1689487"/>
            </a:xfrm>
            <a:prstGeom prst="rect">
              <a:avLst/>
            </a:prstGeom>
          </p:spPr>
          <p:txBody>
            <a:bodyPr anchor="t" rtlCol="false" tIns="0" lIns="0" bIns="0" rIns="0">
              <a:spAutoFit/>
            </a:bodyPr>
            <a:lstStyle/>
            <a:p>
              <a:pPr algn="just" marL="410211" indent="-205106" lvl="1">
                <a:lnSpc>
                  <a:spcPts val="1995"/>
                </a:lnSpc>
                <a:buFont typeface="Arial"/>
                <a:buChar char="•"/>
              </a:pPr>
              <a:r>
                <a:rPr lang="en-US" b="true" sz="1900">
                  <a:solidFill>
                    <a:srgbClr val="073E88"/>
                  </a:solidFill>
                  <a:latin typeface="Poppins Bold"/>
                  <a:ea typeface="Poppins Bold"/>
                  <a:cs typeface="Poppins Bold"/>
                  <a:sym typeface="Poppins Bold"/>
                </a:rPr>
                <a:t>Medan &amp; Makassar</a:t>
              </a:r>
              <a:r>
                <a:rPr lang="en-US" sz="1900">
                  <a:solidFill>
                    <a:srgbClr val="101419"/>
                  </a:solidFill>
                  <a:latin typeface="Poppins"/>
                  <a:ea typeface="Poppins"/>
                  <a:cs typeface="Poppins"/>
                  <a:sym typeface="Poppins"/>
                </a:rPr>
                <a:t>: Implement flash sales and retargeting campaigns.</a:t>
              </a:r>
            </a:p>
            <a:p>
              <a:pPr algn="just" marL="410211" indent="-205106" lvl="1">
                <a:lnSpc>
                  <a:spcPts val="1995"/>
                </a:lnSpc>
                <a:buFont typeface="Arial"/>
                <a:buChar char="•"/>
              </a:pPr>
              <a:r>
                <a:rPr lang="en-US" b="true" sz="1900">
                  <a:solidFill>
                    <a:srgbClr val="073E88"/>
                  </a:solidFill>
                  <a:latin typeface="Poppins Bold"/>
                  <a:ea typeface="Poppins Bold"/>
                  <a:cs typeface="Poppins Bold"/>
                  <a:sym typeface="Poppins Bold"/>
                </a:rPr>
                <a:t>Denpasar</a:t>
              </a:r>
              <a:r>
                <a:rPr lang="en-US" sz="1900">
                  <a:solidFill>
                    <a:srgbClr val="101419"/>
                  </a:solidFill>
                  <a:latin typeface="Poppins"/>
                  <a:ea typeface="Poppins"/>
                  <a:cs typeface="Poppins"/>
                  <a:sym typeface="Poppins"/>
                </a:rPr>
                <a:t>: Use interactive content and loyalty initiatives.</a:t>
              </a:r>
            </a:p>
            <a:p>
              <a:pPr algn="just" marL="410211" indent="-205106" lvl="1">
                <a:lnSpc>
                  <a:spcPts val="1995"/>
                </a:lnSpc>
                <a:buFont typeface="Arial"/>
                <a:buChar char="•"/>
              </a:pPr>
              <a:r>
                <a:rPr lang="en-US" b="true" sz="1900">
                  <a:solidFill>
                    <a:srgbClr val="073E88"/>
                  </a:solidFill>
                  <a:latin typeface="Poppins Bold"/>
                  <a:ea typeface="Poppins Bold"/>
                  <a:cs typeface="Poppins Bold"/>
                  <a:sym typeface="Poppins Bold"/>
                </a:rPr>
                <a:t>Jakarta</a:t>
              </a:r>
              <a:r>
                <a:rPr lang="en-US" sz="1900">
                  <a:solidFill>
                    <a:srgbClr val="101419"/>
                  </a:solidFill>
                  <a:latin typeface="Poppins"/>
                  <a:ea typeface="Poppins"/>
                  <a:cs typeface="Poppins"/>
                  <a:sym typeface="Poppins"/>
                </a:rPr>
                <a:t>: Conduct a pricing and checkout audit.</a:t>
              </a:r>
            </a:p>
            <a:p>
              <a:pPr algn="just" marL="410211" indent="-205106" lvl="1">
                <a:lnSpc>
                  <a:spcPts val="1995"/>
                </a:lnSpc>
                <a:buFont typeface="Arial"/>
                <a:buChar char="•"/>
              </a:pPr>
              <a:r>
                <a:rPr lang="en-US" b="true" sz="1900">
                  <a:solidFill>
                    <a:srgbClr val="073E88"/>
                  </a:solidFill>
                  <a:latin typeface="Poppins Bold"/>
                  <a:ea typeface="Poppins Bold"/>
                  <a:cs typeface="Poppins Bold"/>
                  <a:sym typeface="Poppins Bold"/>
                </a:rPr>
                <a:t>Accessories &amp; Shirts</a:t>
              </a:r>
              <a:r>
                <a:rPr lang="en-US" sz="1900">
                  <a:solidFill>
                    <a:srgbClr val="101419"/>
                  </a:solidFill>
                  <a:latin typeface="Poppins"/>
                  <a:ea typeface="Poppins"/>
                  <a:cs typeface="Poppins"/>
                  <a:sym typeface="Poppins"/>
                </a:rPr>
                <a:t>: Focus on awareness campaigns, bundling offers, and product page optimization.</a:t>
              </a:r>
            </a:p>
            <a:p>
              <a:pPr algn="just" marL="410211" indent="-205106" lvl="1">
                <a:lnSpc>
                  <a:spcPts val="1995"/>
                </a:lnSpc>
                <a:buFont typeface="Arial"/>
                <a:buChar char="•"/>
              </a:pPr>
              <a:r>
                <a:rPr lang="en-US" b="true" sz="1900">
                  <a:solidFill>
                    <a:srgbClr val="073E88"/>
                  </a:solidFill>
                  <a:latin typeface="Poppins Bold"/>
                  <a:ea typeface="Poppins Bold"/>
                  <a:cs typeface="Poppins Bold"/>
                  <a:sym typeface="Poppins Bold"/>
                </a:rPr>
                <a:t>Campaign C</a:t>
              </a:r>
              <a:r>
                <a:rPr lang="en-US" sz="1900">
                  <a:solidFill>
                    <a:srgbClr val="101419"/>
                  </a:solidFill>
                  <a:latin typeface="Poppins"/>
                  <a:ea typeface="Poppins"/>
                  <a:cs typeface="Poppins"/>
                  <a:sym typeface="Poppins"/>
                </a:rPr>
                <a:t>: Bundle Accessories &amp; Pants and measure the post-promo conversion rate.</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73E88"/>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760396" cy="10529272"/>
          </a:xfrm>
          <a:custGeom>
            <a:avLst/>
            <a:gdLst/>
            <a:ahLst/>
            <a:cxnLst/>
            <a:rect r="r" b="b" t="t" l="l"/>
            <a:pathLst>
              <a:path h="10529272" w="18760396">
                <a:moveTo>
                  <a:pt x="0" y="0"/>
                </a:moveTo>
                <a:lnTo>
                  <a:pt x="18760396" y="0"/>
                </a:lnTo>
                <a:lnTo>
                  <a:pt x="18760396" y="10529272"/>
                </a:lnTo>
                <a:lnTo>
                  <a:pt x="0" y="10529272"/>
                </a:lnTo>
                <a:lnTo>
                  <a:pt x="0" y="0"/>
                </a:lnTo>
                <a:close/>
              </a:path>
            </a:pathLst>
          </a:custGeom>
          <a:blipFill>
            <a:blip r:embed="rId2"/>
            <a:stretch>
              <a:fillRect l="0" t="0" r="0" b="0"/>
            </a:stretch>
          </a:blipFill>
        </p:spPr>
      </p:sp>
      <p:grpSp>
        <p:nvGrpSpPr>
          <p:cNvPr name="Group 3" id="3"/>
          <p:cNvGrpSpPr/>
          <p:nvPr/>
        </p:nvGrpSpPr>
        <p:grpSpPr>
          <a:xfrm rot="0">
            <a:off x="-504372" y="-463166"/>
            <a:ext cx="18792372" cy="11213331"/>
            <a:chOff x="0" y="0"/>
            <a:chExt cx="4949431" cy="2953305"/>
          </a:xfrm>
        </p:grpSpPr>
        <p:sp>
          <p:nvSpPr>
            <p:cNvPr name="Freeform 4" id="4"/>
            <p:cNvSpPr/>
            <p:nvPr/>
          </p:nvSpPr>
          <p:spPr>
            <a:xfrm flipH="false" flipV="false" rot="0">
              <a:off x="0" y="0"/>
              <a:ext cx="4949431" cy="2953305"/>
            </a:xfrm>
            <a:custGeom>
              <a:avLst/>
              <a:gdLst/>
              <a:ahLst/>
              <a:cxnLst/>
              <a:rect r="r" b="b" t="t" l="l"/>
              <a:pathLst>
                <a:path h="2953305" w="4949431">
                  <a:moveTo>
                    <a:pt x="0" y="0"/>
                  </a:moveTo>
                  <a:lnTo>
                    <a:pt x="4949431" y="0"/>
                  </a:lnTo>
                  <a:lnTo>
                    <a:pt x="4949431" y="2953305"/>
                  </a:lnTo>
                  <a:lnTo>
                    <a:pt x="0" y="2953305"/>
                  </a:lnTo>
                  <a:close/>
                </a:path>
              </a:pathLst>
            </a:custGeom>
            <a:solidFill>
              <a:srgbClr val="073E88">
                <a:alpha val="60000"/>
              </a:srgbClr>
            </a:solidFill>
          </p:spPr>
        </p:sp>
        <p:sp>
          <p:nvSpPr>
            <p:cNvPr name="TextBox 5" id="5"/>
            <p:cNvSpPr txBox="true"/>
            <p:nvPr/>
          </p:nvSpPr>
          <p:spPr>
            <a:xfrm>
              <a:off x="0" y="-57150"/>
              <a:ext cx="4949431" cy="301045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8700" y="4039067"/>
            <a:ext cx="16230600" cy="2208866"/>
            <a:chOff x="0" y="0"/>
            <a:chExt cx="21640800" cy="2945154"/>
          </a:xfrm>
        </p:grpSpPr>
        <p:sp>
          <p:nvSpPr>
            <p:cNvPr name="TextBox 7" id="7"/>
            <p:cNvSpPr txBox="true"/>
            <p:nvPr/>
          </p:nvSpPr>
          <p:spPr>
            <a:xfrm rot="0">
              <a:off x="0" y="-9525"/>
              <a:ext cx="21640800" cy="1852813"/>
            </a:xfrm>
            <a:prstGeom prst="rect">
              <a:avLst/>
            </a:prstGeom>
          </p:spPr>
          <p:txBody>
            <a:bodyPr anchor="t" rtlCol="false" tIns="0" lIns="0" bIns="0" rIns="0">
              <a:spAutoFit/>
            </a:bodyPr>
            <a:lstStyle/>
            <a:p>
              <a:pPr algn="ctr">
                <a:lnSpc>
                  <a:spcPts val="10009"/>
                </a:lnSpc>
              </a:pPr>
              <a:r>
                <a:rPr lang="en-US" sz="9099" b="true">
                  <a:solidFill>
                    <a:srgbClr val="FFFFFF"/>
                  </a:solidFill>
                  <a:latin typeface="Poppins Bold"/>
                  <a:ea typeface="Poppins Bold"/>
                  <a:cs typeface="Poppins Bold"/>
                  <a:sym typeface="Poppins Bold"/>
                </a:rPr>
                <a:t>Thank You!</a:t>
              </a:r>
            </a:p>
          </p:txBody>
        </p:sp>
        <p:sp>
          <p:nvSpPr>
            <p:cNvPr name="Freeform 8" id="8"/>
            <p:cNvSpPr/>
            <p:nvPr/>
          </p:nvSpPr>
          <p:spPr>
            <a:xfrm flipH="false" flipV="false" rot="0">
              <a:off x="7400592" y="2056739"/>
              <a:ext cx="888415" cy="888415"/>
            </a:xfrm>
            <a:custGeom>
              <a:avLst/>
              <a:gdLst/>
              <a:ahLst/>
              <a:cxnLst/>
              <a:rect r="r" b="b" t="t" l="l"/>
              <a:pathLst>
                <a:path h="888415" w="888415">
                  <a:moveTo>
                    <a:pt x="0" y="0"/>
                  </a:moveTo>
                  <a:lnTo>
                    <a:pt x="888415" y="0"/>
                  </a:lnTo>
                  <a:lnTo>
                    <a:pt x="888415" y="888415"/>
                  </a:lnTo>
                  <a:lnTo>
                    <a:pt x="0" y="8884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8541525" y="2130831"/>
              <a:ext cx="1746106" cy="664032"/>
            </a:xfrm>
            <a:prstGeom prst="rect">
              <a:avLst/>
            </a:prstGeom>
          </p:spPr>
          <p:txBody>
            <a:bodyPr anchor="t" rtlCol="false" tIns="0" lIns="0" bIns="0" rIns="0">
              <a:spAutoFit/>
            </a:bodyPr>
            <a:lstStyle/>
            <a:p>
              <a:pPr algn="l">
                <a:lnSpc>
                  <a:spcPts val="4135"/>
                </a:lnSpc>
                <a:spcBef>
                  <a:spcPct val="0"/>
                </a:spcBef>
              </a:pPr>
              <a:r>
                <a:rPr lang="en-US" b="true" sz="2954" u="sng">
                  <a:solidFill>
                    <a:srgbClr val="FFFFFF"/>
                  </a:solidFill>
                  <a:latin typeface="Poppins Bold"/>
                  <a:ea typeface="Poppins Bold"/>
                  <a:cs typeface="Poppins Bold"/>
                  <a:sym typeface="Poppins Bold"/>
                  <a:hlinkClick r:id="rId5" tooltip="https://github.com/debbyrofikomalik/Marketing-Analytics-Dashboard"/>
                </a:rPr>
                <a:t>Github</a:t>
              </a:r>
            </a:p>
          </p:txBody>
        </p:sp>
        <p:sp>
          <p:nvSpPr>
            <p:cNvPr name="Freeform 10" id="10"/>
            <p:cNvSpPr/>
            <p:nvPr/>
          </p:nvSpPr>
          <p:spPr>
            <a:xfrm flipH="false" flipV="false" rot="0">
              <a:off x="10820400" y="2145062"/>
              <a:ext cx="701416" cy="711769"/>
            </a:xfrm>
            <a:custGeom>
              <a:avLst/>
              <a:gdLst/>
              <a:ahLst/>
              <a:cxnLst/>
              <a:rect r="r" b="b" t="t" l="l"/>
              <a:pathLst>
                <a:path h="711769" w="701416">
                  <a:moveTo>
                    <a:pt x="0" y="0"/>
                  </a:moveTo>
                  <a:lnTo>
                    <a:pt x="701416" y="0"/>
                  </a:lnTo>
                  <a:lnTo>
                    <a:pt x="701416" y="711769"/>
                  </a:lnTo>
                  <a:lnTo>
                    <a:pt x="0" y="7117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1883601" y="2121003"/>
              <a:ext cx="2356606" cy="684318"/>
            </a:xfrm>
            <a:prstGeom prst="rect">
              <a:avLst/>
            </a:prstGeom>
          </p:spPr>
          <p:txBody>
            <a:bodyPr anchor="t" rtlCol="false" tIns="0" lIns="0" bIns="0" rIns="0">
              <a:spAutoFit/>
            </a:bodyPr>
            <a:lstStyle/>
            <a:p>
              <a:pPr algn="l">
                <a:lnSpc>
                  <a:spcPts val="4129"/>
                </a:lnSpc>
                <a:spcBef>
                  <a:spcPct val="0"/>
                </a:spcBef>
              </a:pPr>
              <a:r>
                <a:rPr lang="en-US" b="true" sz="2949" u="sng">
                  <a:solidFill>
                    <a:srgbClr val="FFFFFF"/>
                  </a:solidFill>
                  <a:latin typeface="Poppins Bold"/>
                  <a:ea typeface="Poppins Bold"/>
                  <a:cs typeface="Poppins Bold"/>
                  <a:sym typeface="Poppins Bold"/>
                  <a:hlinkClick r:id="rId8" tooltip="https://drive.google.com/file/d/1EAwsEisEQ7WXH1MrddXMjM7foUjinunH/view?usp=sharing"/>
                </a:rPr>
                <a:t>Power BI</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DAG6mPQCzlM</dc:identifier>
  <dcterms:modified xsi:type="dcterms:W3CDTF">2011-08-01T06:04:30Z</dcterms:modified>
  <cp:revision>1</cp:revision>
  <dc:title>Fashion E-Commerce Digital Marketing Analysis</dc:title>
</cp:coreProperties>
</file>